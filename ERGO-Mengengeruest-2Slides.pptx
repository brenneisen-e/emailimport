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Mails</c:v>
                </c:pt>
              </c:strCache>
            </c:strRef>
          </c:tx>
          <c:dPt>
            <c:idx val="0"/>
            <c:spPr>
              <a:solidFill>
                <a:srgbClr val="C8102E"/>
              </a:solidFill>
              <a:ln w="1905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F59E0B"/>
              </a:solidFill>
              <a:ln w="19050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64748B"/>
              </a:solidFill>
              <a:ln w="19050">
                <a:solidFill>
                  <a:srgbClr val="FFFFFF"/>
                </a:solidFill>
              </a:ln>
            </c:spPr>
          </c:dPt>
          <c:cat>
            <c:strRef>
              <c:f>Sheet1!$A$2:$A$4</c:f>
              <c:strCache>
                <c:ptCount val="3"/>
                <c:pt idx="0">
                  <c:v>Neue BUe (4.000)</c:v>
                </c:pt>
                <c:pt idx="1">
                  <c:v>Keine BUe (705)</c:v>
                </c:pt>
                <c:pt idx="2">
                  <c:v>BUe-Reminder (329)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4000</c:v>
                </c:pt>
                <c:pt idx="1">
                  <c:v>705</c:v>
                </c:pt>
                <c:pt idx="2">
                  <c:v>329</c:v>
                </c:pt>
              </c:numCache>
            </c:numRef>
          </c:val>
        </c:ser>
        <c:dLbls>
          <c:txPr>
            <a:bodyPr/>
            <a:lstStyle/>
            <a:p>
              <a:pPr>
                <a:defRPr sz="1300" b="1">
                  <a:solidFill>
                    <a:srgbClr val="FFFFFF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Neue BUe</c:v>
                </c:pt>
              </c:strCache>
            </c:strRef>
          </c:tx>
          <c:dPt>
            <c:idx val="0"/>
            <c:spPr>
              <a:solidFill>
                <a:srgbClr val="C8102E"/>
              </a:solidFill>
              <a:ln w="1905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3377C8"/>
              </a:solidFill>
              <a:ln w="19050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10B981"/>
              </a:solidFill>
              <a:ln w="19050"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64748B"/>
              </a:solidFill>
              <a:ln w="19050">
                <a:solidFill>
                  <a:srgbClr val="FFFFFF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Komposit (2.089)</c:v>
                </c:pt>
                <c:pt idx="1">
                  <c:v>KV (1.147)</c:v>
                </c:pt>
                <c:pt idx="2">
                  <c:v>Leben (662)</c:v>
                </c:pt>
                <c:pt idx="3">
                  <c:v>Mehrere / Unbekannt (102)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2089</c:v>
                </c:pt>
                <c:pt idx="1">
                  <c:v>1147</c:v>
                </c:pt>
                <c:pt idx="2">
                  <c:v>662</c:v>
                </c:pt>
                <c:pt idx="3">
                  <c:v>102</c:v>
                </c:pt>
              </c:numCache>
            </c:numRef>
          </c:val>
        </c:ser>
        <c:dLbls>
          <c:txPr>
            <a:bodyPr/>
            <a:lstStyle/>
            <a:p>
              <a:pPr>
                <a:defRPr sz="1200" b="1">
                  <a:solidFill>
                    <a:srgbClr val="FFFFFF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Neue BUe</c:v>
                </c:pt>
              </c:strCache>
            </c:strRef>
          </c:tx>
          <c:spPr>
            <a:solidFill>
              <a:srgbClr val="C8102E"/>
            </a:solidFill>
          </c:spPr>
          <c:dPt>
            <c:idx val="0"/>
            <c:spPr>
              <a:solidFill>
                <a:srgbClr val="8E0A20"/>
              </a:solidFill>
            </c:spPr>
          </c:dPt>
          <c:dPt>
            <c:idx val="1"/>
            <c:spPr>
              <a:solidFill>
                <a:srgbClr val="8E0A20"/>
              </a:solidFill>
            </c:spPr>
          </c:dPt>
          <c:dPt>
            <c:idx val="2"/>
            <c:spPr>
              <a:solidFill>
                <a:srgbClr val="8E0A20"/>
              </a:solidFill>
            </c:spPr>
          </c:dPt>
          <c:cat>
            <c:strRef>
              <c:f>Sheet1!$A$2:$A$11</c:f>
              <c:strCache>
                <c:ptCount val="10"/>
                <c:pt idx="0">
                  <c:v>JDC / Jung, DMS &amp; Cie.</c:v>
                </c:pt>
                <c:pt idx="1">
                  <c:v>Fonds Finanz</c:v>
                </c:pt>
                <c:pt idx="2">
                  <c:v>blau direkt</c:v>
                </c:pt>
                <c:pt idx="3">
                  <c:v>(ohne Pool)</c:v>
                </c:pt>
                <c:pt idx="4">
                  <c:v>DEMA</c:v>
                </c:pt>
                <c:pt idx="5">
                  <c:v>[pma:] Finanz- u. VM</c:v>
                </c:pt>
                <c:pt idx="6">
                  <c:v>vfm Service</c:v>
                </c:pt>
                <c:pt idx="7">
                  <c:v>1:1 Assekuranz</c:v>
                </c:pt>
                <c:pt idx="8">
                  <c:v>Securess</c:v>
                </c:pt>
                <c:pt idx="9">
                  <c:v>Concordia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1538</c:v>
                </c:pt>
                <c:pt idx="1">
                  <c:v>612</c:v>
                </c:pt>
                <c:pt idx="2">
                  <c:v>255</c:v>
                </c:pt>
                <c:pt idx="3">
                  <c:v>204</c:v>
                </c:pt>
                <c:pt idx="4">
                  <c:v>114</c:v>
                </c:pt>
                <c:pt idx="5">
                  <c:v>77</c:v>
                </c:pt>
                <c:pt idx="6">
                  <c:v>75</c:v>
                </c:pt>
                <c:pt idx="7">
                  <c:v>75</c:v>
                </c:pt>
                <c:pt idx="8">
                  <c:v>70</c:v>
                </c:pt>
                <c:pt idx="9">
                  <c:v>57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E293A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1E293A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700.0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64748B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10058400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800" b="1">
                <a:solidFill>
                  <a:srgbClr val="1E293A"/>
                </a:solidFill>
                <a:latin typeface="Calibri"/>
              </a:rPr>
              <a:t>Mengengeruest Posteingang Makler-BUe - 1 Kalenderwoche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777240"/>
            <a:ext cx="100584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Calibri"/>
              </a:rPr>
              <a:t>5034 eingehende Mails | 94% in 1 Sammel-Postfach | Nur 79% sind echte neue Vorgaenge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6537960"/>
            <a:ext cx="1133856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65392"/>
            <a:ext cx="1133856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Quelle: KI-Analyse Posteingang 'Service Team Maklerauftraege', 13.04.2026-20.04.2026 (5034 Mails, eine Kalenderwoche, Mo-Mo).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234440"/>
            <a:ext cx="338328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325880"/>
            <a:ext cx="338328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1">
                <a:solidFill>
                  <a:srgbClr val="C8102E"/>
                </a:solidFill>
                <a:latin typeface="Calibri"/>
              </a:rPr>
              <a:t>EINGANG / WOCHE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600200"/>
            <a:ext cx="3383280" cy="6400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4400" b="1">
                <a:solidFill>
                  <a:srgbClr val="1E293A"/>
                </a:solidFill>
                <a:latin typeface="Calibri"/>
              </a:rPr>
              <a:t>5.034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194560"/>
            <a:ext cx="3383280" cy="4114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Mails / Woche  -  ca. 770 / Werktag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816352"/>
            <a:ext cx="338328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907792"/>
            <a:ext cx="338328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1">
                <a:solidFill>
                  <a:srgbClr val="C8102E"/>
                </a:solidFill>
                <a:latin typeface="Calibri"/>
              </a:rPr>
              <a:t>HAUPT-EINGANGSKANAL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3182112"/>
            <a:ext cx="3383280" cy="6400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4400" b="1">
                <a:solidFill>
                  <a:srgbClr val="1E293A"/>
                </a:solidFill>
                <a:latin typeface="Calibri"/>
              </a:rPr>
              <a:t>94 %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3776472"/>
            <a:ext cx="3383280" cy="4114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Service Team Maklerauftraege  (4.732 Mails)</a:t>
            </a:r>
          </a:p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5% Bestandsuebertragungen | &lt;1% Rest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4398264"/>
            <a:ext cx="338328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489704"/>
            <a:ext cx="338328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1">
                <a:solidFill>
                  <a:srgbClr val="C8102E"/>
                </a:solidFill>
                <a:latin typeface="Calibri"/>
              </a:rPr>
              <a:t>DAVON ECHTE NEUE BUe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4764024"/>
            <a:ext cx="3383280" cy="6400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4400" b="1">
                <a:solidFill>
                  <a:srgbClr val="1E293A"/>
                </a:solidFill>
                <a:latin typeface="Calibri"/>
              </a:rPr>
              <a:t>4.000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5358384"/>
            <a:ext cx="3383280" cy="4114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= 79,5 % - der Rest ist Triage-Aufwand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9080" y="1234440"/>
            <a:ext cx="393192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69080" y="1325880"/>
            <a:ext cx="393192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300" b="1">
                <a:solidFill>
                  <a:srgbClr val="C8102E"/>
                </a:solidFill>
                <a:latin typeface="Calibri"/>
              </a:rPr>
              <a:t>1. TRIAGE der 5.034 Mails</a:t>
            </a:r>
          </a:p>
        </p:txBody>
      </p:sp>
      <p:graphicFrame>
        <p:nvGraphicFramePr>
          <p:cNvPr id="21" name="Chart 20"/>
          <p:cNvGraphicFramePr>
            <a:graphicFrameLocks noGrp="1"/>
          </p:cNvGraphicFramePr>
          <p:nvPr/>
        </p:nvGraphicFramePr>
        <p:xfrm>
          <a:off x="4251960" y="1737360"/>
          <a:ext cx="356616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4251960" y="2971800"/>
            <a:ext cx="356616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2400" b="1">
                <a:solidFill>
                  <a:srgbClr val="C8102E"/>
                </a:solidFill>
                <a:latin typeface="Calibri"/>
              </a:rPr>
              <a:t>79,5 %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60" y="3383280"/>
            <a:ext cx="356616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100" b="0">
                <a:solidFill>
                  <a:srgbClr val="64748B"/>
                </a:solidFill>
                <a:latin typeface="Calibri"/>
              </a:rPr>
              <a:t>echte Neue BUe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92440" y="1234440"/>
            <a:ext cx="393192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92440" y="1325880"/>
            <a:ext cx="393192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300" b="1">
                <a:solidFill>
                  <a:srgbClr val="C8102E"/>
                </a:solidFill>
                <a:latin typeface="Calibri"/>
              </a:rPr>
              <a:t>2. SPARTEN-SPLIT der 4.000 Neue-BUe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8275320" y="1737360"/>
          <a:ext cx="3566160" cy="3200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8275320" y="2971800"/>
            <a:ext cx="356616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2400" b="1">
                <a:solidFill>
                  <a:srgbClr val="C8102E"/>
                </a:solidFill>
                <a:latin typeface="Calibri"/>
              </a:rPr>
              <a:t>52 %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20" y="3383280"/>
            <a:ext cx="356616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100" b="0">
                <a:solidFill>
                  <a:srgbClr val="64748B"/>
                </a:solidFill>
                <a:latin typeface="Calibri"/>
              </a:rPr>
              <a:t>Komposit dominiert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5852160"/>
            <a:ext cx="11338560" cy="594360"/>
          </a:xfrm>
          <a:prstGeom prst="rect">
            <a:avLst/>
          </a:prstGeom>
          <a:solidFill>
            <a:srgbClr val="F8FAFC"/>
          </a:solidFill>
          <a:ln w="12700">
            <a:solidFill>
              <a:srgbClr val="C810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5852160"/>
            <a:ext cx="109728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>
                <a:solidFill>
                  <a:srgbClr val="8E0A20"/>
                </a:solidFill>
                <a:latin typeface="Calibri"/>
              </a:rPr>
              <a:t>TAKE-AWAY:  79,5 % echte Vorgaenge | 14 % falscher Kanal (705 Mails Triage-Aufwand) | Sparten-Mix Komposit &gt; KV &gt; Leben - KV mit 29 % ueberraschend stark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10058400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800" b="1">
                <a:solidFill>
                  <a:srgbClr val="1E293A"/>
                </a:solidFill>
                <a:latin typeface="Calibri"/>
              </a:rPr>
              <a:t>Vorgaenge &amp; Top-Makler - Mengen-Konzentration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777240"/>
            <a:ext cx="100584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Calibri"/>
              </a:rPr>
              <a:t>4.000 Neue-BUe-Mails = nur 2.495 echte Vorgaenge | Top-10 Pools = 77 % des Volumens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6537960"/>
            <a:ext cx="1133856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65392"/>
            <a:ext cx="1133856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Quelle: KI-Analyse Posteingang 'Service Team Maklerauftraege', 13.04.2026-20.04.2026 (5034 Mails, eine Kalenderwoche, Mo-Mo).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234440"/>
            <a:ext cx="237744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325880"/>
            <a:ext cx="237744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1">
                <a:solidFill>
                  <a:srgbClr val="C8102E"/>
                </a:solidFill>
                <a:latin typeface="Calibri"/>
              </a:rPr>
              <a:t>ECHTE VORGAENGE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554480"/>
            <a:ext cx="2377440" cy="6400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3600" b="1">
                <a:solidFill>
                  <a:srgbClr val="1E293A"/>
                </a:solidFill>
                <a:latin typeface="Calibri"/>
              </a:rPr>
              <a:t>2.495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148840"/>
            <a:ext cx="237744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aus 4.000 Neue-BUe-Mails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80360" y="1234440"/>
            <a:ext cx="237744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80360" y="1325880"/>
            <a:ext cx="237744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1">
                <a:solidFill>
                  <a:srgbClr val="C8102E"/>
                </a:solidFill>
                <a:latin typeface="Calibri"/>
              </a:rPr>
              <a:t>MULTI-MAIL-CLUSTER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360" y="1554480"/>
            <a:ext cx="2377440" cy="6400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3600" b="1">
                <a:solidFill>
                  <a:srgbClr val="1E293A"/>
                </a:solidFill>
                <a:latin typeface="Calibri"/>
              </a:rPr>
              <a:t>53 %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2148840"/>
            <a:ext cx="237744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des Mailvolumens (2.138 Mails)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49240" y="1234440"/>
            <a:ext cx="237744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49240" y="1325880"/>
            <a:ext cx="237744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1">
                <a:solidFill>
                  <a:srgbClr val="C8102E"/>
                </a:solidFill>
                <a:latin typeface="Calibri"/>
              </a:rPr>
              <a:t>Ø MAILS / VORGANG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1554480"/>
            <a:ext cx="2377440" cy="6400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3600" b="1">
                <a:solidFill>
                  <a:srgbClr val="1E293A"/>
                </a:solidFill>
                <a:latin typeface="Calibri"/>
              </a:rPr>
              <a:t>1,60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2148840"/>
            <a:ext cx="237744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Securess Spitze mit 4,4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18120" y="1234440"/>
            <a:ext cx="2377440" cy="132588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18120" y="1325880"/>
            <a:ext cx="237744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1">
                <a:solidFill>
                  <a:srgbClr val="FFCCD2"/>
                </a:solidFill>
                <a:latin typeface="Calibri"/>
              </a:rPr>
              <a:t>TOP-3 POOL-ANTEIL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1554480"/>
            <a:ext cx="2377440" cy="6400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60 %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8120" y="2148840"/>
            <a:ext cx="237744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JDC + Fonds Finanz + blau direkt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2743200"/>
            <a:ext cx="6949440" cy="3749039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2834640"/>
            <a:ext cx="694944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200" b="1">
                <a:solidFill>
                  <a:srgbClr val="C8102E"/>
                </a:solidFill>
                <a:latin typeface="Calibri"/>
              </a:rPr>
              <a:t>TOP-10 MAKLERPOOLS (Neue-BUe-Mails / Woche)</a:t>
            </a:r>
          </a:p>
        </p:txBody>
      </p:sp>
      <p:graphicFrame>
        <p:nvGraphicFramePr>
          <p:cNvPr id="25" name="Chart 24"/>
          <p:cNvGraphicFramePr>
            <a:graphicFrameLocks noGrp="1"/>
          </p:cNvGraphicFramePr>
          <p:nvPr/>
        </p:nvGraphicFramePr>
        <p:xfrm>
          <a:off x="457200" y="3154680"/>
          <a:ext cx="6858000" cy="324611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6" name="Rectangle 25"/>
          <p:cNvSpPr/>
          <p:nvPr/>
        </p:nvSpPr>
        <p:spPr>
          <a:xfrm>
            <a:off x="7452360" y="2743200"/>
            <a:ext cx="4572000" cy="3749039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52360" y="2834640"/>
            <a:ext cx="45720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200" b="1">
                <a:solidFill>
                  <a:srgbClr val="C8102E"/>
                </a:solidFill>
                <a:latin typeface="Calibri"/>
              </a:rPr>
              <a:t>VORGAENGE: SINGLE vs. CLUSTER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680960" y="3337560"/>
            <a:ext cx="4114800" cy="41148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18120" y="3337560"/>
            <a:ext cx="411480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1.862 Single-Mail-Vorgaenge  =  75 % der Vorgaenge / 47 % der Mails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80960" y="3840480"/>
            <a:ext cx="4114800" cy="41148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18120" y="3840480"/>
            <a:ext cx="411480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  633 Multi-Mail-Cluster  =  25 % der Vorgaenge / 53 % der Mails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80960" y="4389120"/>
            <a:ext cx="4114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1">
                <a:solidFill>
                  <a:srgbClr val="1E293A"/>
                </a:solidFill>
                <a:latin typeface="Calibri"/>
              </a:rPr>
              <a:t>-&gt; 633 Vorgaenge erzeugen mehr Mails als alle 1.862 Singles zusammen.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80960" y="4892040"/>
            <a:ext cx="41148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Calibri"/>
              </a:rPr>
              <a:t>Groesste Cluster (Mails zum selben Makler+Kunde):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5212080"/>
            <a:ext cx="118872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1">
                <a:solidFill>
                  <a:srgbClr val="C8102E"/>
                </a:solidFill>
                <a:latin typeface="Calibri"/>
              </a:rPr>
              <a:t>16 Mails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61120" y="5212080"/>
            <a:ext cx="292608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1E293A"/>
                </a:solidFill>
                <a:latin typeface="Calibri"/>
              </a:rPr>
              <a:t>Cluster 005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5504688"/>
            <a:ext cx="118872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1">
                <a:solidFill>
                  <a:srgbClr val="C8102E"/>
                </a:solidFill>
                <a:latin typeface="Calibri"/>
              </a:rPr>
              <a:t>15 Mails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61120" y="5504688"/>
            <a:ext cx="292608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1E293A"/>
                </a:solidFill>
                <a:latin typeface="Calibri"/>
              </a:rPr>
              <a:t>Cluster 509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0" y="5797296"/>
            <a:ext cx="118872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1">
                <a:solidFill>
                  <a:srgbClr val="C8102E"/>
                </a:solidFill>
                <a:latin typeface="Calibri"/>
              </a:rPr>
              <a:t>14 Mails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61120" y="5797296"/>
            <a:ext cx="292608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1E293A"/>
                </a:solidFill>
                <a:latin typeface="Calibri"/>
              </a:rPr>
              <a:t>je Cluster 163, 211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0" y="6089904"/>
            <a:ext cx="118872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1">
                <a:solidFill>
                  <a:srgbClr val="C8102E"/>
                </a:solidFill>
                <a:latin typeface="Calibri"/>
              </a:rPr>
              <a:t>13 Mails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61120" y="6089904"/>
            <a:ext cx="292608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1E293A"/>
                </a:solidFill>
                <a:latin typeface="Calibri"/>
              </a:rPr>
              <a:t>je Cluster 484, 585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5852160"/>
            <a:ext cx="11338560" cy="594360"/>
          </a:xfrm>
          <a:prstGeom prst="rect">
            <a:avLst/>
          </a:prstGeom>
          <a:solidFill>
            <a:srgbClr val="F8FAFC"/>
          </a:solidFill>
          <a:ln w="12700">
            <a:solidFill>
              <a:srgbClr val="C810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4360" y="5852160"/>
            <a:ext cx="109728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>
                <a:solidFill>
                  <a:srgbClr val="8E0A20"/>
                </a:solidFill>
                <a:latin typeface="Calibri"/>
              </a:rPr>
              <a:t>TAKE-AWAY:  Anbindungs-/Automatisierungs-Strecke lohnt sich zuerst fuer die Top-3 (60 % der Mails) | Multi-Mail-Cluster bilden 53 % des Volumens -&gt; Konsolidierungs-Hebel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