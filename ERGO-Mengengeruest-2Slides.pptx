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Mails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59E0B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64748B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BUe-Anfrage-Mails (4.000)</c:v>
                </c:pt>
                <c:pt idx="1">
                  <c:v>Keine BUe (705)</c:v>
                </c:pt>
                <c:pt idx="2">
                  <c:v>BUe-Reminder (329)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4000</c:v>
                </c:pt>
                <c:pt idx="1">
                  <c:v>705</c:v>
                </c:pt>
                <c:pt idx="2">
                  <c:v>329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Neue BUe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377C8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0B981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64748B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Komposit (2.089)</c:v>
                </c:pt>
                <c:pt idx="1">
                  <c:v>KV (1.147)</c:v>
                </c:pt>
                <c:pt idx="2">
                  <c:v>Leben (662)</c:v>
                </c:pt>
                <c:pt idx="3">
                  <c:v>Mehrere / Unbekannt (102)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2089</c:v>
                </c:pt>
                <c:pt idx="1">
                  <c:v>1147</c:v>
                </c:pt>
                <c:pt idx="2">
                  <c:v>662</c:v>
                </c:pt>
                <c:pt idx="3">
                  <c:v>102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BUe-Mails</c:v>
                </c:pt>
              </c:strCache>
            </c:strRef>
          </c:tx>
          <c:spPr>
            <a:solidFill>
              <a:srgbClr val="C8102E"/>
            </a:solidFill>
          </c:spPr>
          <c:dPt>
            <c:idx val="9"/>
            <c:spPr>
              <a:solidFill>
                <a:srgbClr val="8E0A20"/>
              </a:solidFill>
            </c:spPr>
          </c:dPt>
          <c:dPt>
            <c:idx val="8"/>
            <c:spPr>
              <a:solidFill>
                <a:srgbClr val="8E0A20"/>
              </a:solidFill>
            </c:spPr>
          </c:dPt>
          <c:dPt>
            <c:idx val="7"/>
            <c:spPr>
              <a:solidFill>
                <a:srgbClr val="8E0A20"/>
              </a:solidFill>
            </c:spPr>
          </c:dPt>
          <c:cat>
            <c:strRef>
              <c:f>Sheet1!$A$2:$A$11</c:f>
              <c:strCache>
                <c:ptCount val="10"/>
                <c:pt idx="0">
                  <c:v>Concordia</c:v>
                </c:pt>
                <c:pt idx="1">
                  <c:v>Securess</c:v>
                </c:pt>
                <c:pt idx="2">
                  <c:v>1:1 Assekuranz</c:v>
                </c:pt>
                <c:pt idx="3">
                  <c:v>vfm Service</c:v>
                </c:pt>
                <c:pt idx="4">
                  <c:v>[pma:] Finanz- u. VM</c:v>
                </c:pt>
                <c:pt idx="5">
                  <c:v>DEMA</c:v>
                </c:pt>
                <c:pt idx="6">
                  <c:v>(ohne Pool)</c:v>
                </c:pt>
                <c:pt idx="7">
                  <c:v>blau direkt</c:v>
                </c:pt>
                <c:pt idx="8">
                  <c:v>Fonds Finanz</c:v>
                </c:pt>
                <c:pt idx="9">
                  <c:v>JDC / Jung, DMS &amp; Cie.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</c:v>
                </c:pt>
                <c:pt idx="1">
                  <c:v>70</c:v>
                </c:pt>
                <c:pt idx="2">
                  <c:v>75</c:v>
                </c:pt>
                <c:pt idx="3">
                  <c:v>75</c:v>
                </c:pt>
                <c:pt idx="4">
                  <c:v>77</c:v>
                </c:pt>
                <c:pt idx="5">
                  <c:v>114</c:v>
                </c:pt>
                <c:pt idx="6">
                  <c:v>204</c:v>
                </c:pt>
                <c:pt idx="7">
                  <c:v>255</c:v>
                </c:pt>
                <c:pt idx="8">
                  <c:v>612</c:v>
                </c:pt>
                <c:pt idx="9">
                  <c:v>1538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E29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E29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00584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E293A"/>
                </a:solidFill>
                <a:latin typeface="Calibri"/>
              </a:rPr>
              <a:t>Mengengeruest Posteingang Makler-BUe - 1 Kalenderwoche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058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5.034 Mails Eingang  -&gt;  4.000 davon sind BUe-Anfrage-Mails  -&gt;  Konsolidierung zu Vorgaengen siehe Slide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38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Quelle: KI-Analyse Posteingang 'Service Team Maklerauftraege', 13.04.2026-20.04.2026 (5034 Mails, eine Kalenderwoche, Mo-Mo).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383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33832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Calibri"/>
              </a:rPr>
              <a:t>EINGANG / WOCHE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3383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E293A"/>
                </a:solidFill>
                <a:latin typeface="Calibri"/>
              </a:rPr>
              <a:t>5.034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338328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Mails / Woche  -  ca. 770 / Werktag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3383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07792"/>
            <a:ext cx="33832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Calibri"/>
              </a:rPr>
              <a:t>HAUPT-EINGANGSKANAL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82112"/>
            <a:ext cx="3383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E293A"/>
                </a:solidFill>
                <a:latin typeface="Calibri"/>
              </a:rPr>
              <a:t>94 %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76472"/>
            <a:ext cx="338328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Service Team Maklerauftraege  (4.732 Mails)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5% Bestandsuebertragungen | &lt;1% 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398264"/>
            <a:ext cx="3383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489704"/>
            <a:ext cx="33832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Calibri"/>
              </a:rPr>
              <a:t>DAVON BUe-ANFRAGE-MAILS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764024"/>
            <a:ext cx="3383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E293A"/>
                </a:solidFill>
                <a:latin typeface="Calibri"/>
              </a:rPr>
              <a:t>4.000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58384"/>
            <a:ext cx="338328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= 79,5 % der Mails  -  Rest = Triage-Aufwand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234440"/>
            <a:ext cx="3931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1325880"/>
            <a:ext cx="3931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1. TRIAGE der 5.034 Mails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251960" y="1737360"/>
          <a:ext cx="35661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251960" y="2971800"/>
            <a:ext cx="3566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  <a:latin typeface="Calibri"/>
              </a:rPr>
              <a:t>79,5 %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566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BUe-Mails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234440"/>
            <a:ext cx="3931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325880"/>
            <a:ext cx="3931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2. SPARTEN-SPLIT der 4.000 BUe-Mails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275320" y="1737360"/>
          <a:ext cx="356616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275320" y="3063240"/>
            <a:ext cx="35661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102E"/>
                </a:solidFill>
                <a:latin typeface="Calibri"/>
              </a:rPr>
              <a:t>52 %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429000"/>
            <a:ext cx="3566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Komposit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852160"/>
            <a:ext cx="113385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8E0A20"/>
                </a:solidFill>
                <a:latin typeface="Calibri"/>
              </a:rPr>
              <a:t>TAKE-AWAY:  79,5 % der Mails sind BUe-Anfragen | 14 % im falschen Kanal (705 Mails Triage-Aufwand) | Sparten-Mix Komposit &gt; KV &gt; Leben - KV mit 29 % ueberraschend stark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00584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E293A"/>
                </a:solidFill>
                <a:latin typeface="Calibri"/>
              </a:rPr>
              <a:t>Von Mails zu Vorgaengen - und wer die Mails schickt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0058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4.000 BUe-Anfrage-Mails (von Slide 1) konsolidieren sich zu 2.495 echten Vorgaengen  |  Top-10 Pools = 77 % des Volumens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38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Quelle: KI-Analyse Posteingang 'Service Team Maklerauftraege', 13.04.2026-20.04.2026 (5034 Mails, eine Kalenderwoche, Mo-Mo).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23774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C8102E"/>
                </a:solidFill>
                <a:latin typeface="Calibri"/>
              </a:rPr>
              <a:t>ECHTE VORGAENGE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2377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E293A"/>
                </a:solidFill>
                <a:latin typeface="Calibri"/>
              </a:rPr>
              <a:t>2.495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2377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aus 4.000 BUe-Anfrage-Mails  -38 %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234440"/>
            <a:ext cx="23774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325880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C8102E"/>
                </a:solidFill>
                <a:latin typeface="Calibri"/>
              </a:rPr>
              <a:t>MULTI-MAIL-CLUSTER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554480"/>
            <a:ext cx="2377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E293A"/>
                </a:solidFill>
                <a:latin typeface="Calibri"/>
              </a:rPr>
              <a:t>53 %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148840"/>
            <a:ext cx="2377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des Mailvolumens (2.138 Mails)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234440"/>
            <a:ext cx="23774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325880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C8102E"/>
                </a:solidFill>
                <a:latin typeface="Calibri"/>
              </a:rPr>
              <a:t>Ø MAILS / VORGANG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554480"/>
            <a:ext cx="2377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E293A"/>
                </a:solidFill>
                <a:latin typeface="Calibri"/>
              </a:rPr>
              <a:t>1,60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148840"/>
            <a:ext cx="2377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Securess Spitze mit 4,4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1234440"/>
            <a:ext cx="2377440" cy="13258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1325880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FFCCD2"/>
                </a:solidFill>
                <a:latin typeface="Calibri"/>
              </a:rPr>
              <a:t>TOP-3 POOL-ANTEIL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554480"/>
            <a:ext cx="2377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60 %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148840"/>
            <a:ext cx="2377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JDC + Fonds Finanz + blau direkt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743200"/>
            <a:ext cx="694944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834640"/>
            <a:ext cx="6949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102E"/>
                </a:solidFill>
                <a:latin typeface="Calibri"/>
              </a:rPr>
              <a:t>TOP-10 MAKLERPOOLS (BUe-Anfrage-Mails pro Woche)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57200" y="3154680"/>
          <a:ext cx="6858000" cy="32461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Rectangle 25"/>
          <p:cNvSpPr/>
          <p:nvPr/>
        </p:nvSpPr>
        <p:spPr>
          <a:xfrm>
            <a:off x="7452360" y="2743200"/>
            <a:ext cx="457200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834640"/>
            <a:ext cx="4572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102E"/>
                </a:solidFill>
                <a:latin typeface="Calibri"/>
              </a:rPr>
              <a:t>VORGAENGE: SINGLE vs. CLUSTER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337560"/>
            <a:ext cx="4114800" cy="4114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33756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1.862 Single-Mail-Vorgaenge  =  75 % der Vorgaenge / 47 % der Mails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840480"/>
            <a:ext cx="4114800" cy="411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84048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633 Multi-Mail-Cluster  =  25 % der Vorgaenge / 53 % der Mails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389120"/>
            <a:ext cx="4114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E293A"/>
                </a:solidFill>
                <a:latin typeface="Calibri"/>
              </a:rPr>
              <a:t>-&gt; 633 Vorgaenge erzeugen mehr Mails als alle 1.862 Singles zusammen.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892040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Groesste Cluster (Mails zum selben Makler+Kunde):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212080"/>
            <a:ext cx="118872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Calibri"/>
              </a:rPr>
              <a:t>16 Mails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212080"/>
            <a:ext cx="292608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E293A"/>
                </a:solidFill>
                <a:latin typeface="Calibri"/>
              </a:rPr>
              <a:t>Cluster 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504688"/>
            <a:ext cx="118872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Calibri"/>
              </a:rPr>
              <a:t>15 Mails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5504688"/>
            <a:ext cx="292608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E293A"/>
                </a:solidFill>
                <a:latin typeface="Calibri"/>
              </a:rPr>
              <a:t>Cluster 509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797296"/>
            <a:ext cx="118872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Calibri"/>
              </a:rPr>
              <a:t>14 Mails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797296"/>
            <a:ext cx="292608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E293A"/>
                </a:solidFill>
                <a:latin typeface="Calibri"/>
              </a:rPr>
              <a:t>je Cluster 163, 211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089904"/>
            <a:ext cx="118872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Calibri"/>
              </a:rPr>
              <a:t>13 Mails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6089904"/>
            <a:ext cx="292608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E293A"/>
                </a:solidFill>
                <a:latin typeface="Calibri"/>
              </a:rPr>
              <a:t>je Cluster 484, 585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852160"/>
            <a:ext cx="113385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852160"/>
            <a:ext cx="109728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8E0A20"/>
                </a:solidFill>
                <a:latin typeface="Calibri"/>
              </a:rPr>
              <a:t>TAKE-AWAY:  Anbindungs-/Automatisierungs-Strecke lohnt sich zuerst fuer die Top-3 (60 % der Mails) | Multi-Mail-Cluster bilden 53 % des Volumens -&gt; Konsolidierungs-Hebel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