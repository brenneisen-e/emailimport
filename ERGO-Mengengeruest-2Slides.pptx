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Neuanlagen</c:v>
                </c:pt>
              </c:strCache>
            </c:strRef>
          </c:tx>
          <c:dPt>
            <c:idx val="0"/>
            <c:spPr>
              <a:solidFill>
                <a:srgbClr val="C8102E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77C8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0B981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64748B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Komposit (1.029)</c:v>
                </c:pt>
                <c:pt idx="1">
                  <c:v>KV (942)</c:v>
                </c:pt>
                <c:pt idx="2">
                  <c:v>Leben (440)</c:v>
                </c:pt>
                <c:pt idx="3">
                  <c:v>Mehrere / Unbekannt (84)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1029</c:v>
                </c:pt>
                <c:pt idx="1">
                  <c:v>942</c:v>
                </c:pt>
                <c:pt idx="2">
                  <c:v>440</c:v>
                </c:pt>
                <c:pt idx="3">
                  <c:v>84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BUe-Mails</c:v>
                </c:pt>
              </c:strCache>
            </c:strRef>
          </c:tx>
          <c:spPr>
            <a:solidFill>
              <a:srgbClr val="C8102E"/>
            </a:solidFill>
          </c:spPr>
          <c:dPt>
            <c:idx val="9"/>
            <c:spPr>
              <a:solidFill>
                <a:srgbClr val="8E0A20"/>
              </a:solidFill>
            </c:spPr>
          </c:dPt>
          <c:dPt>
            <c:idx val="8"/>
            <c:spPr>
              <a:solidFill>
                <a:srgbClr val="8E0A20"/>
              </a:solidFill>
            </c:spPr>
          </c:dPt>
          <c:dPt>
            <c:idx val="7"/>
            <c:spPr>
              <a:solidFill>
                <a:srgbClr val="8E0A20"/>
              </a:solidFill>
            </c:spPr>
          </c:dPt>
          <c:cat>
            <c:strRef>
              <c:f>Sheet1!$A$2:$A$11</c:f>
              <c:strCache>
                <c:ptCount val="10"/>
                <c:pt idx="0">
                  <c:v>Concordia</c:v>
                </c:pt>
                <c:pt idx="1">
                  <c:v>Securess</c:v>
                </c:pt>
                <c:pt idx="2">
                  <c:v>1:1 Assekuranz</c:v>
                </c:pt>
                <c:pt idx="3">
                  <c:v>vfm Service</c:v>
                </c:pt>
                <c:pt idx="4">
                  <c:v>[pma:] Finanz- u. VM</c:v>
                </c:pt>
                <c:pt idx="5">
                  <c:v>DEMA</c:v>
                </c:pt>
                <c:pt idx="6">
                  <c:v>(ohne Pool)</c:v>
                </c:pt>
                <c:pt idx="7">
                  <c:v>blau direkt</c:v>
                </c:pt>
                <c:pt idx="8">
                  <c:v>Fonds Finanz</c:v>
                </c:pt>
                <c:pt idx="9">
                  <c:v>JDC / Jung, DMS &amp; Cie.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57</c:v>
                </c:pt>
                <c:pt idx="1">
                  <c:v>70</c:v>
                </c:pt>
                <c:pt idx="2">
                  <c:v>75</c:v>
                </c:pt>
                <c:pt idx="3">
                  <c:v>75</c:v>
                </c:pt>
                <c:pt idx="4">
                  <c:v>77</c:v>
                </c:pt>
                <c:pt idx="5">
                  <c:v>114</c:v>
                </c:pt>
                <c:pt idx="6">
                  <c:v>204</c:v>
                </c:pt>
                <c:pt idx="7">
                  <c:v>255</c:v>
                </c:pt>
                <c:pt idx="8">
                  <c:v>612</c:v>
                </c:pt>
                <c:pt idx="9">
                  <c:v>1538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E293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1E293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14300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1E293A"/>
                </a:solidFill>
                <a:latin typeface="Calibri"/>
              </a:rPr>
              <a:t>Vom Mailsturm zu echten Neuanlagen - Mengengeruest pro Woche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5.034 Mails Eingang  -&gt;  in 4 Kategorien aufgeteilt  -&gt;  2.495 echte neue BUe-Vorgaenge / Woche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37960"/>
            <a:ext cx="113385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113385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Quelle: KI-Analyse Posteingang 'Service Team Maklerauftraege', 13.04.2026-20.04.2026 (5.034 Mails, eine Kalenderwoche, Mo-Mo). Vorgang = Cluster aus Mails zum selben Makler + selben Kunden.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6949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Calibri"/>
              </a:rPr>
              <a:t>AUFTEILUNG DER 5.034 EINGEHENDEN MAILS / WOCHE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69494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164592" cy="1078992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353312"/>
            <a:ext cx="65836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1E293A"/>
                </a:solidFill>
                <a:latin typeface="Calibri"/>
              </a:rPr>
              <a:t>1. Keine BUe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664208"/>
            <a:ext cx="3657600" cy="5943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Falscher Kanal - Schaden/Antrag/Anfrage; gehoert nicht in dieses Postfach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1993392"/>
            <a:ext cx="3657600" cy="228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" y="1993392"/>
            <a:ext cx="1032387" cy="2286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1389888"/>
            <a:ext cx="1920240" cy="5943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800" b="1">
                <a:solidFill>
                  <a:srgbClr val="1E293A"/>
                </a:solidFill>
                <a:latin typeface="Calibri"/>
              </a:rPr>
              <a:t>705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938528"/>
            <a:ext cx="1920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= 14.0 %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68880"/>
            <a:ext cx="69494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468880"/>
            <a:ext cx="164592" cy="1078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542032"/>
            <a:ext cx="65836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1E293A"/>
                </a:solidFill>
                <a:latin typeface="Calibri"/>
              </a:rPr>
              <a:t>2. BUe-Reminder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852928"/>
            <a:ext cx="3657600" cy="5943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Sachstandsanfrage zu einem Vorgang aus frueherer Woche - kein neuer Fall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" y="3182112"/>
            <a:ext cx="3657600" cy="228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" y="3182112"/>
            <a:ext cx="479322" cy="228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7800" y="2578608"/>
            <a:ext cx="1920240" cy="5943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800" b="1">
                <a:solidFill>
                  <a:srgbClr val="1E293A"/>
                </a:solidFill>
                <a:latin typeface="Calibri"/>
              </a:rPr>
              <a:t>329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127248"/>
            <a:ext cx="1920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= 6.5 %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657600"/>
            <a:ext cx="69494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3657600"/>
            <a:ext cx="164592" cy="107899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3730752"/>
            <a:ext cx="65836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1E293A"/>
                </a:solidFill>
                <a:latin typeface="Calibri"/>
              </a:rPr>
              <a:t>3. Nachreichungen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4041648"/>
            <a:ext cx="3657600" cy="5943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Folge-Mails zu einem Vorgang, der in DIESER Woche bereits geoeffnet wurde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" y="4370832"/>
            <a:ext cx="3657600" cy="228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4088" y="4370832"/>
            <a:ext cx="2204883" cy="228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800" y="3767328"/>
            <a:ext cx="1920240" cy="5943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800" b="1">
                <a:solidFill>
                  <a:srgbClr val="1E293A"/>
                </a:solidFill>
                <a:latin typeface="Calibri"/>
              </a:rPr>
              <a:t>1.505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4315968"/>
            <a:ext cx="1920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</a:rPr>
              <a:t>= 29.9 %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846320"/>
            <a:ext cx="69494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4846320"/>
            <a:ext cx="164592" cy="10789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919472"/>
            <a:ext cx="65836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1E293A"/>
                </a:solidFill>
                <a:latin typeface="Calibri"/>
              </a:rPr>
              <a:t>4. ECHTE NEUANLAGEN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5230368"/>
            <a:ext cx="3657600" cy="5943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Neue BUe-Vorgaenge pro Woche  =  zu eroeffnende Faelle in der Bearbeitung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" y="5559552"/>
            <a:ext cx="3657600" cy="228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" y="5559552"/>
            <a:ext cx="3657600" cy="2286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57800" y="4956048"/>
            <a:ext cx="1920240" cy="5943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800" b="1">
                <a:solidFill>
                  <a:srgbClr val="C8102E"/>
                </a:solidFill>
                <a:latin typeface="Calibri"/>
              </a:rPr>
              <a:t>2.495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5504688"/>
            <a:ext cx="1920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1">
                <a:solidFill>
                  <a:srgbClr val="64748B"/>
                </a:solidFill>
                <a:latin typeface="Calibri"/>
              </a:rPr>
              <a:t>= 49.6 %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43800" y="1005840"/>
            <a:ext cx="44348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1097280"/>
            <a:ext cx="44348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1">
                <a:solidFill>
                  <a:srgbClr val="C8102E"/>
                </a:solidFill>
                <a:latin typeface="Calibri"/>
              </a:rPr>
              <a:t>SPARTEN-SPLIT der 2.495 Neuanlagen</a:t>
            </a:r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7680960" y="1463040"/>
          <a:ext cx="41605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Rectangle 42"/>
          <p:cNvSpPr/>
          <p:nvPr/>
        </p:nvSpPr>
        <p:spPr>
          <a:xfrm>
            <a:off x="7543800" y="4069080"/>
            <a:ext cx="4434840" cy="26060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80" y="4206240"/>
            <a:ext cx="40690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Calibri"/>
              </a:rPr>
              <a:t>MAIL-PERSPEKTIVE vs. VORGANGS-PERSPEKTIVE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80" y="4572000"/>
            <a:ext cx="4069080" cy="21031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E293A"/>
                </a:solidFill>
                <a:latin typeface="Calibri"/>
              </a:rPr>
              <a:t>Auf MAIL-Ebene dominiert Komposit (52 %), weil Komposit-Vorgaenge oft Multi-Mail-Cluster sind (Nachreichungen).</a:t>
            </a:r>
          </a:p>
          <a:p>
            <a:pPr algn="l"/>
            <a:r>
              <a:rPr sz="1000" b="0">
                <a:solidFill>
                  <a:srgbClr val="1E293A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E293A"/>
                </a:solidFill>
                <a:latin typeface="Calibri"/>
              </a:rPr>
              <a:t>Auf VORGANGS-Ebene ist KV (38 %) fast gleichauf mit Komposit (41 %) - KV-Vorgaenge werden meist in 1 Mail erledigt.</a:t>
            </a:r>
          </a:p>
          <a:p>
            <a:pPr algn="l"/>
            <a:r>
              <a:rPr sz="1000" b="0">
                <a:solidFill>
                  <a:srgbClr val="1E293A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E293A"/>
                </a:solidFill>
                <a:latin typeface="Calibri"/>
              </a:rPr>
              <a:t>=&gt; KV ist als Sparte unterschaetzt, wenn man nur Mails zaehlt.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5852160"/>
            <a:ext cx="1133856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852160"/>
            <a:ext cx="109728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8E0A20"/>
                </a:solidFill>
                <a:latin typeface="Calibri"/>
              </a:rPr>
              <a:t>TAKE-AWAY:  Nur jede 2. Mail ist eine echte Neuanlage (49,6 %)  |  ca. 2.500 neue BUe-Vorgaenge / Woche  |  jede 3. Mail (30 %) ist Nachreichung zu schon offenem Vorgang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14300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1E293A"/>
                </a:solidFill>
                <a:latin typeface="Calibri"/>
              </a:rPr>
              <a:t>Wer schickt die 2.495 Neuanlagen? - Konzentration auf Top-Maklerpools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60 % aller Neuanlagen kommen von 3 Pools  |  JDC allein steuert 38 %  |  Multi-Mail-Cluster = Nachreichungs-Hebel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37960"/>
            <a:ext cx="113385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113385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Quelle: KI-Analyse Posteingang 'Service Team Maklerauftraege', 13.04.2026-20.04.2026 (5.034 Mails, eine Kalenderwoche, Mo-Mo). Vorgang = Cluster aus Mails zum selben Makler + selben Kunden.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23774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2377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NEUE VORGAENGE / WOCHE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237744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600" b="1">
                <a:solidFill>
                  <a:srgbClr val="1E293A"/>
                </a:solidFill>
                <a:latin typeface="Calibri"/>
              </a:rPr>
              <a:t>2.495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48840"/>
            <a:ext cx="23774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echte BUe-Erstanlagen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234440"/>
            <a:ext cx="23774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25880"/>
            <a:ext cx="2377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NACHREICHUNGEN / WOCHE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554480"/>
            <a:ext cx="237744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600" b="1">
                <a:solidFill>
                  <a:srgbClr val="1E293A"/>
                </a:solidFill>
                <a:latin typeface="Calibri"/>
              </a:rPr>
              <a:t>1.505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148840"/>
            <a:ext cx="23774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Folge-Mails zu offenen Vorgaengen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234440"/>
            <a:ext cx="23774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1325880"/>
            <a:ext cx="2377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Ø MAILS / NEUEM VORGANG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554480"/>
            <a:ext cx="237744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600" b="1">
                <a:solidFill>
                  <a:srgbClr val="1E293A"/>
                </a:solidFill>
                <a:latin typeface="Calibri"/>
              </a:rPr>
              <a:t>1,60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48840"/>
            <a:ext cx="23774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Securess Spitze mit 4,4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1234440"/>
            <a:ext cx="2377440" cy="13258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1325880"/>
            <a:ext cx="2377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FFCCD2"/>
                </a:solidFill>
                <a:latin typeface="Calibri"/>
              </a:rPr>
              <a:t>TOP-3 POOL-ANTEIL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1554480"/>
            <a:ext cx="237744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60 %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148840"/>
            <a:ext cx="23774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JDC + Fonds Finanz + blau direkt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743200"/>
            <a:ext cx="694944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834640"/>
            <a:ext cx="69494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1">
                <a:solidFill>
                  <a:srgbClr val="C8102E"/>
                </a:solidFill>
                <a:latin typeface="Calibri"/>
              </a:rPr>
              <a:t>TOP-10 MAKLERPOOLS (Mails Status 'Neue BUe' pro Woche)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154680"/>
          <a:ext cx="6858000" cy="32461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Rectangle 25"/>
          <p:cNvSpPr/>
          <p:nvPr/>
        </p:nvSpPr>
        <p:spPr>
          <a:xfrm>
            <a:off x="7452360" y="2743200"/>
            <a:ext cx="457200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2834640"/>
            <a:ext cx="4572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1">
                <a:solidFill>
                  <a:srgbClr val="C8102E"/>
                </a:solidFill>
                <a:latin typeface="Calibri"/>
              </a:rPr>
              <a:t>WO DIE 1.505 NACHREICHUNGEN HERKOMMEN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60" y="3291840"/>
            <a:ext cx="4114800" cy="5486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20" y="3291840"/>
            <a:ext cx="41148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1.862 Single-Mail-Vorgaenge  =  0 Nachreichungen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3931920"/>
            <a:ext cx="4114800" cy="5486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18120" y="3931920"/>
            <a:ext cx="41148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633 Multi-Mail-Cluster  =  1.505 Nachreichungen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617720"/>
            <a:ext cx="4114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E293A"/>
                </a:solidFill>
                <a:latin typeface="Calibri"/>
              </a:rPr>
              <a:t>=&gt; 25 % der Vorgaenge erzeugen 100 % der Nachreichungen.</a:t>
            </a:r>
          </a:p>
          <a:p>
            <a:pPr algn="l"/>
            <a:r>
              <a:rPr sz="1100" b="0">
                <a:solidFill>
                  <a:srgbClr val="1E293A"/>
                </a:solidFill>
                <a:latin typeface="Calibri"/>
              </a:rPr>
              <a:t>    Bei diesen 633 Cluster-Vorgaengen kommen im Schnitt 3,4 Mails ein.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5440680"/>
            <a:ext cx="4114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Calibri"/>
              </a:rPr>
              <a:t>GROESSTE CLUSTER (Mails zum selben Makler+Kunden):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760720"/>
            <a:ext cx="118872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16 Mails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5760720"/>
            <a:ext cx="301752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E293A"/>
                </a:solidFill>
                <a:latin typeface="Calibri"/>
              </a:rPr>
              <a:t>Cluster 005 - 15 Nachreichungen zu 1 Neuanlage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6016752"/>
            <a:ext cx="118872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15 Mails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6016752"/>
            <a:ext cx="301752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E293A"/>
                </a:solidFill>
                <a:latin typeface="Calibri"/>
              </a:rPr>
              <a:t>Cluster 509 - 14 Nachreichungen zu 1 Neuanlage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6272784"/>
            <a:ext cx="118872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14 Mails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6272784"/>
            <a:ext cx="301752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E293A"/>
                </a:solidFill>
                <a:latin typeface="Calibri"/>
              </a:rPr>
              <a:t>Cluster 163 + 211 - je 13 Nachreichungen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6528816"/>
            <a:ext cx="118872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C8102E"/>
                </a:solidFill>
                <a:latin typeface="Calibri"/>
              </a:rPr>
              <a:t>13 Mails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6528816"/>
            <a:ext cx="301752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E293A"/>
                </a:solidFill>
                <a:latin typeface="Calibri"/>
              </a:rPr>
              <a:t>Cluster 484 + 585 - je 12 Nachreichungen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852160"/>
            <a:ext cx="1133856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5852160"/>
            <a:ext cx="109728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8E0A20"/>
                </a:solidFill>
                <a:latin typeface="Calibri"/>
              </a:rPr>
              <a:t>TAKE-AWAY:  Anbindungs-/Automatisierungs-Strecke fuer JDC + Fonds Finanz + blau direkt = 60 % Hebel auf einen Schlag  |  Mail-Zuordnung zu offenem Vorgang spart 1.505 Nachreichungs-Eroeffnungen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