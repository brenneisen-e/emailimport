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Automatisierungs-Potenzial Bestandsübertragung ERGO   |   Stichwoche April 2026   |   1.094 Mails analysiert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576072"/>
            <a:ext cx="11643055" cy="411480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▶  Kernaussage: 59 % der Mails sind regelbasiert automatisierbare BÜ-Erstvorgänge mit vollständiger MV  →  646 von 1.094 Mails in einer einzigen Stichwoche.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52144"/>
            <a:ext cx="42976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FUNNEL: Vom Eingang zum Automatisierungs-Kandidaten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44752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1.094   </a:t>
            </a:r>
            <a:r>
              <a:rPr sz="1000" i="0">
                <a:solidFill>
                  <a:srgbClr val="1F2937"/>
                </a:solidFill>
                <a:latin typeface="Calibri"/>
              </a:rPr>
              <a:t>Eingang gesamt</a:t>
            </a:r>
            <a:r>
              <a:rPr sz="1100" b="1">
                <a:solidFill>
                  <a:srgbClr val="1F2937"/>
                </a:solidFill>
                <a:latin typeface="Calibri"/>
              </a:rPr>
              <a:t>    100 %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92224"/>
            <a:ext cx="4297680" cy="329184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900" b="1" i="1">
                <a:solidFill>
                  <a:srgbClr val="1F2937"/>
                </a:solidFill>
                <a:latin typeface="Calibri"/>
              </a:rPr>
              <a:t>– 64   </a:t>
            </a:r>
            <a:r>
              <a:rPr sz="900" i="1">
                <a:solidFill>
                  <a:srgbClr val="1F2937"/>
                </a:solidFill>
                <a:latin typeface="Calibri"/>
              </a:rPr>
              <a:t>Rauschen (Bounce-NDR, System, ERGO-Outbound)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39696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1.030   </a:t>
            </a:r>
            <a:r>
              <a:rPr sz="1000" i="0">
                <a:solidFill>
                  <a:srgbClr val="1F2937"/>
                </a:solidFill>
                <a:latin typeface="Calibri"/>
              </a:rPr>
              <a:t>Echte Makler-Vorgänge</a:t>
            </a:r>
            <a:r>
              <a:rPr sz="1100" b="1">
                <a:solidFill>
                  <a:srgbClr val="1F2937"/>
                </a:solidFill>
                <a:latin typeface="Calibri"/>
              </a:rPr>
              <a:t>    94 %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487168"/>
            <a:ext cx="4297680" cy="329184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900" b="1" i="1">
                <a:solidFill>
                  <a:srgbClr val="1F2937"/>
                </a:solidFill>
                <a:latin typeface="Calibri"/>
              </a:rPr>
              <a:t>– 36   </a:t>
            </a:r>
            <a:r>
              <a:rPr sz="900" i="1">
                <a:solidFill>
                  <a:srgbClr val="1F2937"/>
                </a:solidFill>
                <a:latin typeface="Calibri"/>
              </a:rPr>
              <a:t>Andere Klassifikation (Antrag, Anfrage)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834640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994   </a:t>
            </a:r>
            <a:r>
              <a:rPr sz="1000" i="0">
                <a:solidFill>
                  <a:srgbClr val="1F2937"/>
                </a:solidFill>
                <a:latin typeface="Calibri"/>
              </a:rPr>
              <a:t>BÜ-Vorgänge</a:t>
            </a:r>
            <a:r>
              <a:rPr sz="1100" b="1">
                <a:solidFill>
                  <a:srgbClr val="1F2937"/>
                </a:solidFill>
                <a:latin typeface="Calibri"/>
              </a:rPr>
              <a:t>    91 %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82112"/>
            <a:ext cx="4297680" cy="329184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900" b="1" i="1">
                <a:solidFill>
                  <a:srgbClr val="1F2937"/>
                </a:solidFill>
                <a:latin typeface="Calibri"/>
              </a:rPr>
              <a:t>– 103   </a:t>
            </a:r>
            <a:r>
              <a:rPr sz="900" i="1">
                <a:solidFill>
                  <a:srgbClr val="1F2937"/>
                </a:solidFill>
                <a:latin typeface="Calibri"/>
              </a:rPr>
              <a:t>Reminder / Wiedervorlage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29584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891   </a:t>
            </a:r>
            <a:r>
              <a:rPr sz="1000" i="0">
                <a:solidFill>
                  <a:srgbClr val="1F2937"/>
                </a:solidFill>
                <a:latin typeface="Calibri"/>
              </a:rPr>
              <a:t>BÜ-Erstvorgänge</a:t>
            </a:r>
            <a:r>
              <a:rPr sz="1100" b="1">
                <a:solidFill>
                  <a:srgbClr val="1F2937"/>
                </a:solidFill>
                <a:latin typeface="Calibri"/>
              </a:rPr>
              <a:t>    81 %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877056"/>
            <a:ext cx="4297680" cy="329184"/>
          </a:xfrm>
          <a:prstGeom prst="rect">
            <a:avLst/>
          </a:prstGeom>
          <a:solidFill>
            <a:srgbClr val="E5E7EB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900" b="1" i="1">
                <a:solidFill>
                  <a:srgbClr val="1F2937"/>
                </a:solidFill>
                <a:latin typeface="Calibri"/>
              </a:rPr>
              <a:t>– 245   </a:t>
            </a:r>
            <a:r>
              <a:rPr sz="900" i="1">
                <a:solidFill>
                  <a:srgbClr val="1F2937"/>
                </a:solidFill>
                <a:latin typeface="Calibri"/>
              </a:rPr>
              <a:t>MV-Klärungsbedarf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224528"/>
            <a:ext cx="4297680" cy="329184"/>
          </a:xfrm>
          <a:prstGeom prst="rect">
            <a:avLst/>
          </a:prstGeom>
          <a:solidFill>
            <a:srgbClr val="166534"/>
          </a:solidFill>
          <a:ln w="63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646   </a:t>
            </a:r>
            <a:r>
              <a:rPr sz="1000" i="0">
                <a:solidFill>
                  <a:srgbClr val="FFFFFF"/>
                </a:solidFill>
                <a:latin typeface="Calibri"/>
              </a:rPr>
              <a:t>AUTOMATISIERUNGS-KANDIDATEN</a:t>
            </a:r>
            <a:r>
              <a:rPr sz="1100" b="1">
                <a:solidFill>
                  <a:srgbClr val="FFFFFF"/>
                </a:solidFill>
                <a:latin typeface="Calibri"/>
              </a:rPr>
              <a:t>    59 %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608576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38100" bIns="3810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1">
                <a:solidFill>
                  <a:srgbClr val="6B7280"/>
                </a:solidFill>
                <a:latin typeface="Calibri"/>
              </a:rPr>
              <a:t>Definition Automatisierungs-Kandidat: BÜ-Vorgang + Erstvorgang (kein Reminder) + MV-Status OK.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152144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Drei Phasen der Bearbeitung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463040"/>
            <a:ext cx="3657600" cy="1508760"/>
          </a:xfrm>
          <a:prstGeom prst="rect">
            <a:avLst/>
          </a:prstGeom>
          <a:solidFill>
            <a:srgbClr val="166534"/>
          </a:solidFill>
          <a:ln w="9525">
            <a:solidFill>
              <a:srgbClr val="166534"/>
            </a:solidFill>
          </a:ln>
        </p:spPr>
        <p:txBody>
          <a:bodyPr wrap="square" lIns="76200" rIns="76200" tIns="38100" bIns="381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1   Sofort automatisierbar   59 %  (646)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Sparten: Komposit 53 %  |  KV 29 %  |  Leben 16 %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Geschäftstyp (BÜ): einfacher Vertrag 76 %  |  Kundenverbindung 24 %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Anhang-Qualität: 94 % Text-PDF (automatisch parsebar)</a:t>
            </a:r>
          </a:p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Pool-Konzentration: Top 3 Pools decken 54 % ab</a:t>
            </a:r>
          </a:p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>→ Schnittstellen-Priorisierung auf JDC, Fonds Finanz, blau direkt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081528"/>
            <a:ext cx="3657600" cy="1417320"/>
          </a:xfrm>
          <a:prstGeom prst="rect">
            <a:avLst/>
          </a:prstGeom>
          <a:solidFill>
            <a:srgbClr val="CA8A04"/>
          </a:solidFill>
          <a:ln w="9525">
            <a:solidFill>
              <a:srgbClr val="CA8A04"/>
            </a:solidFill>
          </a:ln>
        </p:spPr>
        <p:txBody>
          <a:bodyPr wrap="square" lIns="76200" rIns="76200" tIns="38100" bIns="381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2   Klärungsbedarf   22 %  (245)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35 %   MV fehlt im Anhang         →  Outbound: MV nachfordern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33 %   MV unvollständig            →  Klärungs-Template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29 %   kein Anhang                  →  Outbound: MV nachfordern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4 %    nicht prüfbar (Scan/OCR)   →  manuelle Sichtung</a:t>
            </a:r>
          </a:p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>→ Halbautomatischer Workflow mit Standard-Anschreiben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4608576"/>
            <a:ext cx="3657600" cy="1234440"/>
          </a:xfrm>
          <a:prstGeom prst="rect">
            <a:avLst/>
          </a:prstGeom>
          <a:solidFill>
            <a:srgbClr val="6B7280"/>
          </a:solidFill>
          <a:ln w="9525">
            <a:solidFill>
              <a:srgbClr val="6B7280"/>
            </a:solidFill>
          </a:ln>
        </p:spPr>
        <p:txBody>
          <a:bodyPr wrap="square" lIns="76200" rIns="76200" tIns="38100" bIns="381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Außerhalb Scope   19 %  (203)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9 %   Reminder / Wiedervorlage   →  eigener SLA-Use-Case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3 %   Nicht-BÜ (Anfrage, Antrag) →  andere Pipeline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6 %   Rauschen                    →  Spam-Filter / NDR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5 %   Sondertarif / Flotte         →  Konsortien manuell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1152144"/>
            <a:ext cx="3230575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Top 10 Pools in Automatisierungs-Kandidaten (n = 646)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463040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1.  JDC / Jung, DMS &amp; Cie.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527048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881360" y="1527048"/>
            <a:ext cx="5330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60175" y="1463040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1">
                <a:solidFill>
                  <a:srgbClr val="1E40AF"/>
                </a:solidFill>
                <a:latin typeface="Calibri"/>
              </a:rPr>
              <a:t>33 %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1755648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2.  Fonds Finanz Maklerservice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81360" y="1819656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360" y="1819656"/>
            <a:ext cx="193852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60175" y="1755648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1">
                <a:solidFill>
                  <a:srgbClr val="1E40AF"/>
                </a:solidFill>
                <a:latin typeface="Calibr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048256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3.  blau direkt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881360" y="2112264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360" y="2112264"/>
            <a:ext cx="161543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60175" y="2048256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1">
                <a:solidFill>
                  <a:srgbClr val="1E40AF"/>
                </a:solidFill>
                <a:latin typeface="Calibri"/>
              </a:rPr>
              <a:t>10 %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2340864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4.  DEMA Deutsche Versicherungsmakler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81360" y="2404872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360" y="2404872"/>
            <a:ext cx="80771" cy="16459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60175" y="2340864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5 %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633472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5.  Fuhrmann Versicherungsmakler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81360" y="2697480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360" y="2697480"/>
            <a:ext cx="48463" cy="16459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60175" y="2633472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3 %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926080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6.  Qualitypool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81360" y="2990088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881360" y="2990088"/>
            <a:ext cx="48463" cy="16459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60175" y="2926080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3218688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7.  Securess Versicherungsmakler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881360" y="3282696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81360" y="3282696"/>
            <a:ext cx="32308" cy="16459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60175" y="3218688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2 %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3511296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8.  [pma:] Finanz-Service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881360" y="3575304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81360" y="3575304"/>
            <a:ext cx="32308" cy="16459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60175" y="3511296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2 %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3803904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9.  Apella AG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867912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881360" y="3867912"/>
            <a:ext cx="32308" cy="16459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60175" y="3803904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2 %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4096512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10. TauRes Gesellschaft für Investmentberatung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881360" y="4160520"/>
            <a:ext cx="533095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360" y="4160520"/>
            <a:ext cx="32308" cy="164592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60175" y="4096512"/>
            <a:ext cx="502920" cy="292608"/>
          </a:xfrm>
          <a:prstGeom prst="rect">
            <a:avLst/>
          </a:prstGeom>
          <a:noFill/>
          <a:ln>
            <a:noFill/>
          </a:ln>
        </p:spPr>
        <p:txBody>
          <a:bodyPr wrap="none" lIns="25400" anchor="ctr">
            <a:spAutoFit/>
          </a:bodyPr>
          <a:lstStyle/>
          <a:p>
            <a:pPr algn="l"/>
            <a:r>
              <a:rPr sz="950" b="0">
                <a:solidFill>
                  <a:srgbClr val="1F2937"/>
                </a:solidFill>
                <a:latin typeface="Calibri"/>
              </a:rPr>
              <a:t>2 %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4434840"/>
            <a:ext cx="3230575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38100" bIns="381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4B5563"/>
                </a:solidFill>
                <a:latin typeface="Calibri"/>
              </a:rPr>
              <a:t>Top 3 = 54 %   |   Top 10 = 74 %   |   Long Tail (90+ Pools) = 26 %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4320" y="5532120"/>
            <a:ext cx="5943600" cy="1280160"/>
          </a:xfrm>
          <a:prstGeom prst="rect">
            <a:avLst/>
          </a:prstGeom>
          <a:solidFill>
            <a:srgbClr val="F3F4F6"/>
          </a:solidFill>
          <a:ln w="9525">
            <a:solidFill>
              <a:srgbClr val="9CA3AF"/>
            </a:solidFill>
          </a:ln>
        </p:spPr>
        <p:txBody>
          <a:bodyPr wrap="square" lIns="76200" rIns="76200" tIns="38100" bIns="381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Hochrechnung auf das Jahr (1.094 Mails × ca. 52 Wochen)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ca. 33.600   Phase 1   Automatisierungs-Potenzial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ca. 12.700   Phase 2   Halbautomatische MV-Klärung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ca.  5.400   Phase 3   Reminder- / SLA-Logik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ca.  1.900             Andere Klassifikation (Antrag, Anfrage)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F2937"/>
                </a:solidFill>
                <a:latin typeface="Calibri"/>
              </a:rPr>
              <a:t>ca.  3.300             Rauschen (NDR, System, Outbound)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ca. 56.900   GESAMT-Mails p.a. im SHUK-Innendienst (Hochrechnung)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5532120"/>
            <a:ext cx="5470855" cy="1280160"/>
          </a:xfrm>
          <a:prstGeom prst="rect">
            <a:avLst/>
          </a:prstGeom>
          <a:solidFill>
            <a:srgbClr val="C8102E"/>
          </a:solidFill>
          <a:ln w="9525">
            <a:solidFill>
              <a:srgbClr val="C8102E"/>
            </a:solidFill>
          </a:ln>
        </p:spPr>
        <p:txBody>
          <a:bodyPr wrap="square" lIns="76200" rIns="76200" tIns="38100" bIns="381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Empfehlung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Phase-1-Pilot mit Top 3 Pools (JDC, Fonds Finanz, blau direkt) deckt mit nur DREI Schnittstellen rund 54 % des Automatisierungs-Potenzials ab — Top 10 decken 74 %.</a:t>
            </a:r>
          </a:p>
          <a:p>
            <a:pPr algn="l">
              <a:lnSpc>
                <a:spcPct val="105000"/>
              </a:lnSpc>
            </a:pPr>
            <a:r>
              <a:rPr sz="4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Folge-Phase: MV-Klärungs-Templates für die drei Hauptgründe (MV fehlt, MV unvollständig, kein Anhang) → +22 % Volumen halbautomatisch.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4320" y="6629400"/>
            <a:ext cx="1188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750" b="0" i="1">
                <a:solidFill>
                  <a:srgbClr val="6B7280"/>
                </a:solidFill>
                <a:latin typeface="Calibri"/>
              </a:rPr>
              <a:t>Datenquelle: Mappe10.xlsx — ergo-vorgang-analyse v2.13  |  KI-Klassifikation Mail + PDF-Anhang  |  Pool-Schreibweisen konsolidiert  |  Eine Stichwoche, keine Saisonalität berücksichtigt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