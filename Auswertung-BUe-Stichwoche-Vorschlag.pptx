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Automatisierungs-Potenzial Bestandsuebertragung ERGO   |   Stichwoche April 2026   |   ca. 5.000 Mails analysiert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76072"/>
            <a:ext cx="11643055" cy="4114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▶  Kernaussage: 65 % der Mails sind regelbasiert automatisierbare BUe-Neuanfragen → rund 170.000 Vorgaenge p.a.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5214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FUNNEL: Vom Eingang zum Automatisierungs-Kandidat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4297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ca. 5.000   </a:t>
            </a:r>
            <a:r>
              <a:rPr sz="1000" i="0">
                <a:solidFill>
                  <a:srgbClr val="1F2937"/>
                </a:solidFill>
                <a:latin typeface="Calibri"/>
              </a:rPr>
              <a:t>Eingang gesamt</a:t>
            </a:r>
            <a:r>
              <a:rPr sz="1100" b="1">
                <a:solidFill>
                  <a:srgbClr val="1F2937"/>
                </a:solidFill>
                <a:latin typeface="Calibri"/>
              </a:rPr>
              <a:t>    100 %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92224"/>
            <a:ext cx="4297680" cy="329184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900" b="1" i="1">
                <a:solidFill>
                  <a:srgbClr val="1F2937"/>
                </a:solidFill>
                <a:latin typeface="Calibri"/>
              </a:rPr>
              <a:t>– 6 %   </a:t>
            </a:r>
            <a:r>
              <a:rPr sz="900" i="1">
                <a:solidFill>
                  <a:srgbClr val="1F2937"/>
                </a:solidFill>
                <a:latin typeface="Calibri"/>
              </a:rPr>
              <a:t>Rauschen (Bounce / System / Werbung)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39696"/>
            <a:ext cx="4297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ca. 4.700   </a:t>
            </a:r>
            <a:r>
              <a:rPr sz="1000" i="0">
                <a:solidFill>
                  <a:srgbClr val="1F2937"/>
                </a:solidFill>
                <a:latin typeface="Calibri"/>
              </a:rPr>
              <a:t>Echte Makler-Vorgaenge</a:t>
            </a:r>
            <a:r>
              <a:rPr sz="1100" b="1">
                <a:solidFill>
                  <a:srgbClr val="1F2937"/>
                </a:solidFill>
                <a:latin typeface="Calibri"/>
              </a:rPr>
              <a:t>    94 %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87168"/>
            <a:ext cx="4297680" cy="329184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900" b="1" i="1">
                <a:solidFill>
                  <a:srgbClr val="1F2937"/>
                </a:solidFill>
                <a:latin typeface="Calibri"/>
              </a:rPr>
              <a:t>– 4 %   </a:t>
            </a:r>
            <a:r>
              <a:rPr sz="900" i="1">
                <a:solidFill>
                  <a:srgbClr val="1F2937"/>
                </a:solidFill>
                <a:latin typeface="Calibri"/>
              </a:rPr>
              <a:t>Andere Klassifikation (Anfrage / Antrag)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34640"/>
            <a:ext cx="4297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ca. 4.500   </a:t>
            </a:r>
            <a:r>
              <a:rPr sz="1000" i="0">
                <a:solidFill>
                  <a:srgbClr val="1F2937"/>
                </a:solidFill>
                <a:latin typeface="Calibri"/>
              </a:rPr>
              <a:t>BUe-Vorgaenge</a:t>
            </a:r>
            <a:r>
              <a:rPr sz="1100" b="1">
                <a:solidFill>
                  <a:srgbClr val="1F2937"/>
                </a:solidFill>
                <a:latin typeface="Calibri"/>
              </a:rPr>
              <a:t>    90 %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82112"/>
            <a:ext cx="4297680" cy="329184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900" b="1" i="1">
                <a:solidFill>
                  <a:srgbClr val="1F2937"/>
                </a:solidFill>
                <a:latin typeface="Calibri"/>
              </a:rPr>
              <a:t>– 7 %   </a:t>
            </a:r>
            <a:r>
              <a:rPr sz="900" i="1">
                <a:solidFill>
                  <a:srgbClr val="1F2937"/>
                </a:solidFill>
                <a:latin typeface="Calibri"/>
              </a:rPr>
              <a:t>Reminder / Wiedervorlage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29584"/>
            <a:ext cx="4297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ca. 4.150   </a:t>
            </a:r>
            <a:r>
              <a:rPr sz="1000" i="0">
                <a:solidFill>
                  <a:srgbClr val="1F2937"/>
                </a:solidFill>
                <a:latin typeface="Calibri"/>
              </a:rPr>
              <a:t>BUe-Erstvorgaenge</a:t>
            </a:r>
            <a:r>
              <a:rPr sz="1100" b="1">
                <a:solidFill>
                  <a:srgbClr val="1F2937"/>
                </a:solidFill>
                <a:latin typeface="Calibri"/>
              </a:rPr>
              <a:t>    83 %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77056"/>
            <a:ext cx="4297680" cy="329184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900" b="1" i="1">
                <a:solidFill>
                  <a:srgbClr val="1F2937"/>
                </a:solidFill>
                <a:latin typeface="Calibri"/>
              </a:rPr>
              <a:t>– 18 %   </a:t>
            </a:r>
            <a:r>
              <a:rPr sz="900" i="1">
                <a:solidFill>
                  <a:srgbClr val="1F2937"/>
                </a:solidFill>
                <a:latin typeface="Calibri"/>
              </a:rPr>
              <a:t>MV-Klaerungsbedarf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24528"/>
            <a:ext cx="4297680" cy="329184"/>
          </a:xfrm>
          <a:prstGeom prst="rect">
            <a:avLst/>
          </a:prstGeom>
          <a:solidFill>
            <a:srgbClr val="166534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ca. 3.250   </a:t>
            </a:r>
            <a:r>
              <a:rPr sz="1000" i="0">
                <a:solidFill>
                  <a:srgbClr val="FFFFFF"/>
                </a:solidFill>
                <a:latin typeface="Calibri"/>
              </a:rPr>
              <a:t>AUTOMATISIERUNGS-KANDIDATEN</a:t>
            </a:r>
            <a:r>
              <a:rPr sz="1100" b="1">
                <a:solidFill>
                  <a:srgbClr val="FFFFFF"/>
                </a:solidFill>
                <a:latin typeface="Calibri"/>
              </a:rPr>
              <a:t>    65 %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60857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1">
                <a:solidFill>
                  <a:srgbClr val="6B7280"/>
                </a:solidFill>
                <a:latin typeface="Calibri"/>
              </a:rPr>
              <a:t>Definition Automatisierungs-Kandidat: vollstaendige Maklervollmacht + Erstvorgang + BUe-Klassifikation.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15214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Drei Phasen der Bearbeitung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463040"/>
            <a:ext cx="3657600" cy="1508760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1   Sofort automatisierbar   65 %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Sparten: Komposit ~ 60 %  |  KV ~ 30 %  |  Leben ~ 20 %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Geschaeftstyp: Einfacher Vertrag ~ 85 %  |  Kundenverbindung ~ 20 %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Sonderfaelle: &lt; 1 %  (manuell ausgenommen)</a:t>
            </a:r>
          </a:p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Pool-Konzentration: Top 3 Pools decken ~ 65 % ab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→ Schnittstellen-Priorisierung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81528"/>
            <a:ext cx="3657600" cy="1417320"/>
          </a:xfrm>
          <a:prstGeom prst="rect">
            <a:avLst/>
          </a:prstGeom>
          <a:solidFill>
            <a:srgbClr val="CA8A04"/>
          </a:solidFill>
          <a:ln w="9525">
            <a:solidFill>
              <a:srgbClr val="CA8A04"/>
            </a:solidFill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2   Klaerungsbedarf   ~ 18 %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~ 1/3   MV unvollstaendig    →  Klaerungs-Template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~ 1/3   kein Anhang          →  Outbound: MV nachfordern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~ 1/3   MV fehlt im Anhang   →  Outbound: MV nachfordern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&lt; 5 %   nicht pruefbar       →  manuelle Sichtung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→ Halbautomatischer Workflow mit Standard-Anschreiben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608576"/>
            <a:ext cx="3657600" cy="123444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Ausserhalb Scope   ~ 17 %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~ 7 %   Reminder / Wiedervorlage   →  eigener SLA-Use-Case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~ 4 %   Nicht-BUe                  →  andere Pipeline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~ 6 %   Rauschen                   →  Spam-Filter / NDR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&lt; 1 %   Sonderfaelle                →  Konsortien manuell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152144"/>
            <a:ext cx="3230575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Top 10 Pools in Automatisierungs-Kandidaten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630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  <a:latin typeface="Calibri"/>
              </a:rPr>
              <a:t>1.  JDC / Jung, DMS &amp; Cie.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1527048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07040" y="1527048"/>
            <a:ext cx="80741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60175" y="1463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1">
                <a:solidFill>
                  <a:srgbClr val="1E40AF"/>
                </a:solidFill>
                <a:latin typeface="Calibri"/>
              </a:rPr>
              <a:t>ca. 40 %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75564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  <a:latin typeface="Calibri"/>
              </a:rPr>
              <a:t>2.  Fonds Finanz Maklerservice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1819656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1819656"/>
            <a:ext cx="363336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60175" y="175564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1">
                <a:solidFill>
                  <a:srgbClr val="1E40AF"/>
                </a:solidFill>
                <a:latin typeface="Calibri"/>
              </a:rPr>
              <a:t>ca. 18 %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  <a:latin typeface="Calibri"/>
              </a:rPr>
              <a:t>3.  blau direkt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2112264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07040" y="2112264"/>
            <a:ext cx="141297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60175" y="2048256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1">
                <a:solidFill>
                  <a:srgbClr val="1E40AF"/>
                </a:solidFill>
                <a:latin typeface="Calibri"/>
              </a:rPr>
              <a:t>ca. 7 %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34086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4.  DEMA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0" y="2404872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07040" y="2404872"/>
            <a:ext cx="60556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60175" y="234086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3 %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633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5.  Securess Versicherungsmakler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0" y="2697480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07040" y="2697480"/>
            <a:ext cx="40370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60175" y="263347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2 %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6.  1:1 Assekuranzservice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2990088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07040" y="2990088"/>
            <a:ext cx="40370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60175" y="292608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2 %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21868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7.  [pma:] Finanz-Service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0" y="3282696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07040" y="3282696"/>
            <a:ext cx="20185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60175" y="321868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1 %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51129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8.  Qualitypool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7040" y="3575304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07040" y="3575304"/>
            <a:ext cx="20185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60175" y="3511296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1 %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80390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9.  Invers GmbH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07040" y="3867912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07040" y="3867912"/>
            <a:ext cx="20185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60175" y="380390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1 %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0965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10. Apella AG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07040" y="4160520"/>
            <a:ext cx="807415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07040" y="4160520"/>
            <a:ext cx="20185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60175" y="409651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 lIns="25400" anchor="ctr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Calibri"/>
              </a:rPr>
              <a:t>ca. 1 %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434840"/>
            <a:ext cx="3230575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4B5563"/>
                </a:solidFill>
                <a:latin typeface="Calibri"/>
              </a:rPr>
              <a:t>Top 10 zusammen ca. 75 %  |  Long Tail (100+ Pools) ca. 25 %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5532120"/>
            <a:ext cx="5943600" cy="1280160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Hochrechnung auf das Jahr (annahmegestuetzt)</a:t>
            </a:r>
          </a:p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ca. 170.000   Phase 1   Automatisierungs-Potenzial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ca.  45.000   Phase 2   Halbautomatische Klaerung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ca.  18.000   Phase 3   Reminder- / SLA-Logik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ca.  10.000   Manuell   Sonstige + Eskalationen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ca.  15.000   Rauschen  (NDR / Spam-Filter)</a:t>
            </a:r>
          </a:p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ca. 260.000   GESAMT-Mails p.a. im SHUK-Innendienst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532120"/>
            <a:ext cx="5470855" cy="1280160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</a:ln>
        </p:spPr>
        <p:txBody>
          <a:bodyPr wrap="square" lIns="76200" rIns="76200" tIns="38100" bIns="381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Empfehlung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Phase-1-Pilot mit Top 3 Pools (JDC, Fonds Finanz, blau direkt) deckt mit nur DREI Schnittstellen rund zwei Drittel des Automatisierungs-Potenzials ab.</a:t>
            </a:r>
          </a:p>
          <a:p>
            <a:pPr algn="l">
              <a:lnSpc>
                <a:spcPct val="105000"/>
              </a:lnSpc>
            </a:pPr>
            <a:r>
              <a:rPr sz="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Folge-Phasen: MV-Klaerungs-Templates fuer Top 3 Klaerungsgruende → +18 % Volumen mit halbautomatischem Workflow.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629400"/>
            <a:ext cx="1188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Datenquelle: ergo-vorgang-analyse.hta v1.62 | KI-gestuetzte Klassifikation Mail + PDF-Anhang | Pool-Schreibweisen konsolidiert | Eine Stichwoche, keine Saisonalitaet beruecksichtigt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