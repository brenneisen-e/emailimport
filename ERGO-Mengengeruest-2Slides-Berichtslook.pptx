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Das Mengengeruest einer Woche zeigt zwei Hebel: jede 5. Mail ist keine BÜ (Routing)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und die echten BÜ-Mails buendeln sich zu Vorgaengen (Clustering / Arbeitsvorrats-Steuerung)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240280"/>
            <a:ext cx="54864" cy="56692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Mails / Woche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4315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4315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5287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1 KW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5287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Vollerhebung 13.–20.04.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482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7482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454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94 %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454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ein Sammel-Postfach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0649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06490" y="2240280"/>
            <a:ext cx="54864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1621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621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KI-Datenfelder / Mail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008376"/>
            <a:ext cx="7635240" cy="329184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008376"/>
            <a:ext cx="260604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FFFFFF"/>
                </a:solidFill>
                <a:latin typeface="Calibri"/>
              </a:rPr>
              <a:t>Status / Woche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17520" y="3008376"/>
            <a:ext cx="105156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Gesamt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9080" y="3008376"/>
            <a:ext cx="9601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KV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3008376"/>
            <a:ext cx="114300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Komposit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3008376"/>
            <a:ext cx="91440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Leben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3008376"/>
            <a:ext cx="9601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Sonstige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3337560"/>
            <a:ext cx="7635240" cy="278892"/>
          </a:xfrm>
          <a:prstGeom prst="rect">
            <a:avLst/>
          </a:prstGeom>
          <a:solidFill>
            <a:srgbClr val="E9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1208" y="3337560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Gesamt Mails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17520" y="3337560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69080" y="333756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1.308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0" y="3337560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2.502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3337560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86600" y="333756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469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3616452"/>
            <a:ext cx="7635240" cy="2788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1208" y="3616452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Keine BÜ (falscher Kanal)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17520" y="3616452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69080" y="361645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0" y="3616452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2200" y="3616452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86600" y="361645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895344"/>
            <a:ext cx="7635240" cy="278892"/>
          </a:xfrm>
          <a:prstGeom prst="rect">
            <a:avLst/>
          </a:prstGeom>
          <a:solidFill>
            <a:srgbClr val="FDE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1480" y="3895344"/>
            <a:ext cx="91440" cy="278892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21208" y="3895344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1" u="none">
                <a:solidFill>
                  <a:srgbClr val="C86E10"/>
                </a:solidFill>
                <a:latin typeface="Calibri"/>
              </a:rPr>
              <a:t>   davon mit MV im Anhang*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17520" y="3895344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9080" y="389534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0" y="3895344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72200" y="3895344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86600" y="389534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" y="4174236"/>
            <a:ext cx="7635240" cy="2788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21208" y="4174236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BÜ-Reminder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17520" y="4174236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329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69080" y="4174236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49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0" y="4174236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72200" y="4174236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600" y="4174236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4453128"/>
            <a:ext cx="7635240" cy="278892"/>
          </a:xfrm>
          <a:prstGeom prst="rect">
            <a:avLst/>
          </a:prstGeom>
          <a:solidFill>
            <a:srgbClr val="FDE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11480" y="4453128"/>
            <a:ext cx="91440" cy="278892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21208" y="4453128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1" u="none">
                <a:solidFill>
                  <a:srgbClr val="C86E10"/>
                </a:solidFill>
                <a:latin typeface="Calibri"/>
              </a:rPr>
              <a:t>   davon mit MV im Anhang*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017520" y="4453128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069080" y="4453128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40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29200" y="4453128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135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72200" y="4453128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86600" y="4453128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6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1480" y="4732020"/>
            <a:ext cx="7635240" cy="278892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11480" y="4732020"/>
            <a:ext cx="91440" cy="278892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21208" y="4732020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Neue BÜ (echte BÜ-Anfragen)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017520" y="4732020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4.000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069080" y="473202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1.147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9200" y="4732020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2.089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4732020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662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086600" y="473202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102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11480" y="5010912"/>
            <a:ext cx="7635240" cy="278892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21208" y="5010912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Anteil Top-5-Makler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17520" y="5010912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1" i="1" u="none">
                <a:solidFill>
                  <a:srgbClr val="666666"/>
                </a:solidFill>
                <a:latin typeface="Calibri"/>
              </a:rPr>
              <a:t>2.890 (57 %)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069080" y="501091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886 (68 %)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29200" y="5010912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1.489 (60 %)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72200" y="5010912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505 (67 %)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86600" y="501091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10 (2 %)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11480" y="5289804"/>
            <a:ext cx="7635240" cy="278892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21208" y="5289804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Anteil in Cluster (weitere Mails Makler+Kunde)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017520" y="5289804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1" i="1" u="none">
                <a:solidFill>
                  <a:srgbClr val="666666"/>
                </a:solidFill>
                <a:latin typeface="Calibri"/>
              </a:rPr>
              <a:t>2.370 (47 %)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69080" y="528980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399 (31 %)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029200" y="5289804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1.573 (63 %)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172200" y="5289804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357 (47 %)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086600" y="528980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41 (9 %)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11480" y="5577840"/>
            <a:ext cx="76352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* MV im Anhang ohne neue BÜ = potentielles Falschrouting (240 / Wo → Hebel 1, 11a).  Cluster-Anteil &amp; Top-5-Makler → Hebel 2 (11b).  Sonstige = Sparte unklar / Spam (346 der Keine-BÜ ohne MV).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Mengengeruest 1 Woche: </a:t>
            </a:r>
            <a:r>
              <a:rPr sz="1100">
                <a:solidFill>
                  <a:srgbClr val="333333"/>
                </a:solidFill>
                <a:latin typeface="Calibri"/>
              </a:rPr>
              <a:t>5.034 Mails, Vollerhebung 13.–20.04.2026; 94 % ueber ein Sammel-Postfach. Hochrechnung ~260.000 / Jahr.</a:t>
            </a:r>
          </a:p>
        </p:txBody>
      </p:sp>
      <p:sp>
        <p:nvSpPr>
          <p:cNvPr id="104" name="Oval 103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Strukturierte Extraktion: </a:t>
            </a:r>
            <a:r>
              <a:rPr sz="1100">
                <a:solidFill>
                  <a:srgbClr val="333333"/>
                </a:solidFill>
                <a:latin typeface="Calibri"/>
              </a:rPr>
              <a:t>KI erstellt je Mail ein Beiblatt mit 50 Feldern – VNR, Sparte, Pool, Status, Vorgangs-Cluster immer gleich.</a:t>
            </a:r>
          </a:p>
        </p:txBody>
      </p:sp>
      <p:sp>
        <p:nvSpPr>
          <p:cNvPr id="107" name="Oval 106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1: </a:t>
            </a:r>
            <a:r>
              <a:rPr sz="1100">
                <a:solidFill>
                  <a:srgbClr val="333333"/>
                </a:solidFill>
                <a:latin typeface="Calibri"/>
              </a:rPr>
              <a:t>1.034 Mails sind keine neue BÜ; 240 haengen eine MV an und werden durch die Regel 'MV → BÜ' falsch angelegt.</a:t>
            </a:r>
          </a:p>
        </p:txBody>
      </p:sp>
      <p:sp>
        <p:nvSpPr>
          <p:cNvPr id="110" name="Oval 109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2: </a:t>
            </a:r>
            <a:r>
              <a:rPr sz="1100">
                <a:solidFill>
                  <a:srgbClr val="333333"/>
                </a:solidFill>
                <a:latin typeface="Calibri"/>
              </a:rPr>
              <a:t>4.000 BÜ-Mails verteilen sich auf nur 2.495 Vorgaenge → Buendelung / Steuerung moeglich.</a:t>
            </a:r>
          </a:p>
        </p:txBody>
      </p:sp>
      <p:sp>
        <p:nvSpPr>
          <p:cNvPr id="113" name="Oval 112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Roter Faden: </a:t>
            </a:r>
            <a:r>
              <a:rPr sz="1100">
                <a:solidFill>
                  <a:srgbClr val="333333"/>
                </a:solidFill>
                <a:latin typeface="Calibri"/>
              </a:rPr>
              <a:t>Beide Hebel folgen direkt aus der KI-Strukturierung des Posteingangs – Details auf 11a / 11b.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Eingangs-Postfaecher: 'Service Team Maklerauftraege' (94 %), 'Bestandsuebertragungen'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Aus dem Status-Split folgen zwei Hebel: 240 Mails mit MV im Anhang werden faelschlich als BÜ angelegt → Routing (11a); 4.000 BÜ-Mails buendeln sich zu 2.495 Vorgaengen → Clustering &amp; Arbeitsvorrats-Steuerung (11b).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Hebel 1: Die Routing-Regel 'Maklervollmacht im Anhang → BÜ' erzeugt Fehlrouting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240 Mails / Woche werden faelschlich als neuer BÜ-Vorgang in den Postkorb eingestellt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0280"/>
            <a:ext cx="76352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1" u="none">
                <a:solidFill>
                  <a:srgbClr val="666666"/>
                </a:solidFill>
                <a:latin typeface="Calibri"/>
              </a:rPr>
              <a:t>Nicht-BÜ-Mails MIT Maklervollmacht im Anhang – heute trotzdem als BÜ-Vorgang angelegt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606040"/>
            <a:ext cx="7635240" cy="777240"/>
          </a:xfrm>
          <a:prstGeom prst="rect">
            <a:avLst/>
          </a:prstGeom>
          <a:solidFill>
            <a:srgbClr val="FDE2C4"/>
          </a:solidFill>
          <a:ln w="12700">
            <a:solidFill>
              <a:srgbClr val="C86E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679192"/>
            <a:ext cx="726948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C86E10"/>
                </a:solidFill>
                <a:latin typeface="Calibri"/>
              </a:rPr>
              <a:t>Heutige Regel:  Maklervollmacht im Anhang  →  automatisch BÜ-Vorgang im Postkorb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008376"/>
            <a:ext cx="726948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Problem: Auch Reminder und fachfremde Mails haengen oft die MV erneut an – und werden so zu (Dubletten-)BÜ-Vorgaengen.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520440"/>
            <a:ext cx="7635240" cy="365760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3520440"/>
            <a:ext cx="210312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Sparte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352044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Reminder (mit MV)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352044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Keine BÜ (mit MV)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352044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Summe / Wo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352044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Anteil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886200"/>
            <a:ext cx="76352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3886200"/>
            <a:ext cx="109728" cy="36576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496" y="3886200"/>
            <a:ext cx="1975104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Komposit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14600" y="388620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135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388620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97880" y="388620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155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0" y="388620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65 %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4251960"/>
            <a:ext cx="7635240" cy="36576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11480" y="4251960"/>
            <a:ext cx="109728" cy="36576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9496" y="4251960"/>
            <a:ext cx="1975104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KV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425196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40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06240" y="425196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97880" y="425196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47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0" y="425196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20 %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4617720"/>
            <a:ext cx="76352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1480" y="4617720"/>
            <a:ext cx="109728" cy="365760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9496" y="4617720"/>
            <a:ext cx="1975104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Leben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14600" y="461772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06240" y="461772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97880" y="461772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31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32320" y="461772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13 %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4983480"/>
            <a:ext cx="7635240" cy="36576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11480" y="4983480"/>
            <a:ext cx="109728" cy="36576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9496" y="4983480"/>
            <a:ext cx="1975104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Mehrere/Unbekannt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14600" y="498348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06240" y="498348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97880" y="498348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32320" y="498348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3 %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1480" y="5349240"/>
            <a:ext cx="7635240" cy="347472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9496" y="5349240"/>
            <a:ext cx="1975104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FFFFFF"/>
                </a:solidFill>
                <a:latin typeface="Calibri"/>
              </a:rPr>
              <a:t>Gesamt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14600" y="5349240"/>
            <a:ext cx="1691640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210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06240" y="5349240"/>
            <a:ext cx="1691640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97880" y="5349240"/>
            <a:ext cx="1234440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240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32320" y="5349240"/>
            <a:ext cx="914400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100 %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1480" y="5733288"/>
            <a:ext cx="76352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1" u="none">
                <a:solidFill>
                  <a:srgbClr val="666666"/>
                </a:solidFill>
                <a:latin typeface="Calibri"/>
              </a:rPr>
              <a:t>Mechanismus identisch in allen Sparten: MV im Anhang → BÜ-Vorgang. Reminder (210) dominieren klar.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Bekanntes Fehlrouting: </a:t>
            </a:r>
            <a:r>
              <a:rPr sz="1100">
                <a:solidFill>
                  <a:srgbClr val="333333"/>
                </a:solidFill>
                <a:latin typeface="Calibri"/>
              </a:rPr>
              <a:t>Die Regel 'MV im Anhang → BÜ' stellt 240 Mails / Woche faelschlich als BÜ-Vorgang ein.</a:t>
            </a:r>
          </a:p>
        </p:txBody>
      </p:sp>
      <p:sp>
        <p:nvSpPr>
          <p:cNvPr id="66" name="Oval 65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Vor allem Reminder: </a:t>
            </a:r>
            <a:r>
              <a:rPr sz="1100">
                <a:solidFill>
                  <a:srgbClr val="333333"/>
                </a:solidFill>
                <a:latin typeface="Calibri"/>
              </a:rPr>
              <a:t>210 der 240 sind Reminder, die die MV erneut anhaengen – sie erzeugen Dubletten-Vorgaenge.</a:t>
            </a:r>
          </a:p>
        </p:txBody>
      </p:sp>
      <p:sp>
        <p:nvSpPr>
          <p:cNvPr id="69" name="Oval 68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KI loest das: </a:t>
            </a:r>
            <a:r>
              <a:rPr sz="1100">
                <a:solidFill>
                  <a:srgbClr val="333333"/>
                </a:solidFill>
                <a:latin typeface="Calibri"/>
              </a:rPr>
              <a:t>Strukturierte Extraktion liest den Status (Reminder / Keine BÜ) trotz MV – und verhindert die Anlage.</a:t>
            </a:r>
          </a:p>
        </p:txBody>
      </p:sp>
      <p:sp>
        <p:nvSpPr>
          <p:cNvPr id="72" name="Oval 71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Ehrliche Einordnung: </a:t>
            </a:r>
            <a:r>
              <a:rPr sz="1100">
                <a:solidFill>
                  <a:srgbClr val="333333"/>
                </a:solidFill>
                <a:latin typeface="Calibri"/>
              </a:rPr>
              <a:t>Nur dieser MV-Mechanismus ist nachgewiesen – die uebrigen Nicht-BÜ-Mails sind nicht pauschal Fehlrouting.</a:t>
            </a:r>
          </a:p>
        </p:txBody>
      </p:sp>
      <p:sp>
        <p:nvSpPr>
          <p:cNvPr id="75" name="Oval 74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Naechster Schritt: </a:t>
            </a:r>
            <a:r>
              <a:rPr sz="1100">
                <a:solidFill>
                  <a:srgbClr val="333333"/>
                </a:solidFill>
                <a:latin typeface="Calibri"/>
              </a:rPr>
              <a:t>Routing-Logik um KI-Status ergaenzen: MV vorhanden UND Status=Neue BÜ → erst dann BÜ-Vorgang.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Eingangs-Postfaecher: 'Service Team Maklerauftraege' (94 %), 'Bestandsuebertragungen'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Nachgewiesener Routing-Hebel: 240 Mails / Woche mit MV im Anhang werden heute faelschlich als BÜ-Vorgang angelegt (210 davon Reminder). KI liest den Status trotz MV und verhindert die Fehl-/Dublettenanlage.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Hebel 2: Cluster-Erkennung ermoeglicht Arbeitsvorrats-Steuerung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und schliesst die KV-Vorgangsluecke: heute ist dort jede Eingangsmail ein eigener Vorgang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0280"/>
            <a:ext cx="76352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1" u="none">
                <a:solidFill>
                  <a:srgbClr val="666666"/>
                </a:solidFill>
                <a:latin typeface="Calibri"/>
              </a:rPr>
              <a:t>Vorgangs-Buendelung heute je Sparte – wo die Cluster-Sicht im Postkorb fehlt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606040"/>
            <a:ext cx="7635240" cy="384048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606040"/>
            <a:ext cx="141732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Sparte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2606040"/>
            <a:ext cx="11430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BÜ-Mails/Wo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2606040"/>
            <a:ext cx="1874519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in Mehrfach-Vorgang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19" y="2606040"/>
            <a:ext cx="178308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VNR-Mapping Postkorb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399" y="2606040"/>
            <a:ext cx="141732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Cluster-Hebel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990088"/>
            <a:ext cx="7635240" cy="402336"/>
          </a:xfrm>
          <a:prstGeom prst="rect">
            <a:avLst/>
          </a:prstGeom>
          <a:solidFill>
            <a:srgbClr val="E9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1208" y="2990088"/>
            <a:ext cx="1307592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Gesamt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2990088"/>
            <a:ext cx="114300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4.000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71800" y="2990088"/>
            <a:ext cx="1874519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2.008 Mails (50 %)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19" y="2990088"/>
            <a:ext cx="178308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teils gemappt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399" y="2990088"/>
            <a:ext cx="141732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3392424"/>
            <a:ext cx="7635240" cy="402336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1480" y="3392424"/>
            <a:ext cx="109728" cy="402336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1208" y="3392424"/>
            <a:ext cx="1307592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9C060F"/>
                </a:solidFill>
                <a:latin typeface="Calibri"/>
              </a:rPr>
              <a:t>KV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3392424"/>
            <a:ext cx="114300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9C060F"/>
                </a:solidFill>
                <a:latin typeface="Calibri"/>
              </a:rPr>
              <a:t>1.147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71800" y="3392424"/>
            <a:ext cx="1874519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9C060F"/>
                </a:solidFill>
                <a:latin typeface="Calibri"/>
              </a:rPr>
              <a:t>317 Mails (28 %)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19" y="3392424"/>
            <a:ext cx="178308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9C060F"/>
                </a:solidFill>
                <a:latin typeface="Calibri"/>
              </a:rPr>
              <a:t>FEHLT heute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19" y="3465576"/>
            <a:ext cx="1325880" cy="256032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9399" y="3392424"/>
            <a:ext cx="141732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GROSS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3794760"/>
            <a:ext cx="763524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1480" y="3794760"/>
            <a:ext cx="109728" cy="402336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208" y="3794760"/>
            <a:ext cx="1307592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Komposit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3794760"/>
            <a:ext cx="114300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2.089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71800" y="3794760"/>
            <a:ext cx="1874519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1.362 Mails (65 %)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46319" y="3794760"/>
            <a:ext cx="178308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bereits gemappt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75119" y="3867912"/>
            <a:ext cx="1325880" cy="256032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29399" y="3794760"/>
            <a:ext cx="141732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gering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4197096"/>
            <a:ext cx="7635240" cy="402336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11480" y="4197096"/>
            <a:ext cx="109728" cy="402336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1208" y="4197096"/>
            <a:ext cx="1307592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Leben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28800" y="4197096"/>
            <a:ext cx="114300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662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71800" y="4197096"/>
            <a:ext cx="1874519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314 Mails (47 %)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46319" y="4197096"/>
            <a:ext cx="178308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weitgehend gemappt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75119" y="4270248"/>
            <a:ext cx="1325880" cy="256032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29399" y="4197096"/>
            <a:ext cx="141732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gering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4599432"/>
            <a:ext cx="763524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1480" y="4599432"/>
            <a:ext cx="109728" cy="402336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21208" y="4599432"/>
            <a:ext cx="1307592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Mehr/Unbek.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828800" y="4599432"/>
            <a:ext cx="114300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71800" y="4599432"/>
            <a:ext cx="1874519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15 Mails (15 %)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46319" y="4599432"/>
            <a:ext cx="178308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uneinheitlich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75119" y="4672584"/>
            <a:ext cx="1325880" cy="256032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29399" y="4599432"/>
            <a:ext cx="141732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klein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" y="5138928"/>
            <a:ext cx="7635240" cy="91440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360" y="5212080"/>
            <a:ext cx="72694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006B77"/>
                </a:solidFill>
                <a:latin typeface="Calibri"/>
              </a:rPr>
              <a:t>Von 'Postkorb blind abarbeiten' zu aktiver Arbeitsvorrats-Steuerung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" y="5522976"/>
            <a:ext cx="726948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Heute: Sachbearbeiter nehmen Vorgaenge unsortiert aus dem Postkorb.   Kuenftig mit strukturierten Daten: Prio-Faelle (Alter, Vollmacht-Status) und Prio-Makler (z. B. JDC, Fonds Finanz) gezielt filtern und Cluster gebuendelt abarbeiten.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KV-Vorgangsluecke: </a:t>
            </a:r>
            <a:r>
              <a:rPr sz="1100">
                <a:solidFill>
                  <a:srgbClr val="333333"/>
                </a:solidFill>
                <a:latin typeface="Calibri"/>
              </a:rPr>
              <a:t>Im KV-Postkorb ist heute jede Eingangsmail ein eigener Vorgang – Zusammenhaenge fehlen.</a:t>
            </a:r>
          </a:p>
        </p:txBody>
      </p:sp>
      <p:sp>
        <p:nvSpPr>
          <p:cNvPr id="69" name="Oval 68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Komposit gemappt: </a:t>
            </a:r>
            <a:r>
              <a:rPr sz="1100">
                <a:solidFill>
                  <a:srgbClr val="333333"/>
                </a:solidFill>
                <a:latin typeface="Calibri"/>
              </a:rPr>
              <a:t>Bei Komposit (und weitgehend Leben) werden Vorgaenge zur VNR bereits gebuendelt.</a:t>
            </a:r>
          </a:p>
        </p:txBody>
      </p:sp>
      <p:sp>
        <p:nvSpPr>
          <p:cNvPr id="72" name="Oval 71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Mehrfach-Vorgaenge sind WERTVOLL: </a:t>
            </a:r>
            <a:r>
              <a:rPr sz="1100">
                <a:solidFill>
                  <a:srgbClr val="333333"/>
                </a:solidFill>
                <a:latin typeface="Calibri"/>
              </a:rPr>
              <a:t>619 Kunden / Woche mit mehreren Vertraegen beim selben Makler – erkennen statt doppelt anlegen.</a:t>
            </a:r>
          </a:p>
        </p:txBody>
      </p:sp>
      <p:sp>
        <p:nvSpPr>
          <p:cNvPr id="75" name="Oval 74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Arbeitsvorrats-Steuerung: </a:t>
            </a:r>
            <a:r>
              <a:rPr sz="1100">
                <a:solidFill>
                  <a:srgbClr val="333333"/>
                </a:solidFill>
                <a:latin typeface="Calibri"/>
              </a:rPr>
              <a:t>Strukturierte Daten erlauben Filter nach Prio-Fall und Prio-Makler statt blindes Abarbeiten.</a:t>
            </a:r>
          </a:p>
        </p:txBody>
      </p:sp>
      <p:sp>
        <p:nvSpPr>
          <p:cNvPr id="78" name="Oval 77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Echte Folge-Mails: </a:t>
            </a:r>
            <a:r>
              <a:rPr sz="1100">
                <a:solidFill>
                  <a:srgbClr val="333333"/>
                </a:solidFill>
                <a:latin typeface="Calibri"/>
              </a:rPr>
              <a:t>104 Nachreichungen / Woche zur selben VNR – Auto-Zuordnung zum offenen Vorgang.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Eingangs-Postfaecher: 'Service Team Maklerauftraege' (94 %), 'Bestandsuebertragungen'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Groesster Cluster-Hebel ist KV: dort fehlt heute die Vorgangs-Buendelung (jede Mail = ein Vorgang). Strukturierte Daten ermoeglichen Arbeitsvorrats-Steuerung nach Prio-Fall und Prio-Makler.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