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BUe-Mails</c:v>
                </c:pt>
              </c:strCache>
            </c:strRef>
          </c:tx>
          <c:spPr>
            <a:solidFill>
              <a:srgbClr val="E30613"/>
            </a:solidFill>
          </c:spPr>
          <c:dPt>
            <c:idx val="9"/>
            <c:spPr>
              <a:solidFill>
                <a:srgbClr val="8E0A20"/>
              </a:solidFill>
            </c:spPr>
          </c:dPt>
          <c:dPt>
            <c:idx val="8"/>
            <c:spPr>
              <a:solidFill>
                <a:srgbClr val="8E0A20"/>
              </a:solidFill>
            </c:spPr>
          </c:dPt>
          <c:dPt>
            <c:idx val="7"/>
            <c:spPr>
              <a:solidFill>
                <a:srgbClr val="8E0A20"/>
              </a:solidFill>
            </c:spPr>
          </c:dPt>
          <c:cat>
            <c:strRef>
              <c:f>Sheet1!$A$2:$A$11</c:f>
              <c:strCache>
                <c:ptCount val="10"/>
                <c:pt idx="0">
                  <c:v>Concordia</c:v>
                </c:pt>
                <c:pt idx="1">
                  <c:v>Securess</c:v>
                </c:pt>
                <c:pt idx="2">
                  <c:v>1:1 Assekuranz</c:v>
                </c:pt>
                <c:pt idx="3">
                  <c:v>vfm Service</c:v>
                </c:pt>
                <c:pt idx="4">
                  <c:v>[pma:] Finanz</c:v>
                </c:pt>
                <c:pt idx="5">
                  <c:v>DEMA</c:v>
                </c:pt>
                <c:pt idx="6">
                  <c:v>(ohne Pool)</c:v>
                </c:pt>
                <c:pt idx="7">
                  <c:v>blau direkt</c:v>
                </c:pt>
                <c:pt idx="8">
                  <c:v>Fonds Finanz</c:v>
                </c:pt>
                <c:pt idx="9">
                  <c:v>JDC / Jung DMS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57</c:v>
                </c:pt>
                <c:pt idx="1">
                  <c:v>70</c:v>
                </c:pt>
                <c:pt idx="2">
                  <c:v>75</c:v>
                </c:pt>
                <c:pt idx="3">
                  <c:v>75</c:v>
                </c:pt>
                <c:pt idx="4">
                  <c:v>77</c:v>
                </c:pt>
                <c:pt idx="5">
                  <c:v>114</c:v>
                </c:pt>
                <c:pt idx="6">
                  <c:v>204</c:v>
                </c:pt>
                <c:pt idx="7">
                  <c:v>255</c:v>
                </c:pt>
                <c:pt idx="8">
                  <c:v>612</c:v>
                </c:pt>
                <c:pt idx="9">
                  <c:v>1538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3333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33333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5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960120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800" b="1" i="0" u="none">
                <a:solidFill>
                  <a:srgbClr val="E30613"/>
                </a:solidFill>
                <a:latin typeface="Calibri"/>
              </a:rPr>
              <a:t>Nur jede 2. Mail im Posteingang ist eine echte BUe-Neuanlage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96012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Vom Mailsturm zur Vorgangs-Eroeffnung - 5.034 Mails / Woche zerfallen in 4 Bestandteile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0" y="365760"/>
            <a:ext cx="1371600" cy="914400"/>
          </a:xfrm>
          <a:prstGeom prst="rect">
            <a:avLst/>
          </a:prstGeom>
          <a:noFill/>
          <a:ln w="952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365760"/>
            <a:ext cx="1371600" cy="9144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00" b="0" i="1" u="none">
                <a:solidFill>
                  <a:srgbClr val="666666"/>
                </a:solidFill>
                <a:latin typeface="Calibri"/>
              </a:rPr>
              <a:t>[ERGO-Logo</a:t>
            </a:r>
          </a:p>
          <a:p>
            <a:pPr algn="ctr"/>
            <a:r>
              <a:rPr sz="800" b="0" i="1" u="none">
                <a:solidFill>
                  <a:srgbClr val="666666"/>
                </a:solidFill>
                <a:latin typeface="Calibri"/>
              </a:rPr>
              <a:t>aus Master</a:t>
            </a:r>
          </a:p>
          <a:p>
            <a:pPr algn="ctr"/>
            <a:r>
              <a:rPr sz="800" b="0" i="1" u="none">
                <a:solidFill>
                  <a:srgbClr val="666666"/>
                </a:solidFill>
                <a:latin typeface="Calibri"/>
              </a:rPr>
              <a:t>einfuegen]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691640" cy="41148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9164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IST-Prozess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2176272" y="1691640"/>
            <a:ext cx="1691640" cy="411480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76272" y="169164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0" i="0" u="none">
                <a:solidFill>
                  <a:srgbClr val="333333"/>
                </a:solidFill>
                <a:latin typeface="Calibri"/>
              </a:rPr>
              <a:t>Erkenntnisse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41064" y="1691640"/>
            <a:ext cx="1691640" cy="411480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41064" y="169164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0" i="0" u="none">
                <a:solidFill>
                  <a:srgbClr val="333333"/>
                </a:solidFill>
                <a:latin typeface="Calibri"/>
              </a:rPr>
              <a:t>Herausforderung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05856" y="1691640"/>
            <a:ext cx="1691640" cy="411480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856" y="169164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0" i="0" u="none">
                <a:solidFill>
                  <a:srgbClr val="333333"/>
                </a:solidFill>
                <a:latin typeface="Calibri"/>
              </a:rPr>
              <a:t>Loesung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-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31720"/>
            <a:ext cx="763524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7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468880"/>
            <a:ext cx="71780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006B77"/>
                </a:solidFill>
                <a:latin typeface="Calibri"/>
              </a:rPr>
              <a:t>Aufteilung der 5.034 eingehenden Mails / Woche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71800"/>
            <a:ext cx="7178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2971800"/>
            <a:ext cx="146304" cy="777240"/>
          </a:xfrm>
          <a:prstGeom prst="rect">
            <a:avLst/>
          </a:prstGeom>
          <a:solidFill>
            <a:srgbClr val="9AA3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26664"/>
            <a:ext cx="68122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1. Keine BUe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291840"/>
            <a:ext cx="388620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Falscher Kanal - Schaden/Antrag/Anfrage; gehoert nicht in dieses Postfach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538728"/>
            <a:ext cx="4069080" cy="164592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3538728"/>
            <a:ext cx="1148530" cy="164592"/>
          </a:xfrm>
          <a:prstGeom prst="rect">
            <a:avLst/>
          </a:prstGeom>
          <a:solidFill>
            <a:srgbClr val="9AA3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97880" y="3044952"/>
            <a:ext cx="182880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22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3429000"/>
            <a:ext cx="18288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0" i="0" u="none">
                <a:solidFill>
                  <a:srgbClr val="666666"/>
                </a:solidFill>
                <a:latin typeface="Calibri"/>
              </a:rPr>
              <a:t>= 14.0 %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840480"/>
            <a:ext cx="7178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3840480"/>
            <a:ext cx="146304" cy="777240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3895344"/>
            <a:ext cx="68122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2. BUe-Reminder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160520"/>
            <a:ext cx="388620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Sachstand zu einem Vorgang aus frueherer Woche - kein neuer Fall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4407408"/>
            <a:ext cx="4069080" cy="164592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4407408"/>
            <a:ext cx="533246" cy="164592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97880" y="3913632"/>
            <a:ext cx="182880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22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4297680"/>
            <a:ext cx="18288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0" i="0" u="none">
                <a:solidFill>
                  <a:srgbClr val="666666"/>
                </a:solidFill>
                <a:latin typeface="Calibri"/>
              </a:rPr>
              <a:t>= 6.5 %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709160"/>
            <a:ext cx="7178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4709160"/>
            <a:ext cx="146304" cy="777240"/>
          </a:xfrm>
          <a:prstGeom prst="rect">
            <a:avLst/>
          </a:prstGeom>
          <a:solidFill>
            <a:srgbClr val="DE6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764024"/>
            <a:ext cx="68122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3. Nachreichungen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029200"/>
            <a:ext cx="388620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Folge-Mails zu einem Vorgang, der in dieser Woche bereits eroeffnet wurde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5276088"/>
            <a:ext cx="4069080" cy="164592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5276088"/>
            <a:ext cx="2452933" cy="164592"/>
          </a:xfrm>
          <a:prstGeom prst="rect">
            <a:avLst/>
          </a:prstGeom>
          <a:solidFill>
            <a:srgbClr val="DE6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4782312"/>
            <a:ext cx="182880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2200" b="1" i="0" u="none">
                <a:solidFill>
                  <a:srgbClr val="333333"/>
                </a:solidFill>
                <a:latin typeface="Calibri"/>
              </a:rPr>
              <a:t>1.505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97880" y="5166360"/>
            <a:ext cx="18288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0" i="0" u="none">
                <a:solidFill>
                  <a:srgbClr val="666666"/>
                </a:solidFill>
                <a:latin typeface="Calibri"/>
              </a:rPr>
              <a:t>= 29.9 %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577840"/>
            <a:ext cx="7178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5577840"/>
            <a:ext cx="146304" cy="77724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5632704"/>
            <a:ext cx="68122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4. ECHTE NEUANLAGEN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897880"/>
            <a:ext cx="388620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Neue BUe-Vorgaenge / Woche  =  operative Eroeffnungs-Last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6144768"/>
            <a:ext cx="4069080" cy="164592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6144768"/>
            <a:ext cx="4069080" cy="164592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97880" y="5650992"/>
            <a:ext cx="182880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2200" b="1" i="0" u="none">
                <a:solidFill>
                  <a:srgbClr val="E30613"/>
                </a:solidFill>
                <a:latin typeface="Calibri"/>
              </a:rPr>
              <a:t>2.495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97880" y="6035040"/>
            <a:ext cx="18288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 u="none">
                <a:solidFill>
                  <a:srgbClr val="666666"/>
                </a:solidFill>
                <a:latin typeface="Calibri"/>
              </a:rPr>
              <a:t>= 49.6 %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83879" y="2331720"/>
            <a:ext cx="3611880" cy="40690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66759" y="2468880"/>
            <a:ext cx="32461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 i="0" u="sng">
                <a:solidFill>
                  <a:srgbClr val="006B77"/>
                </a:solidFill>
                <a:latin typeface="Calibri"/>
              </a:rPr>
              <a:t>Kernaussagen</a:t>
            </a:r>
          </a:p>
        </p:txBody>
      </p:sp>
      <p:sp>
        <p:nvSpPr>
          <p:cNvPr id="53" name="Oval 52"/>
          <p:cNvSpPr/>
          <p:nvPr/>
        </p:nvSpPr>
        <p:spPr>
          <a:xfrm>
            <a:off x="8366759" y="3017520"/>
            <a:ext cx="329184" cy="329184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66759" y="3017520"/>
            <a:ext cx="329184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3959" y="2971800"/>
            <a:ext cx="2834640" cy="667512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Falscher Kanal: </a:t>
            </a:r>
            <a:r>
              <a:rPr sz="1100" b="0">
                <a:solidFill>
                  <a:srgbClr val="333333"/>
                </a:solidFill>
                <a:latin typeface="Calibri"/>
              </a:rPr>
              <a:t>705 Mails / Woche (14 %) gehoeren nicht ins BUe-Postfach (Schaden, Antrag, Anfrage).</a:t>
            </a:r>
          </a:p>
        </p:txBody>
      </p:sp>
      <p:sp>
        <p:nvSpPr>
          <p:cNvPr id="56" name="Oval 55"/>
          <p:cNvSpPr/>
          <p:nvPr/>
        </p:nvSpPr>
        <p:spPr>
          <a:xfrm>
            <a:off x="8366759" y="3685032"/>
            <a:ext cx="329184" cy="329184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6759" y="3685032"/>
            <a:ext cx="329184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23959" y="3639312"/>
            <a:ext cx="2834640" cy="667512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Reminder: </a:t>
            </a:r>
            <a:r>
              <a:rPr sz="1100" b="0">
                <a:solidFill>
                  <a:srgbClr val="333333"/>
                </a:solidFill>
                <a:latin typeface="Calibri"/>
              </a:rPr>
              <a:t>329 Mails / Woche (6,5 %) sind Sachstands-Mails zu Vorgaengen aus frueheren Wochen.</a:t>
            </a:r>
          </a:p>
        </p:txBody>
      </p:sp>
      <p:sp>
        <p:nvSpPr>
          <p:cNvPr id="59" name="Oval 58"/>
          <p:cNvSpPr/>
          <p:nvPr/>
        </p:nvSpPr>
        <p:spPr>
          <a:xfrm>
            <a:off x="8366759" y="4352544"/>
            <a:ext cx="329184" cy="329184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66759" y="4352544"/>
            <a:ext cx="329184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23959" y="4306824"/>
            <a:ext cx="2834640" cy="667512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Nachreichungen: </a:t>
            </a:r>
            <a:r>
              <a:rPr sz="1100" b="0">
                <a:solidFill>
                  <a:srgbClr val="333333"/>
                </a:solidFill>
                <a:latin typeface="Calibri"/>
              </a:rPr>
              <a:t>1.505 Mails / Woche (30 %) gehoeren zu einem Vorgang, der bereits offen ist.</a:t>
            </a:r>
          </a:p>
        </p:txBody>
      </p:sp>
      <p:sp>
        <p:nvSpPr>
          <p:cNvPr id="62" name="Oval 61"/>
          <p:cNvSpPr/>
          <p:nvPr/>
        </p:nvSpPr>
        <p:spPr>
          <a:xfrm>
            <a:off x="8366759" y="5020056"/>
            <a:ext cx="329184" cy="329184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66759" y="5020056"/>
            <a:ext cx="329184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23959" y="4974336"/>
            <a:ext cx="2834640" cy="667512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Echte Neuanlagen: </a:t>
            </a:r>
            <a:r>
              <a:rPr sz="1100" b="0">
                <a:solidFill>
                  <a:srgbClr val="333333"/>
                </a:solidFill>
                <a:latin typeface="Calibri"/>
              </a:rPr>
              <a:t>2.495 BUe-Vorgaenge / Woche - das ist die operative Eroeffnungs-Last.</a:t>
            </a:r>
          </a:p>
        </p:txBody>
      </p:sp>
      <p:sp>
        <p:nvSpPr>
          <p:cNvPr id="65" name="Oval 64"/>
          <p:cNvSpPr/>
          <p:nvPr/>
        </p:nvSpPr>
        <p:spPr>
          <a:xfrm>
            <a:off x="8366759" y="5687568"/>
            <a:ext cx="329184" cy="329184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66759" y="5687568"/>
            <a:ext cx="329184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23959" y="5641848"/>
            <a:ext cx="2834640" cy="667512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Sparten-Mix Vorgang: </a:t>
            </a:r>
            <a:r>
              <a:rPr sz="1100" b="0">
                <a:solidFill>
                  <a:srgbClr val="333333"/>
                </a:solidFill>
                <a:latin typeface="Calibri"/>
              </a:rPr>
              <a:t>Komposit 41 % - KV 38 % - Leben 18 %. KV deutlich staerker als auf Mail-Ebene.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960120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800" b="1" i="0" u="none">
                <a:solidFill>
                  <a:srgbClr val="E30613"/>
                </a:solidFill>
                <a:latin typeface="Calibri"/>
              </a:rPr>
              <a:t>60 % aller Neuanlagen kommen von 3 Maklerpools - JDC steuert allein 38 %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96012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Top-10 Pools = 77 % des Mailvolumens  |  Cluster-Vorgaenge buendeln 100 % der Nachreichungen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0" y="365760"/>
            <a:ext cx="1371600" cy="914400"/>
          </a:xfrm>
          <a:prstGeom prst="rect">
            <a:avLst/>
          </a:prstGeom>
          <a:noFill/>
          <a:ln w="952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365760"/>
            <a:ext cx="1371600" cy="9144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00" b="0" i="1" u="none">
                <a:solidFill>
                  <a:srgbClr val="666666"/>
                </a:solidFill>
                <a:latin typeface="Calibri"/>
              </a:rPr>
              <a:t>[ERGO-Logo</a:t>
            </a:r>
          </a:p>
          <a:p>
            <a:pPr algn="ctr"/>
            <a:r>
              <a:rPr sz="800" b="0" i="1" u="none">
                <a:solidFill>
                  <a:srgbClr val="666666"/>
                </a:solidFill>
                <a:latin typeface="Calibri"/>
              </a:rPr>
              <a:t>aus Master</a:t>
            </a:r>
          </a:p>
          <a:p>
            <a:pPr algn="ctr"/>
            <a:r>
              <a:rPr sz="800" b="0" i="1" u="none">
                <a:solidFill>
                  <a:srgbClr val="666666"/>
                </a:solidFill>
                <a:latin typeface="Calibri"/>
              </a:rPr>
              <a:t>einfuegen]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691640" cy="41148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9164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IST-Prozess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2176272" y="1691640"/>
            <a:ext cx="1691640" cy="411480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76272" y="169164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0" i="0" u="none">
                <a:solidFill>
                  <a:srgbClr val="333333"/>
                </a:solidFill>
                <a:latin typeface="Calibri"/>
              </a:rPr>
              <a:t>Erkenntnisse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41064" y="1691640"/>
            <a:ext cx="1691640" cy="411480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41064" y="169164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0" i="0" u="none">
                <a:solidFill>
                  <a:srgbClr val="333333"/>
                </a:solidFill>
                <a:latin typeface="Calibri"/>
              </a:rPr>
              <a:t>Herausforderung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05856" y="1691640"/>
            <a:ext cx="1691640" cy="411480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856" y="169164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0" i="0" u="none">
                <a:solidFill>
                  <a:srgbClr val="333333"/>
                </a:solidFill>
                <a:latin typeface="Calibri"/>
              </a:rPr>
              <a:t>Loesung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-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31720"/>
            <a:ext cx="763524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7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468880"/>
            <a:ext cx="71780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006B77"/>
                </a:solidFill>
                <a:latin typeface="Calibri"/>
              </a:rPr>
              <a:t>Top-10 Maklerpools nach BUe-Anfrage-Mails pro Woche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40080" y="2926080"/>
          <a:ext cx="717804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Rectangle 19"/>
          <p:cNvSpPr/>
          <p:nvPr/>
        </p:nvSpPr>
        <p:spPr>
          <a:xfrm>
            <a:off x="640080" y="5760720"/>
            <a:ext cx="7178040" cy="50292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760720"/>
            <a:ext cx="690372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Cluster-Sicht: 1.862 Single-Mail-Vorgaenge (75 %) vs. 633 Multi-Mail-Cluster (25 %) - die 633 Cluster erzeugen alle 1.505 Nachreichungs-Mails (Ø 3,4 Mails / Cluster).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2331720"/>
            <a:ext cx="3611880" cy="40690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9" y="2468880"/>
            <a:ext cx="32461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 i="0" u="sng">
                <a:solidFill>
                  <a:srgbClr val="006B77"/>
                </a:solidFill>
                <a:latin typeface="Calibri"/>
              </a:rPr>
              <a:t>Kernaussagen</a:t>
            </a:r>
          </a:p>
        </p:txBody>
      </p:sp>
      <p:sp>
        <p:nvSpPr>
          <p:cNvPr id="24" name="Oval 23"/>
          <p:cNvSpPr/>
          <p:nvPr/>
        </p:nvSpPr>
        <p:spPr>
          <a:xfrm>
            <a:off x="8366759" y="3017520"/>
            <a:ext cx="329184" cy="329184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59" y="3017520"/>
            <a:ext cx="329184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2971800"/>
            <a:ext cx="2834640" cy="667512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Top-3-Pools: </a:t>
            </a:r>
            <a:r>
              <a:rPr sz="1100" b="0">
                <a:solidFill>
                  <a:srgbClr val="333333"/>
                </a:solidFill>
                <a:latin typeface="Calibri"/>
              </a:rPr>
              <a:t>JDC + Fonds Finanz + blau direkt = 60 % aller Neuanlagen / Woche.</a:t>
            </a:r>
          </a:p>
        </p:txBody>
      </p:sp>
      <p:sp>
        <p:nvSpPr>
          <p:cNvPr id="27" name="Oval 26"/>
          <p:cNvSpPr/>
          <p:nvPr/>
        </p:nvSpPr>
        <p:spPr>
          <a:xfrm>
            <a:off x="8366759" y="3685032"/>
            <a:ext cx="329184" cy="329184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9" y="3685032"/>
            <a:ext cx="329184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59" y="3639312"/>
            <a:ext cx="2834640" cy="667512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Top-10-Konzentration: </a:t>
            </a:r>
            <a:r>
              <a:rPr sz="1100" b="0">
                <a:solidFill>
                  <a:srgbClr val="333333"/>
                </a:solidFill>
                <a:latin typeface="Calibri"/>
              </a:rPr>
              <a:t>77 % des Mailvolumens entstehen ueber zehn Pools - lange Long-Tail-Verteilung dahinter.</a:t>
            </a:r>
          </a:p>
        </p:txBody>
      </p:sp>
      <p:sp>
        <p:nvSpPr>
          <p:cNvPr id="30" name="Oval 29"/>
          <p:cNvSpPr/>
          <p:nvPr/>
        </p:nvSpPr>
        <p:spPr>
          <a:xfrm>
            <a:off x="8366759" y="4352544"/>
            <a:ext cx="329184" cy="329184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59" y="4352544"/>
            <a:ext cx="329184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59" y="4306824"/>
            <a:ext cx="2834640" cy="667512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Cluster-Vorgaenge: </a:t>
            </a:r>
            <a:r>
              <a:rPr sz="1100" b="0">
                <a:solidFill>
                  <a:srgbClr val="333333"/>
                </a:solidFill>
                <a:latin typeface="Calibri"/>
              </a:rPr>
              <a:t>25 % der Vorgaenge (633 Cluster) erzeugen 100 % der 1.505 Nachreichungen.</a:t>
            </a:r>
          </a:p>
        </p:txBody>
      </p:sp>
      <p:sp>
        <p:nvSpPr>
          <p:cNvPr id="33" name="Oval 32"/>
          <p:cNvSpPr/>
          <p:nvPr/>
        </p:nvSpPr>
        <p:spPr>
          <a:xfrm>
            <a:off x="8366759" y="5020056"/>
            <a:ext cx="329184" cy="329184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59" y="5020056"/>
            <a:ext cx="329184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59" y="4974336"/>
            <a:ext cx="2834640" cy="667512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Securess-Auffaelligkeit: </a:t>
            </a:r>
            <a:r>
              <a:rPr sz="1100" b="0">
                <a:solidFill>
                  <a:srgbClr val="333333"/>
                </a:solidFill>
                <a:latin typeface="Calibri"/>
              </a:rPr>
              <a:t>16 Vorgaenge erzeugen Ø 4,4 Mails - hoechster Multi-Mail-Anteil im Top-10.</a:t>
            </a:r>
          </a:p>
        </p:txBody>
      </p:sp>
      <p:sp>
        <p:nvSpPr>
          <p:cNvPr id="36" name="Oval 35"/>
          <p:cNvSpPr/>
          <p:nvPr/>
        </p:nvSpPr>
        <p:spPr>
          <a:xfrm>
            <a:off x="8366759" y="5687568"/>
            <a:ext cx="329184" cy="329184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59" y="5687568"/>
            <a:ext cx="329184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5641848"/>
            <a:ext cx="2834640" cy="667512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Hebel: </a:t>
            </a:r>
            <a:r>
              <a:rPr sz="1100" b="0">
                <a:solidFill>
                  <a:srgbClr val="333333"/>
                </a:solidFill>
                <a:latin typeface="Calibri"/>
              </a:rPr>
              <a:t>Mail-Zuordnung zu offenem Vorgang spart bis zu 1.505 Vorgangs-Eroeffnungen / Woche.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