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13048"/>
            <a:ext cx="2103120" cy="9144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904488"/>
            <a:ext cx="2103120" cy="4114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800" b="1" i="0" u="none">
                <a:solidFill>
                  <a:srgbClr val="FFFFFF"/>
                </a:solidFill>
                <a:latin typeface="Calibri"/>
              </a:rPr>
              <a:t>5.034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343400"/>
            <a:ext cx="210312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 u="none">
                <a:solidFill>
                  <a:srgbClr val="FFFFFF"/>
                </a:solidFill>
                <a:latin typeface="Calibri"/>
              </a:rPr>
              <a:t>Mails / Woche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035808"/>
            <a:ext cx="5029200" cy="1188720"/>
          </a:xfrm>
          <a:prstGeom prst="rect">
            <a:avLst/>
          </a:prstGeom>
          <a:solidFill>
            <a:srgbClr val="FDE2C4"/>
          </a:solidFill>
          <a:ln w="1587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3090672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C86E10"/>
                </a:solidFill>
                <a:latin typeface="Calibri"/>
              </a:rPr>
              <a:t>1.034 Nicht-BÜ-Mails  (20,5 %)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3401568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davon 240 mit Maklervollmacht im Anhang (210 Reminder + 30 Keine BÜ)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675888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Regel 'MV im Anhang → BÜ' legt sie heute faelschlich als BÜ-Vorgang 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931920"/>
            <a:ext cx="4663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1: Routing / Vorqualifizierung  (Folie 11a)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4361688"/>
            <a:ext cx="5029200" cy="1188720"/>
          </a:xfrm>
          <a:prstGeom prst="rect">
            <a:avLst/>
          </a:prstGeom>
          <a:solidFill>
            <a:srgbClr val="CFE6E9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0" y="4434840"/>
            <a:ext cx="4663440" cy="3108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 u="none">
                <a:solidFill>
                  <a:srgbClr val="006B77"/>
                </a:solidFill>
                <a:latin typeface="Calibri"/>
              </a:rPr>
              <a:t>4.000 BÜ-Anfrage-Mails  (79,5 %)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773168"/>
            <a:ext cx="46634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buendeln sich zu nur 2.495 Vorgaengen  ·  619 Kunden mit mehreren Vertraegen beim selben Makler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257800"/>
            <a:ext cx="46634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9C060F"/>
                </a:solidFill>
                <a:latin typeface="Calibri"/>
              </a:rPr>
              <a:t>→  HEBEL 2: Clustering / Arbeitsvorrats-Steuerung  (Folie 11b)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514600" y="4041648"/>
            <a:ext cx="457200" cy="274320"/>
          </a:xfrm>
          <a:prstGeom prst="rightArrow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2514600" y="4498848"/>
            <a:ext cx="457200" cy="274320"/>
          </a:xfrm>
          <a:prstGeom prst="rightArrow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51" name="Oval 50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54" name="Oval 53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57" name="Oval 56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60" name="Oval 59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103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 (mit MV)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 (mit MV)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52044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Summe / 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52044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8620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88620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88620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25196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4251960"/>
            <a:ext cx="109728" cy="36576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25196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25196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25196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1772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617720"/>
            <a:ext cx="109728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61772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61772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61772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98348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8348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498348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98348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498348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349240"/>
            <a:ext cx="7635240" cy="347472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9496" y="5349240"/>
            <a:ext cx="1975104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1460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97880" y="5349240"/>
            <a:ext cx="12344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349240"/>
            <a:ext cx="9144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5733288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Mechanismus identisch in allen Sparten: MV im Anhang → BÜ-Vorgang. Reminder (210) dominieren klar.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572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109728" cy="4572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29900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9900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29900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19" y="29900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19" y="3081528"/>
            <a:ext cx="1325880" cy="2743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399" y="29900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4472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472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34472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4472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34472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19" y="34472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75119" y="35387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399" y="34472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904488"/>
            <a:ext cx="76352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39044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9044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9044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39044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19" y="39044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75119" y="39959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399" y="39044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361688"/>
            <a:ext cx="7635240" cy="45720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361688"/>
            <a:ext cx="109728" cy="45720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" y="4361688"/>
            <a:ext cx="1307592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4361688"/>
            <a:ext cx="1143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239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71800" y="4361688"/>
            <a:ext cx="1874519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26 Mails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19" y="4361688"/>
            <a:ext cx="178308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5119" y="4453128"/>
            <a:ext cx="1325880" cy="2743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29399" y="4361688"/>
            <a:ext cx="14173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95604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502920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34009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3" name="Oval 62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