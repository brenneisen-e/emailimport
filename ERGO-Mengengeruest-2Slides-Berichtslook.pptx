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Das Mengengeruest einer Woche zeigt zwei Hebel: jede 5. Mail ist keine BÜ (Routing)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die echten BÜ-Mails buendeln sich zu Vorgaengen (Clustering / Arbeitsvorrats-Steuerung)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11480" y="2240280"/>
            <a:ext cx="54864" cy="56692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120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Mails / Woche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4315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4315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5287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1 KW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5287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Vollerhebung 13.–20.04.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7482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74820" y="2240280"/>
            <a:ext cx="54864" cy="566928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454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94 %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454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ein Sammel-Postfach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06490" y="2240280"/>
            <a:ext cx="184023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06490" y="2240280"/>
            <a:ext cx="54864" cy="566928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16218" y="2258568"/>
            <a:ext cx="170307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333333"/>
                </a:solidFill>
                <a:latin typeface="Calibri"/>
              </a:rPr>
              <a:t>50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16218" y="2587752"/>
            <a:ext cx="1703070" cy="20116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KI-Datenfelder / 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008376"/>
            <a:ext cx="7635240" cy="329184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008376"/>
            <a:ext cx="260604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Status / Woche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17520" y="3008376"/>
            <a:ext cx="105156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6908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3008376"/>
            <a:ext cx="11430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Komposit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72200" y="3008376"/>
            <a:ext cx="91440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Leben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3008376"/>
            <a:ext cx="960120" cy="329184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Sonstige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337560"/>
            <a:ext cx="7635240" cy="278892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1208" y="333756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 Mails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333756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5.034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6908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1.308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0" y="333756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2.502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72200" y="333756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755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86600" y="333756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469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" y="3616452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361645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BÜ (falscher Kanal)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017520" y="361645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6908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0" y="361645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192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172200" y="361645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55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86600" y="361645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346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895344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3895344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389534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17520" y="389534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30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06908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0" y="389534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72200" y="389534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86600" y="389534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4174236"/>
            <a:ext cx="7635240" cy="2788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21208" y="4174236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BÜ-Reminder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017520" y="4174236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329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0" y="4174236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221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72200" y="4174236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38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86600" y="4174236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4453128"/>
            <a:ext cx="7635240" cy="278892"/>
          </a:xfrm>
          <a:prstGeom prst="rect">
            <a:avLst/>
          </a:prstGeom>
          <a:solidFill>
            <a:srgbClr val="FDE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411480" y="4453128"/>
            <a:ext cx="91440" cy="278892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21208" y="4453128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1" u="none">
                <a:solidFill>
                  <a:srgbClr val="C86E10"/>
                </a:solidFill>
                <a:latin typeface="Calibri"/>
              </a:rPr>
              <a:t>   davon mit MV im Anhang*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017520" y="4453128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06908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40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29200" y="4453128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135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72200" y="4453128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29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86600" y="4453128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1" u="none">
                <a:solidFill>
                  <a:srgbClr val="C86E10"/>
                </a:solidFill>
                <a:latin typeface="Calibri"/>
              </a:rPr>
              <a:t>6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1480" y="4732020"/>
            <a:ext cx="7635240" cy="278892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11480" y="4732020"/>
            <a:ext cx="91440" cy="278892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21208" y="4732020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006B77"/>
                </a:solidFill>
                <a:latin typeface="Calibri"/>
              </a:rPr>
              <a:t>Neue BÜ (echte BÜ-Anfragen)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017520" y="4732020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4.000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6908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1.147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029200" y="4732020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2.089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172200" y="4732020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662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086600" y="4732020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006B77"/>
                </a:solidFill>
                <a:latin typeface="Calibri"/>
              </a:rPr>
              <a:t>102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11480" y="5010912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21208" y="5010912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Top-5-Makler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017520" y="5010912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2.890 (57 %)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06908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886 (68 %)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29200" y="5010912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1.489 (60 %)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72200" y="5010912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505 (67 %)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86600" y="5010912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10 (2 %)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5289804"/>
            <a:ext cx="7635240" cy="278892"/>
          </a:xfrm>
          <a:prstGeom prst="rect">
            <a:avLst/>
          </a:prstGeom>
          <a:solidFill>
            <a:srgbClr val="F3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21208" y="5289804"/>
            <a:ext cx="2496312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Anteil in Cluster (weitere Mails Makler+Kunde)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017520" y="5289804"/>
            <a:ext cx="105156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1" i="1" u="none">
                <a:solidFill>
                  <a:srgbClr val="666666"/>
                </a:solidFill>
                <a:latin typeface="Calibri"/>
              </a:rPr>
              <a:t>2.370 (47 %)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399 (31 %)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029200" y="5289804"/>
            <a:ext cx="11430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1.573 (63 %)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72200" y="5289804"/>
            <a:ext cx="91440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357 (47 %)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86600" y="5289804"/>
            <a:ext cx="960120" cy="27889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900" b="0" i="1" u="none">
                <a:solidFill>
                  <a:srgbClr val="666666"/>
                </a:solidFill>
                <a:latin typeface="Calibri"/>
              </a:rPr>
              <a:t>41 (9 %)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11480" y="5577840"/>
            <a:ext cx="7635240" cy="23774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1" u="none">
                <a:solidFill>
                  <a:srgbClr val="666666"/>
                </a:solidFill>
                <a:latin typeface="Calibri"/>
              </a:rPr>
              <a:t>* MV im Anhang ohne neue BÜ = potentielles Falschrouting (240 / Wo → Hebel 1, 11a).  Cluster-Anteil &amp; Top-5-Makler → Hebel 2 (11b).  Sonstige = Sparte unklar / Spam (346 der Keine-BÜ ohne MV).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Mengengeruest 1 Woche: </a:t>
            </a:r>
            <a:r>
              <a:rPr sz="1100">
                <a:solidFill>
                  <a:srgbClr val="333333"/>
                </a:solidFill>
                <a:latin typeface="Calibri"/>
              </a:rPr>
              <a:t>5.034 Mails, Vollerhebung 13.–20.04.2026; 94 % ueber ein Sammel-Postfach. Hochrechnung ~260.000 / Jahr.</a:t>
            </a:r>
          </a:p>
        </p:txBody>
      </p:sp>
      <p:sp>
        <p:nvSpPr>
          <p:cNvPr id="104" name="Oval 103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Strukturierte Extraktion: </a:t>
            </a:r>
            <a:r>
              <a:rPr sz="1100">
                <a:solidFill>
                  <a:srgbClr val="333333"/>
                </a:solidFill>
                <a:latin typeface="Calibri"/>
              </a:rPr>
              <a:t>KI erstellt je Mail ein Beiblatt mit 50 Feldern – VNR, Sparte, Pool, Status, Vorgangs-Cluster immer gleich.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1: </a:t>
            </a:r>
            <a:r>
              <a:rPr sz="1100">
                <a:solidFill>
                  <a:srgbClr val="333333"/>
                </a:solidFill>
                <a:latin typeface="Calibri"/>
              </a:rPr>
              <a:t>1.034 Mails sind keine neue BÜ; 240 haengen eine MV an und werden durch die Regel 'MV → BÜ' falsch angelegt.</a:t>
            </a:r>
          </a:p>
        </p:txBody>
      </p:sp>
      <p:sp>
        <p:nvSpPr>
          <p:cNvPr id="110" name="Oval 109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Ableitung Hebel 2: </a:t>
            </a:r>
            <a:r>
              <a:rPr sz="1100">
                <a:solidFill>
                  <a:srgbClr val="333333"/>
                </a:solidFill>
                <a:latin typeface="Calibri"/>
              </a:rPr>
              <a:t>4.000 BÜ-Mails verteilen sich auf nur 2.495 Vorgaenge → Buendelung / Steuerung moeglich.</a:t>
            </a:r>
          </a:p>
        </p:txBody>
      </p:sp>
      <p:sp>
        <p:nvSpPr>
          <p:cNvPr id="113" name="Oval 112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Roter Faden: </a:t>
            </a:r>
            <a:r>
              <a:rPr sz="1100">
                <a:solidFill>
                  <a:srgbClr val="333333"/>
                </a:solidFill>
                <a:latin typeface="Calibri"/>
              </a:rPr>
              <a:t>Beide Hebel folgen direkt aus der KI-Strukturierung des Posteingangs – Details auf 11a / 11b.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Aus dem Status-Split folgen zwei Hebel: 240 Mails mit MV im Anhang werden faelschlich als BÜ angelegt → Routing (11a); 4.000 BÜ-Mails buendeln sich zu 2.495 Vorgaengen → Clustering &amp; Arbeitsvorrats-Steuerung (11b).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1: Die Routing-Regel 'Maklervollmacht im Anhang → BÜ' erzeugt Fehlrouting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240 Mails / Woche werden faelschlich als neuer BÜ-Vorgang in den Postkorb eingestellt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Nicht-BÜ-Mails MIT Maklervollmacht im Anhang – heute trotzdem als BÜ-Vorgang angelegt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777240"/>
          </a:xfrm>
          <a:prstGeom prst="rect">
            <a:avLst/>
          </a:prstGeom>
          <a:solidFill>
            <a:srgbClr val="FDE2C4"/>
          </a:solidFill>
          <a:ln w="12700">
            <a:solidFill>
              <a:srgbClr val="C86E1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2679192"/>
            <a:ext cx="726948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C86E10"/>
                </a:solidFill>
                <a:latin typeface="Calibri"/>
              </a:rPr>
              <a:t>Heutige Regel:  Maklervollmacht im Anhang  →  automatisch BÜ-Vorgang im Postkorb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3008376"/>
            <a:ext cx="7269480" cy="329184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Problem: Auch Reminder und fachfremde Mails haengen oft die MV erneut an – und werden so zu (Dubletten-)BÜ-Vorgaengen.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0440"/>
            <a:ext cx="7635240" cy="365760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520440"/>
            <a:ext cx="210312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1460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Reminder (mit MV)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52044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Keine BÜ (mit MV)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52044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Summe / Wo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0" y="352044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Anteil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8620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1480" y="388620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496" y="388620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1460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88620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97880" y="388620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155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388620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65 %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25196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11480" y="4251960"/>
            <a:ext cx="109728" cy="365760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" y="425196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425196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97880" y="425196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32320" y="425196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20 %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617720"/>
            <a:ext cx="763524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11480" y="4617720"/>
            <a:ext cx="109728" cy="365760"/>
          </a:xfrm>
          <a:prstGeom prst="rect">
            <a:avLst/>
          </a:prstGeom>
          <a:solidFill>
            <a:srgbClr val="C86E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" y="461772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51460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61772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97880" y="461772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31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32320" y="461772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13 %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4983480"/>
            <a:ext cx="7635240" cy="36576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11480" y="4983480"/>
            <a:ext cx="109728" cy="365760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9496" y="4983480"/>
            <a:ext cx="1975104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Mehrere/Unbekannt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51460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06240" y="4983480"/>
            <a:ext cx="16916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97880" y="4983480"/>
            <a:ext cx="123444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32320" y="4983480"/>
            <a:ext cx="914400" cy="36576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3 %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5349240"/>
            <a:ext cx="7635240" cy="347472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9496" y="5349240"/>
            <a:ext cx="1975104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Gesamt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51460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210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06240" y="5349240"/>
            <a:ext cx="16916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30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97880" y="5349240"/>
            <a:ext cx="123444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240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132320" y="5349240"/>
            <a:ext cx="914400" cy="347472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FFFFFF"/>
                </a:solidFill>
                <a:latin typeface="Calibri"/>
              </a:rPr>
              <a:t>100 %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11480" y="5733288"/>
            <a:ext cx="76352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1" u="none">
                <a:solidFill>
                  <a:srgbClr val="666666"/>
                </a:solidFill>
                <a:latin typeface="Calibri"/>
              </a:rPr>
              <a:t>Mechanismus identisch in allen Sparten: MV im Anhang → BÜ-Vorgang. Reminder (210) dominieren klar.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Bekanntes Fehlrouting: </a:t>
            </a:r>
            <a:r>
              <a:rPr sz="1100">
                <a:solidFill>
                  <a:srgbClr val="333333"/>
                </a:solidFill>
                <a:latin typeface="Calibri"/>
              </a:rPr>
              <a:t>Die Regel 'MV im Anhang → BÜ' stellt 240 Mails / Woche faelschlich als BÜ-Vorgang ein.</a:t>
            </a:r>
          </a:p>
        </p:txBody>
      </p:sp>
      <p:sp>
        <p:nvSpPr>
          <p:cNvPr id="66" name="Oval 65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Vor allem Reminder: </a:t>
            </a:r>
            <a:r>
              <a:rPr sz="1100">
                <a:solidFill>
                  <a:srgbClr val="333333"/>
                </a:solidFill>
                <a:latin typeface="Calibri"/>
              </a:rPr>
              <a:t>210 der 240 sind Reminder, die die MV erneut anhaengen – sie erzeugen Dubletten-Vorgaenge.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KI loest das: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Extraktion liest den Status (Reminder / Keine BÜ) trotz MV – und verhindert die Anlage.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Ehrliche Einordnung: </a:t>
            </a:r>
            <a:r>
              <a:rPr sz="1100">
                <a:solidFill>
                  <a:srgbClr val="333333"/>
                </a:solidFill>
                <a:latin typeface="Calibri"/>
              </a:rPr>
              <a:t>Nur dieser MV-Mechanismus ist nachgewiesen – die uebrigen Nicht-BÜ-Mails sind nicht pauschal Fehlrouting.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Naechster Schritt: </a:t>
            </a:r>
            <a:r>
              <a:rPr sz="1100">
                <a:solidFill>
                  <a:srgbClr val="333333"/>
                </a:solidFill>
                <a:latin typeface="Calibri"/>
              </a:rPr>
              <a:t>Routing-Logik um KI-Status ergaenzen: MV vorhanden UND Status=Neue BÜ → erst dann BÜ-Vorgang.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Nachgewiesener Routing-Hebel: 240 Mails / Woche mit MV im Anhang werden heute faelschlich als BÜ-Vorgang angelegt (210 davon Reminder). KI liest den Status trotz MV und verhindert die Fehl-/Dublettenanlage.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MENGENGERÜSTE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Hebel 2: Cluster-Erkennung ermoeglicht Arbeitsvorrats-Steuerung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schliesst die KV-Vorgangsluecke: heute ist dort jede Eingangsmail ein eigener Vorgang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MENGENGERÜSTE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11b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0280"/>
            <a:ext cx="76352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1" u="none">
                <a:solidFill>
                  <a:srgbClr val="666666"/>
                </a:solidFill>
                <a:latin typeface="Calibri"/>
              </a:rPr>
              <a:t>Vorgangs-Buendelung heute je Sparte – wo die Cluster-Sicht im Postkorb fehlt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60604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Sparte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606040"/>
            <a:ext cx="11430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BÜ-Mails/Wo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2606040"/>
            <a:ext cx="1874519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in Mehrfach-Vorgang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19" y="2606040"/>
            <a:ext cx="1783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VNR-Mapping Postkorb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399" y="2606040"/>
            <a:ext cx="141732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Cluster-Hebel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990088"/>
            <a:ext cx="7635240" cy="402336"/>
          </a:xfrm>
          <a:prstGeom prst="rect">
            <a:avLst/>
          </a:prstGeom>
          <a:solidFill>
            <a:srgbClr val="E9EF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1208" y="2990088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Gesamt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28800" y="2990088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4.000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71800" y="2990088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2.008 Mails (50 %)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19" y="2990088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teils gemappt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399" y="2990088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333333"/>
                </a:solidFill>
                <a:latin typeface="Calibri"/>
              </a:rPr>
              <a:t>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392424"/>
            <a:ext cx="7635240" cy="402336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11480" y="3392424"/>
            <a:ext cx="109728" cy="402336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1208" y="3392424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9C060F"/>
                </a:solidFill>
                <a:latin typeface="Calibri"/>
              </a:rPr>
              <a:t>KV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3392424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1.147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71800" y="3392424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317 Mails (28 %)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46319" y="3392424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1" i="0" u="none">
                <a:solidFill>
                  <a:srgbClr val="9C060F"/>
                </a:solidFill>
                <a:latin typeface="Calibri"/>
              </a:rPr>
              <a:t>FEHLT heute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19" y="3465576"/>
            <a:ext cx="1325880" cy="256032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29399" y="3392424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GROSS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3794760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1480" y="3794760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21208" y="3794760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Komposit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3794760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2.089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3794760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1.362 Mails (65 %)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19" y="3794760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bereits gemappt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75119" y="3867912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3794760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1480" y="4197096"/>
            <a:ext cx="7635240" cy="402336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11480" y="4197096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21208" y="4197096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Leben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828800" y="4197096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662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971800" y="4197096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314 Mails (47 %)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846319" y="4197096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weitgehend gemappt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75119" y="4270248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29399" y="4197096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gering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4599432"/>
            <a:ext cx="7635240" cy="4023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1480" y="4599432"/>
            <a:ext cx="109728" cy="402336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21208" y="4599432"/>
            <a:ext cx="1307592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Mehr/Unbek.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828800" y="4599432"/>
            <a:ext cx="114300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71800" y="4599432"/>
            <a:ext cx="1874519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15 Mails (15 %)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46319" y="4599432"/>
            <a:ext cx="178308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100" b="0" i="0" u="none">
                <a:solidFill>
                  <a:srgbClr val="333333"/>
                </a:solidFill>
                <a:latin typeface="Calibri"/>
              </a:rPr>
              <a:t>uneinheitlich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75119" y="4672584"/>
            <a:ext cx="1325880" cy="256032"/>
          </a:xfrm>
          <a:prstGeom prst="rect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29399" y="4599432"/>
            <a:ext cx="1417320" cy="402336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000" b="1" i="0" u="none">
                <a:solidFill>
                  <a:srgbClr val="FFFFFF"/>
                </a:solidFill>
                <a:latin typeface="Calibri"/>
              </a:rPr>
              <a:t>klein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138928"/>
            <a:ext cx="7635240" cy="91440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" y="5212080"/>
            <a:ext cx="726948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6B77"/>
                </a:solidFill>
                <a:latin typeface="Calibri"/>
              </a:rPr>
              <a:t>Von 'Postkorb blind abarbeiten' zu aktiver Arbeitsvorrats-Steuerung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4360" y="5522976"/>
            <a:ext cx="726948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Heute: Sachbearbeiter nehmen Vorgaenge unsortiert aus dem Postkorb.   Kuenftig mit strukturierten Daten: Prio-Faelle (Alter, Vollmacht-Status) und Prio-Makler (z. B. JDC, Fonds Finanz) gezielt filtern und Cluster gebuendelt abarbeiten.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8366760" y="2450592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2450592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2404872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KV-Vorgangsluecke: </a:t>
            </a:r>
            <a:r>
              <a:rPr sz="1100">
                <a:solidFill>
                  <a:srgbClr val="333333"/>
                </a:solidFill>
                <a:latin typeface="Calibri"/>
              </a:rPr>
              <a:t>Im KV-Postkorb ist heute jede Eingangsmail ein eigener Vorgang – Zusammenhaenge fehlen.</a:t>
            </a:r>
          </a:p>
        </p:txBody>
      </p:sp>
      <p:sp>
        <p:nvSpPr>
          <p:cNvPr id="69" name="Oval 68"/>
          <p:cNvSpPr/>
          <p:nvPr/>
        </p:nvSpPr>
        <p:spPr>
          <a:xfrm>
            <a:off x="8366760" y="3107131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66760" y="3107131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869680" y="3061411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Komposit gemappt: </a:t>
            </a:r>
            <a:r>
              <a:rPr sz="1100">
                <a:solidFill>
                  <a:srgbClr val="333333"/>
                </a:solidFill>
                <a:latin typeface="Calibri"/>
              </a:rPr>
              <a:t>Bei Komposit (und weitgehend Leben) werden Vorgaenge zur VNR bereits gebuendelt.</a:t>
            </a:r>
          </a:p>
        </p:txBody>
      </p:sp>
      <p:sp>
        <p:nvSpPr>
          <p:cNvPr id="72" name="Oval 71"/>
          <p:cNvSpPr/>
          <p:nvPr/>
        </p:nvSpPr>
        <p:spPr>
          <a:xfrm>
            <a:off x="8366760" y="3763670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66760" y="3763670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869680" y="3717950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Mehrfach-Vorgaenge sind WERTVOLL: </a:t>
            </a:r>
            <a:r>
              <a:rPr sz="1100">
                <a:solidFill>
                  <a:srgbClr val="333333"/>
                </a:solidFill>
                <a:latin typeface="Calibri"/>
              </a:rPr>
              <a:t>619 Kunden / Woche mit mehreren Vertraegen beim selben Makler – erkennen statt doppelt anlegen.</a:t>
            </a:r>
          </a:p>
        </p:txBody>
      </p:sp>
      <p:sp>
        <p:nvSpPr>
          <p:cNvPr id="75" name="Oval 74"/>
          <p:cNvSpPr/>
          <p:nvPr/>
        </p:nvSpPr>
        <p:spPr>
          <a:xfrm>
            <a:off x="8366760" y="4420209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66760" y="4420209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869680" y="4374489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Arbeitsvorrats-Steuerung: </a:t>
            </a:r>
            <a:r>
              <a:rPr sz="1100">
                <a:solidFill>
                  <a:srgbClr val="333333"/>
                </a:solidFill>
                <a:latin typeface="Calibri"/>
              </a:rPr>
              <a:t>Strukturierte Daten erlauben Filter nach Prio-Fall und Prio-Makler statt blindes Abarbeiten.</a:t>
            </a:r>
          </a:p>
        </p:txBody>
      </p:sp>
      <p:sp>
        <p:nvSpPr>
          <p:cNvPr id="78" name="Oval 77"/>
          <p:cNvSpPr/>
          <p:nvPr/>
        </p:nvSpPr>
        <p:spPr>
          <a:xfrm>
            <a:off x="8366760" y="5076748"/>
            <a:ext cx="384048" cy="384048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366760" y="50767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869680" y="5031028"/>
            <a:ext cx="2834640" cy="656539"/>
          </a:xfrm>
          <a:prstGeom prst="rect">
            <a:avLst/>
          </a:prstGeom>
          <a:noFill/>
        </p:spPr>
        <p:txBody>
          <a:bodyPr wrap="square" lIns="36000" rIns="36000" tIns="0" bIns="0">
            <a:spAutoFit/>
          </a:bodyPr>
          <a:lstStyle/>
          <a:p>
            <a:pPr algn="l"/>
            <a:r>
              <a:rPr sz="1100" b="1">
                <a:solidFill>
                  <a:srgbClr val="333333"/>
                </a:solidFill>
                <a:latin typeface="Calibri"/>
              </a:rPr>
              <a:t>Echte Folge-Mails: </a:t>
            </a:r>
            <a:r>
              <a:rPr sz="1100">
                <a:solidFill>
                  <a:srgbClr val="333333"/>
                </a:solidFill>
                <a:latin typeface="Calibri"/>
              </a:rPr>
              <a:t>104 Nachreichungen / Woche zur selben VNR – Auto-Zuordnung zum offenen Vorgang.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Groesster Cluster-Hebel ist KV: dort fehlt heute die Vorgangs-Buendelung (jede Mail = ein Vorgang). Strukturierte Daten ermoeglichen Arbeitsvorrats-Steuerung nach Prio-Fall und Prio-Makler.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HERAUSFORDERUNG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Ohne strukturierte Datenbasis laesst sich der Posteingang weder korrekt routen noch steuern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die Folgen treffen vor allem KV, wo heute jede Vorgangs-Sicht fehlt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HERAUSFORDERUNG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7635240" cy="384048"/>
          </a:xfrm>
          <a:prstGeom prst="rect">
            <a:avLst/>
          </a:prstGeom>
          <a:solidFill>
            <a:srgbClr val="006B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331720"/>
            <a:ext cx="292608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Beobachtung (IST)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331720"/>
            <a:ext cx="470916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FFFFFF"/>
                </a:solidFill>
                <a:latin typeface="Calibri"/>
              </a:rPr>
              <a:t>Wirkung heute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715768"/>
            <a:ext cx="76352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715768"/>
            <a:ext cx="27889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Regel 'MV im Anhang → BÜ'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29000" y="2715768"/>
            <a:ext cx="457200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240 Fehl-/Dublettenanlagen pro Woche; manueller Such- und Korrekturaufwand im Postkorb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584448"/>
            <a:ext cx="7635240" cy="868680"/>
          </a:xfrm>
          <a:prstGeom prst="rect">
            <a:avLst/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584448"/>
            <a:ext cx="27889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Keine Vorgangs-/Cluster-Sicht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3584448"/>
            <a:ext cx="457200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2.370 zusammengehoerige Mails werden einzeln angefasst; in KV ist jede Mail ein eigener Vorgang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4453128"/>
            <a:ext cx="763524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453128"/>
            <a:ext cx="278892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1" i="0" u="none">
                <a:solidFill>
                  <a:srgbClr val="333333"/>
                </a:solidFill>
                <a:latin typeface="Calibri"/>
              </a:rPr>
              <a:t>Keine einheitlichen Datenfelder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4453128"/>
            <a:ext cx="4572000" cy="868680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keine Filter nach Prio-Fall / Prio-Makler; kein Fundament fuer eine automatisierte Pruefung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394192" y="244144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94192" y="24414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E30613"/>
                </a:solidFill>
                <a:latin typeface="Calibri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7968" y="240487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Routing-Herausforderung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7968" y="269748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Das Eingangsmanagement kann Reminder und fachfremde Mails nicht von echten Neuanlagen unterscheiden, solange nur die MV im Anhang als Ausloeser dient → 240 Fehlanlagen / Woche, Dubletten und Korrekturaufwand.</a:t>
            </a:r>
          </a:p>
        </p:txBody>
      </p:sp>
      <p:sp>
        <p:nvSpPr>
          <p:cNvPr id="34" name="Oval 33"/>
          <p:cNvSpPr/>
          <p:nvPr/>
        </p:nvSpPr>
        <p:spPr>
          <a:xfrm>
            <a:off x="8394192" y="411022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94192" y="411022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968" y="407365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Steuerungs-Herausforderung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436626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Sachbearbeiter arbeiten den Postkorb unsortiert ab. Zusammengehoerige Mails (47 %) werden mehrfach einzeln angefasst, in KV ist jede Mail ein eigener Vorgang — Priorisierung nach Fall-Alter oder Makler ist nicht moeglich.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Kern-Herausforderung: Ohne strukturierte Daten bleibt der Posteingang nicht routbar und nicht steuerbar — Fehl-Routing (240/Wo) und unverbundene Einzelbearbeitung (47 %) sind die direkten Folgen.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entagon 1"/>
          <p:cNvSpPr/>
          <p:nvPr/>
        </p:nvSpPr>
        <p:spPr>
          <a:xfrm>
            <a:off x="5120640" y="137160"/>
            <a:ext cx="530352" cy="292608"/>
          </a:xfrm>
          <a:prstGeom prst="homePlate">
            <a:avLst/>
          </a:prstGeom>
          <a:solidFill>
            <a:srgbClr val="8888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entagon 2"/>
          <p:cNvSpPr/>
          <p:nvPr/>
        </p:nvSpPr>
        <p:spPr>
          <a:xfrm>
            <a:off x="5687568" y="137160"/>
            <a:ext cx="530352" cy="292608"/>
          </a:xfrm>
          <a:prstGeom prst="homePlat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Pentagon 3"/>
          <p:cNvSpPr/>
          <p:nvPr/>
        </p:nvSpPr>
        <p:spPr>
          <a:xfrm>
            <a:off x="6254496" y="137160"/>
            <a:ext cx="530352" cy="292608"/>
          </a:xfrm>
          <a:prstGeom prst="homePlate">
            <a:avLst/>
          </a:prstGeom>
          <a:solidFill>
            <a:srgbClr val="CC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entagon 4"/>
          <p:cNvSpPr/>
          <p:nvPr/>
        </p:nvSpPr>
        <p:spPr>
          <a:xfrm>
            <a:off x="6821424" y="137160"/>
            <a:ext cx="530352" cy="292608"/>
          </a:xfrm>
          <a:prstGeom prst="homePlate">
            <a:avLst/>
          </a:prstGeom>
          <a:solidFill>
            <a:srgbClr val="6FC0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7388352" y="137160"/>
            <a:ext cx="530352" cy="292608"/>
          </a:xfrm>
          <a:prstGeom prst="homePlate">
            <a:avLst/>
          </a:prstGeom>
          <a:solidFill>
            <a:srgbClr val="E8C4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61320" y="182880"/>
            <a:ext cx="146304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3200" b="1" i="0" u="none">
                <a:solidFill>
                  <a:srgbClr val="E30613"/>
                </a:solidFill>
                <a:latin typeface="Calibri"/>
              </a:rPr>
              <a:t>ERGO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731520"/>
            <a:ext cx="146304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0" u="none">
                <a:solidFill>
                  <a:srgbClr val="333333"/>
                </a:solidFill>
                <a:latin typeface="Calibri"/>
              </a:rPr>
              <a:t>A Munich Re company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28600"/>
            <a:ext cx="640080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0" i="0" u="none">
                <a:solidFill>
                  <a:srgbClr val="333333"/>
                </a:solidFill>
                <a:latin typeface="Calibri"/>
              </a:rPr>
              <a:t>STRUKTURIERUNG  |  LÖSUNG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94360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KI-Vorqualifizierung erstellt je Mail ein strukturiertes Beiblatt — loest Routing und Steuerung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078992"/>
            <a:ext cx="10058400" cy="5029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2000" b="1" i="0" u="none">
                <a:solidFill>
                  <a:srgbClr val="E30613"/>
                </a:solidFill>
                <a:latin typeface="Calibri"/>
              </a:rPr>
              <a:t>und ist zugleich die Grundvoraussetzung fuer die automatisierte BÜ-Pruefung (Bot)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20240"/>
            <a:ext cx="73152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LÖSUNG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1920240"/>
            <a:ext cx="3657600" cy="32004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KERNAUSSAGEN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6446520"/>
            <a:ext cx="11338560" cy="9525"/>
          </a:xfrm>
          <a:prstGeom prst="rect">
            <a:avLst/>
          </a:prstGeom>
          <a:solidFill>
            <a:srgbClr val="CCC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10528"/>
            <a:ext cx="100584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900" b="0" i="0" u="none">
                <a:solidFill>
                  <a:srgbClr val="666666"/>
                </a:solidFill>
                <a:latin typeface="Calibri"/>
              </a:rPr>
              <a:t>ERGO | Makler BUe meets KI – Zwischenbericht Phase 1 - 10.06.2026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38560" y="6510528"/>
            <a:ext cx="457200" cy="27432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r"/>
            <a:r>
              <a:rPr sz="900" b="0" i="0" u="none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31720"/>
            <a:ext cx="7635240" cy="960120"/>
          </a:xfrm>
          <a:prstGeom prst="rect">
            <a:avLst/>
          </a:prstGeom>
          <a:solidFill>
            <a:srgbClr val="CFE6E9"/>
          </a:solidFill>
          <a:ln w="12700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2423160"/>
            <a:ext cx="7269480" cy="31089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006B77"/>
                </a:solidFill>
                <a:latin typeface="Calibri"/>
              </a:rPr>
              <a:t>Wirkkette: jede Eingangsmail → KI-Strukturierung → einheitliches Beiblatt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2770632"/>
            <a:ext cx="7269480" cy="45720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50 Felder immer an gleicher Stelle: Status · MV-Kontext · Makler · Kunde · Versicherungsnummer · Vorgangs-Cluster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474720"/>
            <a:ext cx="242316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" y="3474720"/>
            <a:ext cx="2423160" cy="54864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" y="3602736"/>
            <a:ext cx="2203704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E30613"/>
                </a:solidFill>
                <a:latin typeface="Calibri"/>
              </a:rPr>
              <a:t>1  Korrektes Routing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" y="4005072"/>
            <a:ext cx="2203704" cy="117957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Status (Reminder / Keine BÜ) wird trotz MV erkannt → Mail landet im richtigen Postfach. 240 Fehlanlagen / Woche entfallen.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474720"/>
            <a:ext cx="242316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17520" y="3474720"/>
            <a:ext cx="2423160" cy="54864"/>
          </a:xfrm>
          <a:prstGeom prst="rect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3602736"/>
            <a:ext cx="2203704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008793"/>
                </a:solidFill>
                <a:latin typeface="Calibri"/>
              </a:rPr>
              <a:t>2  Vorgangs-Steuerung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7248" y="4005072"/>
            <a:ext cx="2203704" cy="117957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Makler + Kunde + VNR buendeln Mails automatisch zu Vorgaengen → gebuendeltes Abarbeiten, Filter nach Prio-Fall und Prio-Makler.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23560" y="3474720"/>
            <a:ext cx="242316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23560" y="3474720"/>
            <a:ext cx="2423160" cy="54864"/>
          </a:xfrm>
          <a:prstGeom prst="rect">
            <a:avLst/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33288" y="3602736"/>
            <a:ext cx="2203704" cy="36576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200" b="1" i="0" u="none">
                <a:solidFill>
                  <a:srgbClr val="333333"/>
                </a:solidFill>
                <a:latin typeface="Calibri"/>
              </a:rPr>
              <a:t>3  Automatisierte Pruefung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33288" y="4005072"/>
            <a:ext cx="2203704" cy="1179576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000" b="0" i="0" u="none">
                <a:solidFill>
                  <a:srgbClr val="333333"/>
                </a:solidFill>
                <a:latin typeface="Calibri"/>
              </a:rPr>
              <a:t>Der Bot liest die standardisierten Felder (VNR, MV-Status, Unterschriften) → Voraussetzung fuer Dunkelverarbeitung.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2240280"/>
            <a:ext cx="3611880" cy="3611880"/>
          </a:xfrm>
          <a:prstGeom prst="rect">
            <a:avLst/>
          </a:prstGeom>
          <a:solidFill>
            <a:srgbClr val="CFE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394192" y="244144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E3061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94192" y="244144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E30613"/>
                </a:solidFill>
                <a:latin typeface="Calibri"/>
              </a:rPr>
              <a:t>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87968" y="240487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Loesung Routing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87968" y="269748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Die Strukturierung liest den tatsaechlichen Status unabhaengig von der MV → Mails werden korrekt zugestellt, 240 Fehlanlagen / Woche entfallen, keine Dubletten.</a:t>
            </a:r>
          </a:p>
        </p:txBody>
      </p:sp>
      <p:sp>
        <p:nvSpPr>
          <p:cNvPr id="37" name="Oval 36"/>
          <p:cNvSpPr/>
          <p:nvPr/>
        </p:nvSpPr>
        <p:spPr>
          <a:xfrm>
            <a:off x="8394192" y="4110228"/>
            <a:ext cx="384048" cy="384048"/>
          </a:xfrm>
          <a:prstGeom prst="ellipse">
            <a:avLst/>
          </a:prstGeom>
          <a:solidFill>
            <a:srgbClr val="FFFFFF"/>
          </a:solidFill>
          <a:ln w="22225">
            <a:solidFill>
              <a:srgbClr val="0087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94192" y="4110228"/>
            <a:ext cx="384048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ctr"/>
            <a:r>
              <a:rPr sz="1500" b="1" i="0" u="none">
                <a:solidFill>
                  <a:srgbClr val="008793"/>
                </a:solidFill>
                <a:latin typeface="Calibri"/>
              </a:rPr>
              <a:t>B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87968" y="4073652"/>
            <a:ext cx="2834640" cy="292608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300" b="1" i="0" u="none">
                <a:solidFill>
                  <a:srgbClr val="333333"/>
                </a:solidFill>
                <a:latin typeface="Calibri"/>
              </a:rPr>
              <a:t>Loesung Steuerung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87968" y="4366260"/>
            <a:ext cx="2788920" cy="1376172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1100" b="0" i="0" u="none">
                <a:solidFill>
                  <a:srgbClr val="333333"/>
                </a:solidFill>
                <a:latin typeface="Calibri"/>
              </a:rPr>
              <a:t>Einheitliche Felder (Makler + Kunde + VNR) fuehren Mails automatisch zu Vorgaengen zusammen → Arbeitsvorrats-Steuerung nach Prio-Fall und Prio-Makler (Top-5 = 57 % des Volumens).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760720"/>
            <a:ext cx="11338560" cy="182880"/>
          </a:xfrm>
          <a:prstGeom prst="rect">
            <a:avLst/>
          </a:prstGeom>
          <a:noFill/>
        </p:spPr>
        <p:txBody>
          <a:bodyPr wrap="square" lIns="36000" rIns="36000" tIns="18000" bIns="18000" anchor="t">
            <a:spAutoFit/>
          </a:bodyPr>
          <a:lstStyle/>
          <a:p>
            <a:pPr algn="l"/>
            <a:r>
              <a:rPr sz="800" b="0" i="1" u="none">
                <a:solidFill>
                  <a:srgbClr val="666666"/>
                </a:solidFill>
                <a:latin typeface="Calibri"/>
              </a:rPr>
              <a:t>Datenbasis: 5.034 Mails  |  Mo 13.04. – Mo 20.04.2026 (eine Kalenderwoche)  |  Eingangs-Postfaecher: 'Service Team Maklerauftraege' (94 %), 'Bestandsuebertragungen' (5 %), 12 weitere &lt;1 %  |  Analyse-Stand: 27.05.2026 (KI-Auswertung mit Claude Opus 4.7, 99 von 5.034 Mails mit Analyse-Fehler/Timeout)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989320"/>
            <a:ext cx="11338560" cy="384048"/>
          </a:xfrm>
          <a:prstGeom prst="rect">
            <a:avLst/>
          </a:prstGeom>
          <a:solidFill>
            <a:srgbClr val="E306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" y="5989320"/>
            <a:ext cx="10972800" cy="384048"/>
          </a:xfrm>
          <a:prstGeom prst="rect">
            <a:avLst/>
          </a:prstGeom>
          <a:noFill/>
        </p:spPr>
        <p:txBody>
          <a:bodyPr wrap="square" lIns="36000" rIns="36000" tIns="18000" bIns="18000" anchor="ctr">
            <a:spAutoFit/>
          </a:bodyPr>
          <a:lstStyle/>
          <a:p>
            <a:pPr algn="l"/>
            <a:r>
              <a:rPr sz="1200" b="1" i="0" u="none">
                <a:solidFill>
                  <a:srgbClr val="FFFFFF"/>
                </a:solidFill>
                <a:latin typeface="Calibri"/>
              </a:rPr>
              <a:t>TAKE-AWAY:  Das standardisierte KI-Beiblatt loest Routing und Steuerung sofort — und ist zugleich die Pflicht-Basis fuer die automatisierte BÜ-Pruefung: der Bot kann nur pruefen, was strukturiert vorliegt.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