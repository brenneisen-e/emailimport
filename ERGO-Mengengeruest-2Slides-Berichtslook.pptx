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>
            <a:off x="5120640" y="137160"/>
            <a:ext cx="530352" cy="292608"/>
          </a:xfrm>
          <a:prstGeom prst="homePlate">
            <a:avLst/>
          </a:prstGeom>
          <a:solidFill>
            <a:srgbClr val="8888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Pentagon 2"/>
          <p:cNvSpPr/>
          <p:nvPr/>
        </p:nvSpPr>
        <p:spPr>
          <a:xfrm>
            <a:off x="5687568" y="137160"/>
            <a:ext cx="530352" cy="292608"/>
          </a:xfrm>
          <a:prstGeom prst="homePlate">
            <a:avLst/>
          </a:prstGeom>
          <a:solidFill>
            <a:srgbClr val="0087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Pentagon 3"/>
          <p:cNvSpPr/>
          <p:nvPr/>
        </p:nvSpPr>
        <p:spPr>
          <a:xfrm>
            <a:off x="6254496" y="137160"/>
            <a:ext cx="530352" cy="292608"/>
          </a:xfrm>
          <a:prstGeom prst="homePlate">
            <a:avLst/>
          </a:prstGeom>
          <a:solidFill>
            <a:srgbClr val="CC4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Pentagon 4"/>
          <p:cNvSpPr/>
          <p:nvPr/>
        </p:nvSpPr>
        <p:spPr>
          <a:xfrm>
            <a:off x="6821424" y="137160"/>
            <a:ext cx="530352" cy="292608"/>
          </a:xfrm>
          <a:prstGeom prst="homePlate">
            <a:avLst/>
          </a:prstGeom>
          <a:solidFill>
            <a:srgbClr val="6FC0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Pentagon 5"/>
          <p:cNvSpPr/>
          <p:nvPr/>
        </p:nvSpPr>
        <p:spPr>
          <a:xfrm>
            <a:off x="7388352" y="137160"/>
            <a:ext cx="530352" cy="292608"/>
          </a:xfrm>
          <a:prstGeom prst="homePlate">
            <a:avLst/>
          </a:prstGeom>
          <a:solidFill>
            <a:srgbClr val="E8C4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61320" y="182880"/>
            <a:ext cx="1463040" cy="5029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3200" b="1" i="0" u="none">
                <a:solidFill>
                  <a:srgbClr val="E30613"/>
                </a:solidFill>
                <a:latin typeface="Calibri"/>
              </a:rPr>
              <a:t>ERGO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731520"/>
            <a:ext cx="146304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800" b="0" i="0" u="none">
                <a:solidFill>
                  <a:srgbClr val="333333"/>
                </a:solidFill>
                <a:latin typeface="Calibri"/>
              </a:rPr>
              <a:t>A Munich Re company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228600"/>
            <a:ext cx="6400800" cy="29260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200" b="0" i="0" u="none">
                <a:solidFill>
                  <a:srgbClr val="333333"/>
                </a:solidFill>
                <a:latin typeface="Calibri"/>
              </a:rPr>
              <a:t>STRUKTURIERUNG  |  IST-PROZESS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594360"/>
            <a:ext cx="10058400" cy="5029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2000" b="1" i="0" u="none">
                <a:solidFill>
                  <a:srgbClr val="E30613"/>
                </a:solidFill>
                <a:latin typeface="Calibri"/>
              </a:rPr>
              <a:t>BÜ-Posteingang heute unstrukturiert; in der Mail enthaltene Daten bleiben ungenutzt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1078992"/>
            <a:ext cx="10058400" cy="5029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2000" b="1" i="0" u="none">
                <a:solidFill>
                  <a:srgbClr val="E30613"/>
                </a:solidFill>
                <a:latin typeface="Calibri"/>
              </a:rPr>
              <a:t>Sichtbare Folgen: Fehl-Routing (MV) und nicht erkannte, zusammengehoerige Vorgaenge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1920240"/>
            <a:ext cx="7315200" cy="3200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300" b="1" i="0" u="none">
                <a:solidFill>
                  <a:srgbClr val="333333"/>
                </a:solidFill>
                <a:latin typeface="Calibri"/>
              </a:rPr>
              <a:t>MENGENGERÜSTE AUS ANALYSE 13.04. – 20.04.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1920240"/>
            <a:ext cx="3657600" cy="3200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300" b="1" i="0" u="none">
                <a:solidFill>
                  <a:srgbClr val="333333"/>
                </a:solidFill>
                <a:latin typeface="Calibri"/>
              </a:rPr>
              <a:t>KERNAUSSAGEN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6446520"/>
            <a:ext cx="11338560" cy="9525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80" y="6510528"/>
            <a:ext cx="1005840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900" b="0" i="0" u="none">
                <a:solidFill>
                  <a:srgbClr val="666666"/>
                </a:solidFill>
                <a:latin typeface="Calibri"/>
              </a:rPr>
              <a:t>ERGO | Makler BUe meets KI – Zwischenbericht Phase 1 - 10.06.2026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510528"/>
            <a:ext cx="45720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/>
            <a:r>
              <a:rPr sz="900" b="0" i="0" u="none">
                <a:solidFill>
                  <a:srgbClr val="666666"/>
                </a:solidFill>
                <a:latin typeface="Calibri"/>
              </a:rPr>
              <a:t>11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2240280"/>
            <a:ext cx="184023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11480" y="2240280"/>
            <a:ext cx="54864" cy="566928"/>
          </a:xfrm>
          <a:prstGeom prst="rect">
            <a:avLst/>
          </a:prstGeom>
          <a:solidFill>
            <a:srgbClr val="E306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21208" y="2258568"/>
            <a:ext cx="1703070" cy="329184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2000" b="1" i="0" u="none">
                <a:solidFill>
                  <a:srgbClr val="333333"/>
                </a:solidFill>
                <a:latin typeface="Calibri"/>
              </a:rPr>
              <a:t>5.034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1208" y="2587752"/>
            <a:ext cx="1703070" cy="20116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900" b="0" i="0" u="none">
                <a:solidFill>
                  <a:srgbClr val="666666"/>
                </a:solidFill>
                <a:latin typeface="Calibri"/>
              </a:rPr>
              <a:t>Mails / Woche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343150" y="2240280"/>
            <a:ext cx="184023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343150" y="2240280"/>
            <a:ext cx="54864" cy="566928"/>
          </a:xfrm>
          <a:prstGeom prst="rect">
            <a:avLst/>
          </a:prstGeom>
          <a:solidFill>
            <a:srgbClr val="0087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452878" y="2258568"/>
            <a:ext cx="1703070" cy="329184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2000" b="1" i="0" u="none">
                <a:solidFill>
                  <a:srgbClr val="333333"/>
                </a:solidFill>
                <a:latin typeface="Calibri"/>
              </a:rPr>
              <a:t>1 KW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452878" y="2587752"/>
            <a:ext cx="1703070" cy="20116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900" b="0" i="0" u="none">
                <a:solidFill>
                  <a:srgbClr val="666666"/>
                </a:solidFill>
                <a:latin typeface="Calibri"/>
              </a:rPr>
              <a:t>Vollerhebung 13.–20.04.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74820" y="2240280"/>
            <a:ext cx="184023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74820" y="2240280"/>
            <a:ext cx="54864" cy="566928"/>
          </a:xfrm>
          <a:prstGeom prst="rect">
            <a:avLst/>
          </a:prstGeom>
          <a:solidFill>
            <a:srgbClr val="0087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4548" y="2258568"/>
            <a:ext cx="1703070" cy="329184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2000" b="1" i="0" u="none">
                <a:solidFill>
                  <a:srgbClr val="333333"/>
                </a:solidFill>
                <a:latin typeface="Calibri"/>
              </a:rPr>
              <a:t>94 %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4548" y="2587752"/>
            <a:ext cx="1703070" cy="20116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900" b="0" i="0" u="none">
                <a:solidFill>
                  <a:srgbClr val="666666"/>
                </a:solidFill>
                <a:latin typeface="Calibri"/>
              </a:rPr>
              <a:t>ein Sammel-Postfach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206490" y="2240280"/>
            <a:ext cx="184023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206490" y="2240280"/>
            <a:ext cx="54864" cy="566928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16218" y="2258568"/>
            <a:ext cx="1703070" cy="329184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2000" b="1" i="0" u="none">
                <a:solidFill>
                  <a:srgbClr val="333333"/>
                </a:solidFill>
                <a:latin typeface="Calibri"/>
              </a:rPr>
              <a:t>50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16218" y="2587752"/>
            <a:ext cx="1703070" cy="20116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900" b="0" i="0" u="none">
                <a:solidFill>
                  <a:srgbClr val="666666"/>
                </a:solidFill>
                <a:latin typeface="Calibri"/>
              </a:rPr>
              <a:t>KI-Datenfelder / Mail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11480" y="3008376"/>
            <a:ext cx="7635240" cy="329184"/>
          </a:xfrm>
          <a:prstGeom prst="rect">
            <a:avLst/>
          </a:prstGeom>
          <a:solidFill>
            <a:srgbClr val="006B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3008376"/>
            <a:ext cx="2606040" cy="329184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1" i="0" u="none">
                <a:solidFill>
                  <a:srgbClr val="FFFFFF"/>
                </a:solidFill>
                <a:latin typeface="Calibri"/>
              </a:rPr>
              <a:t>Status / Woche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017520" y="3008376"/>
            <a:ext cx="1051560" cy="329184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0" u="none">
                <a:solidFill>
                  <a:srgbClr val="FFFFFF"/>
                </a:solidFill>
                <a:latin typeface="Calibri"/>
              </a:rPr>
              <a:t>Gesamt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069080" y="3008376"/>
            <a:ext cx="960120" cy="329184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0" u="none">
                <a:solidFill>
                  <a:srgbClr val="FFFFFF"/>
                </a:solidFill>
                <a:latin typeface="Calibri"/>
              </a:rPr>
              <a:t>KV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29200" y="3008376"/>
            <a:ext cx="1143000" cy="329184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0" u="none">
                <a:solidFill>
                  <a:srgbClr val="FFFFFF"/>
                </a:solidFill>
                <a:latin typeface="Calibri"/>
              </a:rPr>
              <a:t>Komposit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172200" y="3008376"/>
            <a:ext cx="914400" cy="329184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0" u="none">
                <a:solidFill>
                  <a:srgbClr val="FFFFFF"/>
                </a:solidFill>
                <a:latin typeface="Calibri"/>
              </a:rPr>
              <a:t>Leben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86600" y="3008376"/>
            <a:ext cx="960120" cy="329184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0" u="none">
                <a:solidFill>
                  <a:srgbClr val="FFFFFF"/>
                </a:solidFill>
                <a:latin typeface="Calibri"/>
              </a:rPr>
              <a:t>Sonstige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11480" y="3337560"/>
            <a:ext cx="7635240" cy="278892"/>
          </a:xfrm>
          <a:prstGeom prst="rect">
            <a:avLst/>
          </a:prstGeom>
          <a:solidFill>
            <a:srgbClr val="E9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21208" y="3337560"/>
            <a:ext cx="2496312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1" i="0" u="none">
                <a:solidFill>
                  <a:srgbClr val="333333"/>
                </a:solidFill>
                <a:latin typeface="Calibri"/>
              </a:rPr>
              <a:t>Gesamt Mails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017520" y="3337560"/>
            <a:ext cx="105156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0" u="none">
                <a:solidFill>
                  <a:srgbClr val="333333"/>
                </a:solidFill>
                <a:latin typeface="Calibri"/>
              </a:rPr>
              <a:t>5.034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069080" y="3337560"/>
            <a:ext cx="96012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0" u="none">
                <a:solidFill>
                  <a:srgbClr val="333333"/>
                </a:solidFill>
                <a:latin typeface="Calibri"/>
              </a:rPr>
              <a:t>1.308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029200" y="3337560"/>
            <a:ext cx="114300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0" u="none">
                <a:solidFill>
                  <a:srgbClr val="333333"/>
                </a:solidFill>
                <a:latin typeface="Calibri"/>
              </a:rPr>
              <a:t>2.502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172200" y="3337560"/>
            <a:ext cx="91440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0" u="none">
                <a:solidFill>
                  <a:srgbClr val="333333"/>
                </a:solidFill>
                <a:latin typeface="Calibri"/>
              </a:rPr>
              <a:t>755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086600" y="3337560"/>
            <a:ext cx="96012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0" u="none">
                <a:solidFill>
                  <a:srgbClr val="333333"/>
                </a:solidFill>
                <a:latin typeface="Calibri"/>
              </a:rPr>
              <a:t>469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11480" y="3616452"/>
            <a:ext cx="7635240" cy="2788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21208" y="3616452"/>
            <a:ext cx="2496312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0" i="0" u="none">
                <a:solidFill>
                  <a:srgbClr val="333333"/>
                </a:solidFill>
                <a:latin typeface="Calibri"/>
              </a:rPr>
              <a:t>Keine BÜ (falscher Kanal)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017520" y="3616452"/>
            <a:ext cx="105156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0" u="none">
                <a:solidFill>
                  <a:srgbClr val="333333"/>
                </a:solidFill>
                <a:latin typeface="Calibri"/>
              </a:rPr>
              <a:t>705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069080" y="3616452"/>
            <a:ext cx="96012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112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029200" y="3616452"/>
            <a:ext cx="114300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192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172200" y="3616452"/>
            <a:ext cx="91440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55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086600" y="3616452"/>
            <a:ext cx="96012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346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11480" y="3895344"/>
            <a:ext cx="7635240" cy="278892"/>
          </a:xfrm>
          <a:prstGeom prst="rect">
            <a:avLst/>
          </a:prstGeom>
          <a:solidFill>
            <a:srgbClr val="FDE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1480" y="3895344"/>
            <a:ext cx="91440" cy="278892"/>
          </a:xfrm>
          <a:prstGeom prst="rect">
            <a:avLst/>
          </a:prstGeom>
          <a:solidFill>
            <a:srgbClr val="C86E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21208" y="3895344"/>
            <a:ext cx="2496312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1" i="1" u="none">
                <a:solidFill>
                  <a:srgbClr val="C86E10"/>
                </a:solidFill>
                <a:latin typeface="Calibri"/>
              </a:rPr>
              <a:t>   davon mit MV im Anhang*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017520" y="3895344"/>
            <a:ext cx="105156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1" u="none">
                <a:solidFill>
                  <a:srgbClr val="C86E10"/>
                </a:solidFill>
                <a:latin typeface="Calibri"/>
              </a:rPr>
              <a:t>30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069080" y="3895344"/>
            <a:ext cx="96012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1" u="none">
                <a:solidFill>
                  <a:srgbClr val="C86E10"/>
                </a:solidFill>
                <a:latin typeface="Calibri"/>
              </a:rPr>
              <a:t>7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029200" y="3895344"/>
            <a:ext cx="114300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1" u="none">
                <a:solidFill>
                  <a:srgbClr val="C86E10"/>
                </a:solidFill>
                <a:latin typeface="Calibri"/>
              </a:rPr>
              <a:t>20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172200" y="3895344"/>
            <a:ext cx="91440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1" u="none">
                <a:solidFill>
                  <a:srgbClr val="C86E10"/>
                </a:solidFill>
                <a:latin typeface="Calibri"/>
              </a:rPr>
              <a:t>2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086600" y="3895344"/>
            <a:ext cx="96012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1" u="none">
                <a:solidFill>
                  <a:srgbClr val="C86E10"/>
                </a:solidFill>
                <a:latin typeface="Calibri"/>
              </a:rPr>
              <a:t>1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11480" y="4174236"/>
            <a:ext cx="7635240" cy="2788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21208" y="4174236"/>
            <a:ext cx="2496312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0" i="0" u="none">
                <a:solidFill>
                  <a:srgbClr val="333333"/>
                </a:solidFill>
                <a:latin typeface="Calibri"/>
              </a:rPr>
              <a:t>BÜ-Reminder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017520" y="4174236"/>
            <a:ext cx="105156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0" u="none">
                <a:solidFill>
                  <a:srgbClr val="333333"/>
                </a:solidFill>
                <a:latin typeface="Calibri"/>
              </a:rPr>
              <a:t>329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069080" y="4174236"/>
            <a:ext cx="96012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49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029200" y="4174236"/>
            <a:ext cx="114300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221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172200" y="4174236"/>
            <a:ext cx="91440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38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086600" y="4174236"/>
            <a:ext cx="96012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21</a:t>
            </a:r>
          </a:p>
        </p:txBody>
      </p:sp>
      <p:sp>
        <p:nvSpPr>
          <p:cNvPr id="69" name="Rectangle 68"/>
          <p:cNvSpPr/>
          <p:nvPr/>
        </p:nvSpPr>
        <p:spPr>
          <a:xfrm>
            <a:off x="411480" y="4453128"/>
            <a:ext cx="7635240" cy="278892"/>
          </a:xfrm>
          <a:prstGeom prst="rect">
            <a:avLst/>
          </a:prstGeom>
          <a:solidFill>
            <a:srgbClr val="FDE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411480" y="4453128"/>
            <a:ext cx="91440" cy="278892"/>
          </a:xfrm>
          <a:prstGeom prst="rect">
            <a:avLst/>
          </a:prstGeom>
          <a:solidFill>
            <a:srgbClr val="C86E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521208" y="4453128"/>
            <a:ext cx="2496312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1" i="1" u="none">
                <a:solidFill>
                  <a:srgbClr val="C86E10"/>
                </a:solidFill>
                <a:latin typeface="Calibri"/>
              </a:rPr>
              <a:t>   davon mit MV im Anhang*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017520" y="4453128"/>
            <a:ext cx="105156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1" u="none">
                <a:solidFill>
                  <a:srgbClr val="C86E10"/>
                </a:solidFill>
                <a:latin typeface="Calibri"/>
              </a:rPr>
              <a:t>210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069080" y="4453128"/>
            <a:ext cx="96012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1" u="none">
                <a:solidFill>
                  <a:srgbClr val="C86E10"/>
                </a:solidFill>
                <a:latin typeface="Calibri"/>
              </a:rPr>
              <a:t>40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029200" y="4453128"/>
            <a:ext cx="114300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1" u="none">
                <a:solidFill>
                  <a:srgbClr val="C86E10"/>
                </a:solidFill>
                <a:latin typeface="Calibri"/>
              </a:rPr>
              <a:t>135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172200" y="4453128"/>
            <a:ext cx="91440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1" u="none">
                <a:solidFill>
                  <a:srgbClr val="C86E10"/>
                </a:solidFill>
                <a:latin typeface="Calibri"/>
              </a:rPr>
              <a:t>29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086600" y="4453128"/>
            <a:ext cx="96012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1" u="none">
                <a:solidFill>
                  <a:srgbClr val="C86E10"/>
                </a:solidFill>
                <a:latin typeface="Calibri"/>
              </a:rPr>
              <a:t>6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11480" y="4732020"/>
            <a:ext cx="7635240" cy="278892"/>
          </a:xfrm>
          <a:prstGeom prst="rect">
            <a:avLst/>
          </a:prstGeom>
          <a:solidFill>
            <a:srgbClr val="CFE6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411480" y="4732020"/>
            <a:ext cx="91440" cy="278892"/>
          </a:xfrm>
          <a:prstGeom prst="rect">
            <a:avLst/>
          </a:prstGeom>
          <a:solidFill>
            <a:srgbClr val="0087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521208" y="4732020"/>
            <a:ext cx="2496312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1" i="0" u="none">
                <a:solidFill>
                  <a:srgbClr val="006B77"/>
                </a:solidFill>
                <a:latin typeface="Calibri"/>
              </a:rPr>
              <a:t>Neue BÜ (echte BÜ-Anfragen)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017520" y="4732020"/>
            <a:ext cx="105156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0" u="none">
                <a:solidFill>
                  <a:srgbClr val="006B77"/>
                </a:solidFill>
                <a:latin typeface="Calibri"/>
              </a:rPr>
              <a:t>4.000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069080" y="4732020"/>
            <a:ext cx="96012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0" u="none">
                <a:solidFill>
                  <a:srgbClr val="006B77"/>
                </a:solidFill>
                <a:latin typeface="Calibri"/>
              </a:rPr>
              <a:t>1.147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029200" y="4732020"/>
            <a:ext cx="114300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0" u="none">
                <a:solidFill>
                  <a:srgbClr val="006B77"/>
                </a:solidFill>
                <a:latin typeface="Calibri"/>
              </a:rPr>
              <a:t>2.089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172200" y="4732020"/>
            <a:ext cx="91440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0" u="none">
                <a:solidFill>
                  <a:srgbClr val="006B77"/>
                </a:solidFill>
                <a:latin typeface="Calibri"/>
              </a:rPr>
              <a:t>662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086600" y="4732020"/>
            <a:ext cx="96012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0" u="none">
                <a:solidFill>
                  <a:srgbClr val="006B77"/>
                </a:solidFill>
                <a:latin typeface="Calibri"/>
              </a:rPr>
              <a:t>102</a:t>
            </a:r>
          </a:p>
        </p:txBody>
      </p:sp>
      <p:sp>
        <p:nvSpPr>
          <p:cNvPr id="85" name="Rectangle 84"/>
          <p:cNvSpPr/>
          <p:nvPr/>
        </p:nvSpPr>
        <p:spPr>
          <a:xfrm>
            <a:off x="411480" y="5010912"/>
            <a:ext cx="7635240" cy="278892"/>
          </a:xfrm>
          <a:prstGeom prst="rect">
            <a:avLst/>
          </a:prstGeom>
          <a:solidFill>
            <a:srgbClr val="F3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521208" y="5010912"/>
            <a:ext cx="2496312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900" b="0" i="1" u="none">
                <a:solidFill>
                  <a:srgbClr val="666666"/>
                </a:solidFill>
                <a:latin typeface="Calibri"/>
              </a:rPr>
              <a:t>Anteil Top-5-Makler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017520" y="5010912"/>
            <a:ext cx="105156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900" b="1" i="1" u="none">
                <a:solidFill>
                  <a:srgbClr val="666666"/>
                </a:solidFill>
                <a:latin typeface="Calibri"/>
              </a:rPr>
              <a:t>2.890 (57 %)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069080" y="5010912"/>
            <a:ext cx="96012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900" b="0" i="1" u="none">
                <a:solidFill>
                  <a:srgbClr val="666666"/>
                </a:solidFill>
                <a:latin typeface="Calibri"/>
              </a:rPr>
              <a:t>886 (68 %)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5029200" y="5010912"/>
            <a:ext cx="114300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900" b="0" i="1" u="none">
                <a:solidFill>
                  <a:srgbClr val="666666"/>
                </a:solidFill>
                <a:latin typeface="Calibri"/>
              </a:rPr>
              <a:t>1.489 (60 %)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6172200" y="5010912"/>
            <a:ext cx="91440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900" b="0" i="1" u="none">
                <a:solidFill>
                  <a:srgbClr val="666666"/>
                </a:solidFill>
                <a:latin typeface="Calibri"/>
              </a:rPr>
              <a:t>505 (67 %)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7086600" y="5010912"/>
            <a:ext cx="96012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900" b="0" i="1" u="none">
                <a:solidFill>
                  <a:srgbClr val="666666"/>
                </a:solidFill>
                <a:latin typeface="Calibri"/>
              </a:rPr>
              <a:t>10 (2 %)</a:t>
            </a:r>
          </a:p>
        </p:txBody>
      </p:sp>
      <p:sp>
        <p:nvSpPr>
          <p:cNvPr id="92" name="Rectangle 91"/>
          <p:cNvSpPr/>
          <p:nvPr/>
        </p:nvSpPr>
        <p:spPr>
          <a:xfrm>
            <a:off x="411480" y="5289804"/>
            <a:ext cx="7635240" cy="278892"/>
          </a:xfrm>
          <a:prstGeom prst="rect">
            <a:avLst/>
          </a:prstGeom>
          <a:solidFill>
            <a:srgbClr val="F3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521208" y="5289804"/>
            <a:ext cx="2496312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900" b="0" i="1" u="none">
                <a:solidFill>
                  <a:srgbClr val="666666"/>
                </a:solidFill>
                <a:latin typeface="Calibri"/>
              </a:rPr>
              <a:t>Anteil in Cluster (weitere Mails Makler+Kunde)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3017520" y="5289804"/>
            <a:ext cx="105156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900" b="1" i="1" u="none">
                <a:solidFill>
                  <a:srgbClr val="666666"/>
                </a:solidFill>
                <a:latin typeface="Calibri"/>
              </a:rPr>
              <a:t>2.370 (47 %)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4069080" y="5289804"/>
            <a:ext cx="96012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900" b="0" i="1" u="none">
                <a:solidFill>
                  <a:srgbClr val="666666"/>
                </a:solidFill>
                <a:latin typeface="Calibri"/>
              </a:rPr>
              <a:t>399 (31 %)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5029200" y="5289804"/>
            <a:ext cx="114300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900" b="0" i="1" u="none">
                <a:solidFill>
                  <a:srgbClr val="666666"/>
                </a:solidFill>
                <a:latin typeface="Calibri"/>
              </a:rPr>
              <a:t>1.573 (63 %)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6172200" y="5289804"/>
            <a:ext cx="91440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900" b="0" i="1" u="none">
                <a:solidFill>
                  <a:srgbClr val="666666"/>
                </a:solidFill>
                <a:latin typeface="Calibri"/>
              </a:rPr>
              <a:t>357 (47 %)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7086600" y="5289804"/>
            <a:ext cx="96012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900" b="0" i="1" u="none">
                <a:solidFill>
                  <a:srgbClr val="666666"/>
                </a:solidFill>
                <a:latin typeface="Calibri"/>
              </a:rPr>
              <a:t>41 (9 %)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411480" y="5577840"/>
            <a:ext cx="7635240" cy="237744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900" b="0" i="1" u="none">
                <a:solidFill>
                  <a:srgbClr val="666666"/>
                </a:solidFill>
                <a:latin typeface="Calibri"/>
              </a:rPr>
              <a:t>* MV im Anhang ohne neue BÜ = potentielles Falschrouting (240 / Wo → Hebel 1, 11a).  Cluster-Anteil &amp; Top-5-Makler → Hebel 2 (11b).  Sonstige = Sparte unklar / Spam (346 der Keine-BÜ ohne MV).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8229600" y="2240280"/>
            <a:ext cx="3611880" cy="3611880"/>
          </a:xfrm>
          <a:prstGeom prst="rect">
            <a:avLst/>
          </a:prstGeom>
          <a:solidFill>
            <a:srgbClr val="CFE6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Oval 100"/>
          <p:cNvSpPr/>
          <p:nvPr/>
        </p:nvSpPr>
        <p:spPr>
          <a:xfrm>
            <a:off x="8366760" y="2450592"/>
            <a:ext cx="384048" cy="384048"/>
          </a:xfrm>
          <a:prstGeom prst="ellipse">
            <a:avLst/>
          </a:prstGeom>
          <a:solidFill>
            <a:srgbClr val="0087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8366760" y="2450592"/>
            <a:ext cx="384048" cy="38404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500" b="1" i="0" u="none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8869680" y="2404872"/>
            <a:ext cx="2834640" cy="656539"/>
          </a:xfrm>
          <a:prstGeom prst="rect">
            <a:avLst/>
          </a:prstGeom>
          <a:noFill/>
        </p:spPr>
        <p:txBody>
          <a:bodyPr wrap="square" lIns="36000" rIns="36000" tIns="0" bIns="0">
            <a:spAutoFit/>
          </a:bodyPr>
          <a:lstStyle/>
          <a:p>
            <a:pPr algn="l"/>
            <a:r>
              <a:rPr sz="1100" b="1">
                <a:solidFill>
                  <a:srgbClr val="333333"/>
                </a:solidFill>
                <a:latin typeface="Calibri"/>
              </a:rPr>
              <a:t>Mengengeruest 1 Woche: </a:t>
            </a:r>
            <a:r>
              <a:rPr sz="1100">
                <a:solidFill>
                  <a:srgbClr val="333333"/>
                </a:solidFill>
                <a:latin typeface="Calibri"/>
              </a:rPr>
              <a:t>5.034 Mails, Vollerhebung 13.–20.04.2026; 94 % ueber ein Sammel-Postfach. Hochrechnung ~260.000 / Jahr.</a:t>
            </a:r>
          </a:p>
        </p:txBody>
      </p:sp>
      <p:sp>
        <p:nvSpPr>
          <p:cNvPr id="104" name="Oval 103"/>
          <p:cNvSpPr/>
          <p:nvPr/>
        </p:nvSpPr>
        <p:spPr>
          <a:xfrm>
            <a:off x="8366760" y="3107131"/>
            <a:ext cx="384048" cy="384048"/>
          </a:xfrm>
          <a:prstGeom prst="ellipse">
            <a:avLst/>
          </a:prstGeom>
          <a:solidFill>
            <a:srgbClr val="0087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8366760" y="3107131"/>
            <a:ext cx="384048" cy="38404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500" b="1" i="0" u="none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8869680" y="3061411"/>
            <a:ext cx="2834640" cy="656539"/>
          </a:xfrm>
          <a:prstGeom prst="rect">
            <a:avLst/>
          </a:prstGeom>
          <a:noFill/>
        </p:spPr>
        <p:txBody>
          <a:bodyPr wrap="square" lIns="36000" rIns="36000" tIns="0" bIns="0">
            <a:spAutoFit/>
          </a:bodyPr>
          <a:lstStyle/>
          <a:p>
            <a:pPr algn="l"/>
            <a:r>
              <a:rPr sz="1100" b="1">
                <a:solidFill>
                  <a:srgbClr val="333333"/>
                </a:solidFill>
                <a:latin typeface="Calibri"/>
              </a:rPr>
              <a:t>Strukturierte Extraktion: </a:t>
            </a:r>
            <a:r>
              <a:rPr sz="1100">
                <a:solidFill>
                  <a:srgbClr val="333333"/>
                </a:solidFill>
                <a:latin typeface="Calibri"/>
              </a:rPr>
              <a:t>KI erstellt je Mail ein Beiblatt mit 50 Feldern – VNR, Sparte, Pool, Status, Vorgangs-Cluster immer gleich.</a:t>
            </a:r>
          </a:p>
        </p:txBody>
      </p:sp>
      <p:sp>
        <p:nvSpPr>
          <p:cNvPr id="107" name="Oval 106"/>
          <p:cNvSpPr/>
          <p:nvPr/>
        </p:nvSpPr>
        <p:spPr>
          <a:xfrm>
            <a:off x="8366760" y="3763670"/>
            <a:ext cx="384048" cy="384048"/>
          </a:xfrm>
          <a:prstGeom prst="ellipse">
            <a:avLst/>
          </a:prstGeom>
          <a:solidFill>
            <a:srgbClr val="0087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8366760" y="3763670"/>
            <a:ext cx="384048" cy="38404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500" b="1" i="0" u="none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8869680" y="3717950"/>
            <a:ext cx="2834640" cy="656539"/>
          </a:xfrm>
          <a:prstGeom prst="rect">
            <a:avLst/>
          </a:prstGeom>
          <a:noFill/>
        </p:spPr>
        <p:txBody>
          <a:bodyPr wrap="square" lIns="36000" rIns="36000" tIns="0" bIns="0">
            <a:spAutoFit/>
          </a:bodyPr>
          <a:lstStyle/>
          <a:p>
            <a:pPr algn="l"/>
            <a:r>
              <a:rPr sz="1100" b="1">
                <a:solidFill>
                  <a:srgbClr val="333333"/>
                </a:solidFill>
                <a:latin typeface="Calibri"/>
              </a:rPr>
              <a:t>Ableitung Hebel 1: </a:t>
            </a:r>
            <a:r>
              <a:rPr sz="1100">
                <a:solidFill>
                  <a:srgbClr val="333333"/>
                </a:solidFill>
                <a:latin typeface="Calibri"/>
              </a:rPr>
              <a:t>1.034 Mails sind keine neue BÜ; 240 haengen eine MV an und werden durch die Regel 'MV → BÜ' falsch angelegt.</a:t>
            </a:r>
          </a:p>
        </p:txBody>
      </p:sp>
      <p:sp>
        <p:nvSpPr>
          <p:cNvPr id="110" name="Oval 109"/>
          <p:cNvSpPr/>
          <p:nvPr/>
        </p:nvSpPr>
        <p:spPr>
          <a:xfrm>
            <a:off x="8366760" y="4420209"/>
            <a:ext cx="384048" cy="384048"/>
          </a:xfrm>
          <a:prstGeom prst="ellipse">
            <a:avLst/>
          </a:prstGeom>
          <a:solidFill>
            <a:srgbClr val="0087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8366760" y="4420209"/>
            <a:ext cx="384048" cy="38404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500" b="1" i="0" u="none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8869680" y="4374489"/>
            <a:ext cx="2834640" cy="656539"/>
          </a:xfrm>
          <a:prstGeom prst="rect">
            <a:avLst/>
          </a:prstGeom>
          <a:noFill/>
        </p:spPr>
        <p:txBody>
          <a:bodyPr wrap="square" lIns="36000" rIns="36000" tIns="0" bIns="0">
            <a:spAutoFit/>
          </a:bodyPr>
          <a:lstStyle/>
          <a:p>
            <a:pPr algn="l"/>
            <a:r>
              <a:rPr sz="1100" b="1">
                <a:solidFill>
                  <a:srgbClr val="333333"/>
                </a:solidFill>
                <a:latin typeface="Calibri"/>
              </a:rPr>
              <a:t>Ableitung Hebel 2: </a:t>
            </a:r>
            <a:r>
              <a:rPr sz="1100">
                <a:solidFill>
                  <a:srgbClr val="333333"/>
                </a:solidFill>
                <a:latin typeface="Calibri"/>
              </a:rPr>
              <a:t>4.000 BÜ-Mails verteilen sich auf nur 2.495 Vorgaenge → Buendelung / Steuerung moeglich.</a:t>
            </a:r>
          </a:p>
        </p:txBody>
      </p:sp>
      <p:sp>
        <p:nvSpPr>
          <p:cNvPr id="113" name="Oval 112"/>
          <p:cNvSpPr/>
          <p:nvPr/>
        </p:nvSpPr>
        <p:spPr>
          <a:xfrm>
            <a:off x="8366760" y="5076748"/>
            <a:ext cx="384048" cy="384048"/>
          </a:xfrm>
          <a:prstGeom prst="ellipse">
            <a:avLst/>
          </a:prstGeom>
          <a:solidFill>
            <a:srgbClr val="0087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8366760" y="5076748"/>
            <a:ext cx="384048" cy="38404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500" b="1" i="0" u="none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5031028"/>
            <a:ext cx="2834640" cy="656539"/>
          </a:xfrm>
          <a:prstGeom prst="rect">
            <a:avLst/>
          </a:prstGeom>
          <a:noFill/>
        </p:spPr>
        <p:txBody>
          <a:bodyPr wrap="square" lIns="36000" rIns="36000" tIns="0" bIns="0">
            <a:spAutoFit/>
          </a:bodyPr>
          <a:lstStyle/>
          <a:p>
            <a:pPr algn="l"/>
            <a:r>
              <a:rPr sz="1100" b="1">
                <a:solidFill>
                  <a:srgbClr val="333333"/>
                </a:solidFill>
                <a:latin typeface="Calibri"/>
              </a:rPr>
              <a:t>Roter Faden: </a:t>
            </a:r>
            <a:r>
              <a:rPr sz="1100">
                <a:solidFill>
                  <a:srgbClr val="333333"/>
                </a:solidFill>
                <a:latin typeface="Calibri"/>
              </a:rPr>
              <a:t>Beide Hebel folgen direkt aus der KI-Strukturierung des Posteingangs – Details auf 11a / 11b.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411480" y="5760720"/>
            <a:ext cx="11338560" cy="18288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800" b="0" i="1" u="none">
                <a:solidFill>
                  <a:srgbClr val="666666"/>
                </a:solidFill>
                <a:latin typeface="Calibri"/>
              </a:rPr>
              <a:t>Datenbasis: 5.034 Mails  |  Mo 13.04. – Mo 20.04.2026 (eine Kalenderwoche)  |  Eingangs-Postfaecher: 'Service Team Maklerauftraege' (94 %), 'Bestandsuebertragungen' (5 %), 12 weitere &lt;1 %  |  Analyse-Stand: 27.05.2026 (KI-Auswertung mit Claude Opus 4.7, 99 von 5.034 Mails mit Analyse-Fehler/Timeout)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411480" y="5989320"/>
            <a:ext cx="11338560" cy="384048"/>
          </a:xfrm>
          <a:prstGeom prst="rect">
            <a:avLst/>
          </a:prstGeom>
          <a:solidFill>
            <a:srgbClr val="E306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594360" y="5989320"/>
            <a:ext cx="10972800" cy="38404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200" b="1" i="0" u="none">
                <a:solidFill>
                  <a:srgbClr val="FFFFFF"/>
                </a:solidFill>
                <a:latin typeface="Calibri"/>
              </a:rPr>
              <a:t>TAKE-AWAY:  Aus dem Status-Split folgen zwei Hebel: 240 Mails mit MV im Anhang werden faelschlich als BÜ angelegt → Routing (11a); 4.000 BÜ-Mails buendeln sich zu 2.495 Vorgaengen → Clustering &amp; Arbeitsvorrats-Steuerung (11b).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>
            <a:off x="5120640" y="137160"/>
            <a:ext cx="530352" cy="292608"/>
          </a:xfrm>
          <a:prstGeom prst="homePlate">
            <a:avLst/>
          </a:prstGeom>
          <a:solidFill>
            <a:srgbClr val="8888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Pentagon 2"/>
          <p:cNvSpPr/>
          <p:nvPr/>
        </p:nvSpPr>
        <p:spPr>
          <a:xfrm>
            <a:off x="5687568" y="137160"/>
            <a:ext cx="530352" cy="292608"/>
          </a:xfrm>
          <a:prstGeom prst="homePlate">
            <a:avLst/>
          </a:prstGeom>
          <a:solidFill>
            <a:srgbClr val="0087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Pentagon 3"/>
          <p:cNvSpPr/>
          <p:nvPr/>
        </p:nvSpPr>
        <p:spPr>
          <a:xfrm>
            <a:off x="6254496" y="137160"/>
            <a:ext cx="530352" cy="292608"/>
          </a:xfrm>
          <a:prstGeom prst="homePlate">
            <a:avLst/>
          </a:prstGeom>
          <a:solidFill>
            <a:srgbClr val="CC4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Pentagon 4"/>
          <p:cNvSpPr/>
          <p:nvPr/>
        </p:nvSpPr>
        <p:spPr>
          <a:xfrm>
            <a:off x="6821424" y="137160"/>
            <a:ext cx="530352" cy="292608"/>
          </a:xfrm>
          <a:prstGeom prst="homePlate">
            <a:avLst/>
          </a:prstGeom>
          <a:solidFill>
            <a:srgbClr val="6FC0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Pentagon 5"/>
          <p:cNvSpPr/>
          <p:nvPr/>
        </p:nvSpPr>
        <p:spPr>
          <a:xfrm>
            <a:off x="7388352" y="137160"/>
            <a:ext cx="530352" cy="292608"/>
          </a:xfrm>
          <a:prstGeom prst="homePlate">
            <a:avLst/>
          </a:prstGeom>
          <a:solidFill>
            <a:srgbClr val="E8C4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61320" y="182880"/>
            <a:ext cx="1463040" cy="5029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3200" b="1" i="0" u="none">
                <a:solidFill>
                  <a:srgbClr val="E30613"/>
                </a:solidFill>
                <a:latin typeface="Calibri"/>
              </a:rPr>
              <a:t>ERGO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731520"/>
            <a:ext cx="146304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800" b="0" i="0" u="none">
                <a:solidFill>
                  <a:srgbClr val="333333"/>
                </a:solidFill>
                <a:latin typeface="Calibri"/>
              </a:rPr>
              <a:t>A Munich Re company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228600"/>
            <a:ext cx="6400800" cy="29260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200" b="0" i="0" u="none">
                <a:solidFill>
                  <a:srgbClr val="333333"/>
                </a:solidFill>
                <a:latin typeface="Calibri"/>
              </a:rPr>
              <a:t>STRUKTURIERUNG  |  MENGENGERÜSTE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594360"/>
            <a:ext cx="10058400" cy="5029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2000" b="1" i="0" u="none">
                <a:solidFill>
                  <a:srgbClr val="E30613"/>
                </a:solidFill>
                <a:latin typeface="Calibri"/>
              </a:rPr>
              <a:t>Wenige Makler und viele zusammenhaengende Vorgaenge — heute im Postkorb nicht auffindbar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1078992"/>
            <a:ext cx="10058400" cy="5029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2000" b="1" i="0" u="none">
                <a:solidFill>
                  <a:srgbClr val="E30613"/>
                </a:solidFill>
                <a:latin typeface="Calibri"/>
              </a:rPr>
              <a:t>Strukturierung + Excel ermoeglichen gezieltes Abarbeiten (Prio-Makler, Cluster) statt blindem Postkorb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1920240"/>
            <a:ext cx="7315200" cy="3200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300" b="1" i="0" u="none">
                <a:solidFill>
                  <a:srgbClr val="333333"/>
                </a:solidFill>
                <a:latin typeface="Calibri"/>
              </a:rPr>
              <a:t>MENGENGERÜSTE: MAKLER &amp; CLUSTER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1920240"/>
            <a:ext cx="3657600" cy="3200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300" b="1" i="0" u="none">
                <a:solidFill>
                  <a:srgbClr val="333333"/>
                </a:solidFill>
                <a:latin typeface="Calibri"/>
              </a:rPr>
              <a:t>KERNAUSSAGEN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6446520"/>
            <a:ext cx="11338560" cy="9525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80" y="6510528"/>
            <a:ext cx="1005840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900" b="0" i="0" u="none">
                <a:solidFill>
                  <a:srgbClr val="666666"/>
                </a:solidFill>
                <a:latin typeface="Calibri"/>
              </a:rPr>
              <a:t>ERGO | Makler BUe meets KI – Zwischenbericht Phase 1 - 10.06.2026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510528"/>
            <a:ext cx="45720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/>
            <a:r>
              <a:rPr sz="900" b="0" i="0" u="none">
                <a:solidFill>
                  <a:srgbClr val="666666"/>
                </a:solidFill>
                <a:latin typeface="Calibri"/>
              </a:rPr>
              <a:t>12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" y="2286000"/>
            <a:ext cx="763524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200" b="1" i="0" u="none">
                <a:solidFill>
                  <a:srgbClr val="006B77"/>
                </a:solidFill>
                <a:latin typeface="Calibri"/>
              </a:rPr>
              <a:t>Top-5-Makler = 2.890 Mails (57 %) — hohe Konzentration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1480" y="2606040"/>
            <a:ext cx="7635240" cy="310896"/>
          </a:xfrm>
          <a:prstGeom prst="rect">
            <a:avLst/>
          </a:prstGeom>
          <a:solidFill>
            <a:srgbClr val="006B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80" y="2606040"/>
            <a:ext cx="2788920" cy="310896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000" b="1" i="0" u="none">
                <a:solidFill>
                  <a:srgbClr val="FFFFFF"/>
                </a:solidFill>
                <a:latin typeface="Calibri"/>
              </a:rPr>
              <a:t>Maklerpool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2606040"/>
            <a:ext cx="1463040" cy="310896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000" b="1" i="0" u="none">
                <a:solidFill>
                  <a:srgbClr val="FFFFFF"/>
                </a:solidFill>
                <a:latin typeface="Calibri"/>
              </a:rPr>
              <a:t>Mails / Wo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63440" y="2606040"/>
            <a:ext cx="1554480" cy="310896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000" b="1" i="0" u="none">
                <a:solidFill>
                  <a:srgbClr val="FFFFFF"/>
                </a:solidFill>
                <a:latin typeface="Calibri"/>
              </a:rPr>
              <a:t>Vorgaenge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17920" y="2606040"/>
            <a:ext cx="1828800" cy="310896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000" b="1" i="0" u="none">
                <a:solidFill>
                  <a:srgbClr val="FFFFFF"/>
                </a:solidFill>
                <a:latin typeface="Calibri"/>
              </a:rPr>
              <a:t>Mails in Cluster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1480" y="2916936"/>
            <a:ext cx="7635240" cy="274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21208" y="2916936"/>
            <a:ext cx="2679192" cy="27432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1" i="0" u="none">
                <a:solidFill>
                  <a:srgbClr val="333333"/>
                </a:solidFill>
                <a:latin typeface="Calibri"/>
              </a:rPr>
              <a:t>JDC / Jung, DMS &amp; Cie.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200400" y="2916936"/>
            <a:ext cx="1463040" cy="27432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1.743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63440" y="2916936"/>
            <a:ext cx="1554480" cy="27432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998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17920" y="2916936"/>
            <a:ext cx="1828800" cy="27432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1.040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11480" y="3191256"/>
            <a:ext cx="7635240" cy="274320"/>
          </a:xfrm>
          <a:prstGeom prst="rect">
            <a:avLst/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21208" y="3191256"/>
            <a:ext cx="2679192" cy="27432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1" i="0" u="none">
                <a:solidFill>
                  <a:srgbClr val="333333"/>
                </a:solidFill>
                <a:latin typeface="Calibri"/>
              </a:rPr>
              <a:t>Fonds Finanz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0" y="3191256"/>
            <a:ext cx="1463040" cy="27432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618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63440" y="3191256"/>
            <a:ext cx="1554480" cy="27432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297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17920" y="3191256"/>
            <a:ext cx="1828800" cy="27432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420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11480" y="3465576"/>
            <a:ext cx="7635240" cy="274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21208" y="3465576"/>
            <a:ext cx="2679192" cy="27432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1" i="0" u="none">
                <a:solidFill>
                  <a:srgbClr val="333333"/>
                </a:solidFill>
                <a:latin typeface="Calibri"/>
              </a:rPr>
              <a:t>blau direkt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200400" y="3465576"/>
            <a:ext cx="1463040" cy="27432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255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663440" y="3465576"/>
            <a:ext cx="1554480" cy="27432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180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17920" y="3465576"/>
            <a:ext cx="1828800" cy="27432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117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11480" y="3739896"/>
            <a:ext cx="7635240" cy="274320"/>
          </a:xfrm>
          <a:prstGeom prst="rect">
            <a:avLst/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21208" y="3739896"/>
            <a:ext cx="2679192" cy="27432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1" i="0" u="none">
                <a:solidFill>
                  <a:srgbClr val="333333"/>
                </a:solidFill>
                <a:latin typeface="Calibri"/>
              </a:rPr>
              <a:t>DEMA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200400" y="3739896"/>
            <a:ext cx="1463040" cy="27432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158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663440" y="3739896"/>
            <a:ext cx="1554480" cy="27432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124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17920" y="3739896"/>
            <a:ext cx="1828800" cy="27432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55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11480" y="4014216"/>
            <a:ext cx="7635240" cy="274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21208" y="4014216"/>
            <a:ext cx="2679192" cy="27432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1" i="0" u="none">
                <a:solidFill>
                  <a:srgbClr val="333333"/>
                </a:solidFill>
                <a:latin typeface="Calibri"/>
              </a:rPr>
              <a:t>vfm Service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200400" y="4014216"/>
            <a:ext cx="1463040" cy="27432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116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663440" y="4014216"/>
            <a:ext cx="1554480" cy="27432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77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217920" y="4014216"/>
            <a:ext cx="1828800" cy="27432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53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11480" y="4288536"/>
            <a:ext cx="7635240" cy="274320"/>
          </a:xfrm>
          <a:prstGeom prst="rect">
            <a:avLst/>
          </a:prstGeom>
          <a:solidFill>
            <a:srgbClr val="E9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21208" y="4288536"/>
            <a:ext cx="2679192" cy="27432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1" i="0" u="none">
                <a:solidFill>
                  <a:srgbClr val="333333"/>
                </a:solidFill>
                <a:latin typeface="Calibri"/>
              </a:rPr>
              <a:t>Summe Top-5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200400" y="4288536"/>
            <a:ext cx="1463040" cy="27432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0" u="none">
                <a:solidFill>
                  <a:srgbClr val="333333"/>
                </a:solidFill>
                <a:latin typeface="Calibri"/>
              </a:rPr>
              <a:t>2.890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663440" y="4288536"/>
            <a:ext cx="1554480" cy="27432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0" u="none">
                <a:solidFill>
                  <a:srgbClr val="333333"/>
                </a:solidFill>
                <a:latin typeface="Calibri"/>
              </a:rPr>
              <a:t>1.676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217920" y="4288536"/>
            <a:ext cx="1828800" cy="27432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0" u="none">
                <a:solidFill>
                  <a:srgbClr val="333333"/>
                </a:solidFill>
                <a:latin typeface="Calibri"/>
              </a:rPr>
              <a:t>1.685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11480" y="4727448"/>
            <a:ext cx="7635240" cy="841248"/>
          </a:xfrm>
          <a:prstGeom prst="rect">
            <a:avLst/>
          </a:prstGeom>
          <a:solidFill>
            <a:srgbClr val="CFE6E9"/>
          </a:solidFill>
          <a:ln w="12700">
            <a:solidFill>
              <a:srgbClr val="0087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94360" y="4800600"/>
            <a:ext cx="7269480" cy="29260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200" b="1" i="0" u="none">
                <a:solidFill>
                  <a:srgbClr val="006B77"/>
                </a:solidFill>
                <a:latin typeface="Calibri"/>
              </a:rPr>
              <a:t>Cluster gesamt: 2.370 Mails (47 %) in 681 Mehrfach-Mail-Vorgaengen (selber Makler + Kunde)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94360" y="5129784"/>
            <a:ext cx="7269480" cy="402336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100" b="0" i="0" u="none">
                <a:solidFill>
                  <a:srgbClr val="333333"/>
                </a:solidFill>
                <a:latin typeface="Calibri"/>
              </a:rPr>
              <a:t>Schwerpunkt Komposit (1.573) &amp; Leben (357); in KV 399 — dort ist heute jede Mail ein eigener Vorgang, ohne VNR-Mapping.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229600" y="2240280"/>
            <a:ext cx="3611880" cy="3611880"/>
          </a:xfrm>
          <a:prstGeom prst="rect">
            <a:avLst/>
          </a:prstGeom>
          <a:solidFill>
            <a:srgbClr val="CFE6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8394192" y="2441448"/>
            <a:ext cx="384048" cy="384048"/>
          </a:xfrm>
          <a:prstGeom prst="ellipse">
            <a:avLst/>
          </a:prstGeom>
          <a:solidFill>
            <a:srgbClr val="FFFFFF"/>
          </a:solidFill>
          <a:ln w="22225">
            <a:solidFill>
              <a:srgbClr val="C86E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8394192" y="2441448"/>
            <a:ext cx="384048" cy="38404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500" b="1" i="0" u="none">
                <a:solidFill>
                  <a:srgbClr val="C86E10"/>
                </a:solidFill>
                <a:latin typeface="Calibri"/>
              </a:rPr>
              <a:t>!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887968" y="2404872"/>
            <a:ext cx="2834640" cy="29260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300" b="1" i="0" u="none">
                <a:solidFill>
                  <a:srgbClr val="333333"/>
                </a:solidFill>
                <a:latin typeface="Calibri"/>
              </a:rPr>
              <a:t>Erkenntnis: heute nicht auffindbar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887968" y="2697480"/>
            <a:ext cx="2788920" cy="1376172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100" b="0" i="0" u="none">
                <a:solidFill>
                  <a:srgbClr val="333333"/>
                </a:solidFill>
                <a:latin typeface="Calibri"/>
              </a:rPr>
              <a:t>Zusammenhaengende Vorgaenge (selber Makler / Kunde) und die Last je Makler lassen sich im Postkorb heute nicht gezielt finden — Sachbearbeiter arbeiten unsortiert Mail fuer Mail ab.</a:t>
            </a:r>
          </a:p>
        </p:txBody>
      </p:sp>
      <p:sp>
        <p:nvSpPr>
          <p:cNvPr id="61" name="Oval 60"/>
          <p:cNvSpPr/>
          <p:nvPr/>
        </p:nvSpPr>
        <p:spPr>
          <a:xfrm>
            <a:off x="8394192" y="4110228"/>
            <a:ext cx="384048" cy="384048"/>
          </a:xfrm>
          <a:prstGeom prst="ellipse">
            <a:avLst/>
          </a:prstGeom>
          <a:solidFill>
            <a:srgbClr val="FFFFFF"/>
          </a:solidFill>
          <a:ln w="22225">
            <a:solidFill>
              <a:srgbClr val="0087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8394192" y="4110228"/>
            <a:ext cx="384048" cy="38404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500" b="1" i="0" u="none">
                <a:solidFill>
                  <a:srgbClr val="008793"/>
                </a:solidFill>
                <a:latin typeface="Calibri"/>
              </a:rPr>
              <a:t>→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887968" y="4073652"/>
            <a:ext cx="2834640" cy="29260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300" b="1" i="0" u="none">
                <a:solidFill>
                  <a:srgbClr val="333333"/>
                </a:solidFill>
                <a:latin typeface="Calibri"/>
              </a:rPr>
              <a:t>Moeglichkeit: gezielt abarbeiten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887968" y="4366260"/>
            <a:ext cx="2788920" cy="1376172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100" b="0" i="0" u="none">
                <a:solidFill>
                  <a:srgbClr val="333333"/>
                </a:solidFill>
                <a:latin typeface="Calibri"/>
              </a:rPr>
              <a:t>Strukturierung + Excel erlauben Arbeitsvorrats-Steuerung: z. B. alle Vorgaenge eines Prio-Maklers (Top-5 = 57 %) oder alle Vorgaenge mit Cluster gebuendelt abarbeiten.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11480" y="5760720"/>
            <a:ext cx="11338560" cy="18288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800" b="0" i="1" u="none">
                <a:solidFill>
                  <a:srgbClr val="666666"/>
                </a:solidFill>
                <a:latin typeface="Calibri"/>
              </a:rPr>
              <a:t>Datenbasis: 5.034 Mails  |  Mo 13.04. – Mo 20.04.2026 (eine Kalenderwoche)  |  Eingangs-Postfaecher: 'Service Team Maklerauftraege' (94 %), 'Bestandsuebertragungen' (5 %), 12 weitere &lt;1 %  |  Analyse-Stand: 27.05.2026 (KI-Auswertung mit Claude Opus 4.7, 99 von 5.034 Mails mit Analyse-Fehler/Timeout)</a:t>
            </a:r>
          </a:p>
        </p:txBody>
      </p:sp>
      <p:sp>
        <p:nvSpPr>
          <p:cNvPr id="66" name="Rectangle 65"/>
          <p:cNvSpPr/>
          <p:nvPr/>
        </p:nvSpPr>
        <p:spPr>
          <a:xfrm>
            <a:off x="411480" y="5989320"/>
            <a:ext cx="11338560" cy="384048"/>
          </a:xfrm>
          <a:prstGeom prst="rect">
            <a:avLst/>
          </a:prstGeom>
          <a:solidFill>
            <a:srgbClr val="E306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594360" y="5989320"/>
            <a:ext cx="10972800" cy="38404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200" b="1" i="0" u="none">
                <a:solidFill>
                  <a:srgbClr val="FFFFFF"/>
                </a:solidFill>
                <a:latin typeface="Calibri"/>
              </a:rPr>
              <a:t>TAKE-AWAY:  57 % der Mails kommen von 5 Maklern, 47 % haengen in Clustern — heute im Postkorb nicht auffindbar. Strukturierung + Excel ermoeglichen gezieltes Abarbeiten nach Prio-Makler und Cluster.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