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IST-PROZESS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BÜ-Posteingang heute unstrukturiert; in der Mail enthaltene Daten bleiben ungenutzt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Sichtbare Folgen: Fehl-Routing (MV) und nicht erkannte, zusammengehoerige Vorgaenge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 AUS ANALYSE 13.04. – 20.04.*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559552"/>
            <a:ext cx="7635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* Vollerhebung BÜ-Posteingang einer Kalenderwoche: 5.034 Mails, KI-strukturiert (Claude Opus); 99 Mails mit Analyse-Fehler/Timeout.  MV = Maklervollmacht im Anhang.  Cluster = weitere Mails desselben Maklers zum selben Kunden.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008376"/>
            <a:ext cx="26060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908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008376"/>
            <a:ext cx="11430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008376"/>
            <a:ext cx="9144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Sonstige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337560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33756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17520" y="333756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6908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333756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333756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469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361645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" y="361645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(falscher Kanal)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361645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908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0" y="361645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361645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8660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3895344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3895344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1208" y="389534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17520" y="389534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908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389534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389534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8660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417423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1208" y="4174236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17520" y="4174236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6908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4174236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72200" y="4174236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8660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4453128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1480" y="4453128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208" y="4453128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17520" y="4453128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908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0" y="4453128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2200" y="4453128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8660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4732020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1480" y="4732020"/>
            <a:ext cx="91440" cy="278892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1208" y="473202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17520" y="473202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4.000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6908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1.147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0" y="473202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2.089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72200" y="473202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662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8660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102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1480" y="5010912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1208" y="501091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Top-5-Makler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17520" y="501091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2.890 (57 %)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6908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886 (68 %)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0" y="501091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1.489 (60 %)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72200" y="501091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505 (67 %)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8660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10 (2 %)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" y="5289804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21208" y="528980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in Cluster (weitere Mails Makler+Kunde)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17520" y="528980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2.370 (47 %)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6908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399 (31 %)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0" y="528980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1.573 (63 %)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72200" y="528980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357 (47 %)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08660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41 (9 %)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1480" y="557784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(240 / Wo → Hebel 1, 11a).  Cluster-Anteil &amp; Top-5-Makler → Hebel 2 (11b).  Sonstige = Sparte unklar / Spam (346 der Keine-BÜ ohne MV).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105" name="Oval 104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108" name="Oval 107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111" name="Oval 110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114" name="Oval 113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Wenige Makler, viele zusammenhängende Vorgänge — heute im Postkorb nicht auffindbar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Strukturierung + Excel ermöglichen gezieltes Abarbeiten (Prio-Makler, Cluster) statt blindem Postkorb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MENGENGERÜST: MAKLER &amp; CLUSTER*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33172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Vorgang = ein Makler-+-Kunde-Fall.  Ø Mails/Vorgang &gt; 1 → mehrere Mails zum selben Fall (Cluster).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11480" y="2587752"/>
          <a:ext cx="7635240" cy="25054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063240"/>
                <a:gridCol w="1508760"/>
                <a:gridCol w="1508760"/>
                <a:gridCol w="1554480"/>
              </a:tblGrid>
              <a:tr h="310896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Maklerpool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BÜ-Anfragen / Wo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Vorgänge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Ø Mails / Vorgang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JDC / Jung, DMS &amp; Cie.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1.538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913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1,68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Fonds Finanz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612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291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blau direkt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255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1,42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DEMA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1,27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vfm Service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1,51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Summe Top-5-Makler  (65 % der BÜ-Anfragen)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2.594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1.519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1,71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Sonstige Makler (Long-Tail)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1.406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982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1,43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Gesamt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4.000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2.495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1,60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411480" y="5276088"/>
            <a:ext cx="7635240" cy="868680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30952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Die 4.000 BÜ-Anfragen teilen sich auf in: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05272"/>
            <a:ext cx="708660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• 1.883 Einzelmails (47 %) — je ein einzelner 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861304"/>
            <a:ext cx="708660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• 2.117 Mails (53 %) zu nur 612 Vorgängen — selber Makler schreibt mehrfach zum selben Kunden (Cluster)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8" y="2304288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Split nach Segment (BÜ-Anfragen)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321040" y="2606040"/>
          <a:ext cx="3429000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43000"/>
                <a:gridCol w="1097280"/>
                <a:gridCol w="1188720"/>
              </a:tblGrid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Sparte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BÜ-Anfr.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Cluster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KV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1.147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354 (31 %)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Komposit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2.089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1.405 (67 %)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Leben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662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325 (49 %)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Sonstige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33 (32 %)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Gesamt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4.000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2.117 (53 %)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339328" y="4206240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9C060F"/>
                </a:solidFill>
                <a:latin typeface="Calibri"/>
              </a:rPr>
              <a:t>KV: kein VNR-Mapping → jede Mail = eigener Vorgang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40" y="4535424"/>
            <a:ext cx="3429000" cy="20116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21040" y="4535424"/>
            <a:ext cx="3429000" cy="310896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0768" y="4535424"/>
            <a:ext cx="3246120" cy="31089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0768" y="4919472"/>
            <a:ext cx="3209544" cy="1554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Viele dieser Vorgänge haben Gemeinsamkeiten (selber Makler, Cluster, Prio-Fall) und würden sich für eine Priorisierung eignen — in der heutigen Postkorb-Welt sind sie aber nicht filterbar.</a:t>
            </a:r>
          </a:p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Mit strukturierten Daten + Excel können Sachbearbeiter gezielt nach Prio-Makler oder Cluster filtern und gebündelt abarbeiten, statt unsortiert Mail für Mail.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5559552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* BÜ-Anfragen = Mails mit Status 'Neue BÜ' (4.000 / Wo). Vorgang = eindeutige Kombination Makler + Kunde. Cluster = Vorgang mit &gt; 1 BÜ-Anfrage-Mail in derselben Woche.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65 % der BÜ-Anfragen kommen von 5 Maklern, 53 % hängen in Clustern (KV ohne VNR-Mapping) — heute nicht auffindbar. Strukturierung + Excel ermöglichen gezieltes Abarbeiten nach Prio-Makler und Cluster.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HERAUSFORDERUNG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Vier zentrale Herausforderungen im Eingang verlagern den Aufwand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vollständig in die Sachbearbeitung; KI-Vorqualifizierung adressiert alle vier zugleich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HERAUSFORDERUNGEN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11480" y="2331720"/>
          <a:ext cx="7635240" cy="382219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3017520"/>
                <a:gridCol w="2697480"/>
              </a:tblGrid>
              <a:tr h="347472"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Prozessschritt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Herausforderung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Auswirkung — heute messbar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868680"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Eingang &amp; Routing</a:t>
                      </a:r>
                    </a:p>
                  </a:txBody>
                  <a:tcPr anchor="ctr">
                    <a:solidFill>
                      <a:srgbClr val="888888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Eingangsregel 'MV im Anhang → BÜ' greift unabhängig vom Status der 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240 Mails / Woche (210 Reminder + 30 fachfremd mit MV) landen fälschlich im BÜ-Postkorb — Fehlanlagen, Dubletten, Korrekturaufwand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Eingang &amp; Vorgangserzeugung</a:t>
                      </a:r>
                    </a:p>
                  </a:txBody>
                  <a:tcPr anchor="ctr">
                    <a:solidFill>
                      <a:srgbClr val="888888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Mail- und Anhang-Daten unstrukturiert — wichtige Felder (VNR, Pool, Status, MV) stehen an wechselnden Stellen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uneinheitliche, manuelle Suche je Vorgang; halbautomatische Indizierung nur über Schlagwort- und Negativlisten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</a:tr>
              <a:tr h="868680"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Eingang &amp; Vorgangserzeugung</a:t>
                      </a:r>
                    </a:p>
                  </a:txBody>
                  <a:tcPr anchor="ctr">
                    <a:solidFill>
                      <a:srgbClr val="888888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Vorgangscluster werden nicht gebildet (selber Makler + Kunde bleibt unverknüpft)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612 Cluster mit 2.117 Mails (53 %) werden einzeln bearbeitet; Top-5-Makler = 65 % der BÜ-Anfragen, aber nicht filterbar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Sichtung &amp; Vorqualifizierung</a:t>
                      </a:r>
                    </a:p>
                  </a:txBody>
                  <a:tcPr anchor="ctr">
                    <a:solidFill>
                      <a:srgbClr val="888888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Bewertende Vorqualifizierung fehlt (z. B. MV vorhanden, unterschrieben, vollumfänglich?)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 lIns="54000" rIns="54000" tIns="36000" bIns="36000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fachliche Einordnung erfolgt erst in der Sachbearbeitung; Steuerung nach Prio-Fall / Prio-Makler nicht möglich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Routing-Lücke: </a:t>
            </a:r>
            <a:r>
              <a:rPr sz="1100">
                <a:solidFill>
                  <a:srgbClr val="333333"/>
                </a:solidFill>
                <a:latin typeface="Calibri"/>
              </a:rPr>
              <a:t>240 Mails / Woche durch MV-Regel fehl-geroutet — KI liest den Status und routet korrekt.</a:t>
            </a:r>
          </a:p>
        </p:txBody>
      </p:sp>
      <p:sp>
        <p:nvSpPr>
          <p:cNvPr id="22" name="Oval 21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Unstrukturierte Daten: </a:t>
            </a:r>
            <a:r>
              <a:rPr sz="1100">
                <a:solidFill>
                  <a:srgbClr val="333333"/>
                </a:solidFill>
                <a:latin typeface="Calibri"/>
              </a:rPr>
              <a:t>Einheitliches KI-Beiblatt mit 50 Feldern macht die Daten an jeder Stelle gleich abrufbar.</a:t>
            </a:r>
          </a:p>
        </p:txBody>
      </p:sp>
      <p:sp>
        <p:nvSpPr>
          <p:cNvPr id="25" name="Oval 24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Fehlende Cluster-Sicht: </a:t>
            </a:r>
            <a:r>
              <a:rPr sz="1100">
                <a:solidFill>
                  <a:srgbClr val="333333"/>
                </a:solidFill>
                <a:latin typeface="Calibri"/>
              </a:rPr>
              <a:t>Makler + Kunde + VNR als Schlüssel bündeln Mails automatisch zu Vorgängen.</a:t>
            </a:r>
          </a:p>
        </p:txBody>
      </p:sp>
      <p:sp>
        <p:nvSpPr>
          <p:cNvPr id="28" name="Oval 27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Vorqualifizierung: </a:t>
            </a:r>
            <a:r>
              <a:rPr sz="1100">
                <a:solidFill>
                  <a:srgbClr val="333333"/>
                </a:solidFill>
                <a:latin typeface="Calibri"/>
              </a:rPr>
              <a:t>MV-Status (vorhanden / unterschrieben / vollumfänglich) wird im Eingang bewertet.</a:t>
            </a:r>
          </a:p>
        </p:txBody>
      </p:sp>
      <p:sp>
        <p:nvSpPr>
          <p:cNvPr id="31" name="Oval 30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Effekt: </a:t>
            </a:r>
            <a:r>
              <a:rPr sz="1100">
                <a:solidFill>
                  <a:srgbClr val="333333"/>
                </a:solidFill>
                <a:latin typeface="Calibri"/>
              </a:rPr>
              <a:t>Sachbearbeitung erhält strukturierte, vorqualifizierte, gebündelte Vorgänge — Aufwand sinkt.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Strukturierung + Vorqualifizierung im Eingangsmanagement adressiert alle vier Herausforderungen zugleich — und schafft die Voraussetzung für einen nachgelagerten Prüfbot.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LÖSUNGSOPTIONEN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KI-Strukturierung jeder Eingangsmail wirkt auf Routing &amp; Arbeitsvorrats-Steuerung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Empfehlung: Strukturierungs-Bot als Zielarchitektur; PoC/GPT als Interim, Bot später ergänzbar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VIER LÖSUNGSWEGE IM VERGLEICH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27660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2766060" cy="45720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240280"/>
            <a:ext cx="276606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Aufbau</a:t>
            </a:r>
          </a:p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Makler-Formular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697480"/>
            <a:ext cx="2766060" cy="29260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697480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Nicht empfohlen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990088"/>
            <a:ext cx="2766060" cy="50292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3026664"/>
            <a:ext cx="2619756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333333"/>
                </a:solidFill>
                <a:latin typeface="Calibri"/>
              </a:rPr>
              <a:t>Standardisiertes Web-Formular, das Makler statt Mail ausfüllen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493008"/>
            <a:ext cx="2766060" cy="457200"/>
          </a:xfrm>
          <a:prstGeom prst="rect">
            <a:avLst/>
          </a:prstGeom>
          <a:solidFill>
            <a:srgbClr val="E8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352958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109C55"/>
                </a:solidFill>
                <a:latin typeface="Calibri"/>
              </a:rPr>
              <a:t>Pro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373075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Strukturierte Daten ab Quelle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50208"/>
            <a:ext cx="2766060" cy="822960"/>
          </a:xfrm>
          <a:prstGeom prst="rect">
            <a:avLst/>
          </a:prstGeom>
          <a:solidFill>
            <a:srgbClr val="FB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398678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9C060F"/>
                </a:solidFill>
                <a:latin typeface="Calibri"/>
              </a:rPr>
              <a:t>Contra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" y="418795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Hoher Change-Management-Aufwand bei Maklern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Maklerprozesse heute etabliert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" y="455371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Technische Anbindung aufwändig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468112"/>
            <a:ext cx="2766060" cy="29260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5468112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nicht weiter verfolgen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68980" y="2240280"/>
            <a:ext cx="27660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8980" y="2240280"/>
            <a:ext cx="2766060" cy="45720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68980" y="2240280"/>
            <a:ext cx="276606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Nutzung</a:t>
            </a:r>
          </a:p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PoC / ERGO-GPT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68980" y="2697480"/>
            <a:ext cx="2766060" cy="292608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68980" y="2697480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Interim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68980" y="2990088"/>
            <a:ext cx="2766060" cy="50292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2132" y="3026664"/>
            <a:ext cx="2619756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333333"/>
                </a:solidFill>
                <a:latin typeface="Calibri"/>
              </a:rPr>
              <a:t>KI-Mailvorqualifizierung via ERGO-GPT (halbautomatisch)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68980" y="3493008"/>
            <a:ext cx="2766060" cy="822960"/>
          </a:xfrm>
          <a:prstGeom prst="rect">
            <a:avLst/>
          </a:prstGeom>
          <a:solidFill>
            <a:srgbClr val="E8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2132" y="352958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109C55"/>
                </a:solidFill>
                <a:latin typeface="Calibri"/>
              </a:rPr>
              <a:t>Pro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42132" y="373075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PoC validiert, sofort einsetzbar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42132" y="391363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Schnelle Wirkung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42132" y="409651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Excel + KI-Deckblatt bereits akzeptiert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68980" y="4315968"/>
            <a:ext cx="2766060" cy="640080"/>
          </a:xfrm>
          <a:prstGeom prst="rect">
            <a:avLst/>
          </a:prstGeom>
          <a:solidFill>
            <a:srgbClr val="FB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2132" y="435254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9C060F"/>
                </a:solidFill>
                <a:latin typeface="Calibri"/>
              </a:rPr>
              <a:t>Contra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42132" y="455371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Halbautomatisch — Kapazitätsbindung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42132" y="473659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Temporäre Lösung bis Bot live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68980" y="5468112"/>
            <a:ext cx="2766060" cy="292608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68980" y="5468112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Interim bis Bot live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26480" y="2240280"/>
            <a:ext cx="27660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26480" y="2240280"/>
            <a:ext cx="2766060" cy="45720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2240280"/>
            <a:ext cx="276606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Aufbau</a:t>
            </a:r>
          </a:p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Strukturierungs-Bot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2697480"/>
            <a:ext cx="2766060" cy="292608"/>
          </a:xfrm>
          <a:prstGeom prst="rect">
            <a:avLst/>
          </a:prstGeom>
          <a:solidFill>
            <a:srgbClr val="109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26480" y="2697480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EMPFEHLUNG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26480" y="2990088"/>
            <a:ext cx="2766060" cy="50292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2" y="3026664"/>
            <a:ext cx="2619756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333333"/>
                </a:solidFill>
                <a:latin typeface="Calibri"/>
              </a:rPr>
              <a:t>Vollautomatischer KI-Bot mit Beiblatt vor / nach Postkorb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26480" y="3493008"/>
            <a:ext cx="2766060" cy="1005840"/>
          </a:xfrm>
          <a:prstGeom prst="rect">
            <a:avLst/>
          </a:prstGeom>
          <a:solidFill>
            <a:srgbClr val="E8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2" y="352958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109C55"/>
                </a:solidFill>
                <a:latin typeface="Calibri"/>
              </a:rPr>
              <a:t>Pro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99632" y="373075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Vollautomatisch — keine Kapazitätsbindung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9632" y="391363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Greift auf Routing + Cluster zugleich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99632" y="409651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Grundlage für Reporting + Prüfbot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99632" y="427939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Voraussetzung für Phase-2-Automatisierung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26480" y="4498848"/>
            <a:ext cx="2766060" cy="640080"/>
          </a:xfrm>
          <a:prstGeom prst="rect">
            <a:avLst/>
          </a:prstGeom>
          <a:solidFill>
            <a:srgbClr val="FB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99632" y="453542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9C060F"/>
                </a:solidFill>
                <a:latin typeface="Calibri"/>
              </a:rPr>
              <a:t>Contra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9632" y="473659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Aufbau- und Anbindungsaufwand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99632" y="491947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BluePrism-Bot-Anbindung notwendig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26480" y="5468112"/>
            <a:ext cx="2766060" cy="292608"/>
          </a:xfrm>
          <a:prstGeom prst="rect">
            <a:avLst/>
          </a:prstGeom>
          <a:solidFill>
            <a:srgbClr val="109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26480" y="5468112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Zielarchitektur — Q4 starten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983980" y="2240280"/>
            <a:ext cx="27660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83980" y="2240280"/>
            <a:ext cx="2766060" cy="45720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983980" y="2240280"/>
            <a:ext cx="276606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Nutzung</a:t>
            </a:r>
          </a:p>
          <a:p>
            <a:pPr algn="ctr"/>
            <a:r>
              <a:rPr sz="1200" b="1" i="0" u="none">
                <a:solidFill>
                  <a:srgbClr val="FFFFFF"/>
                </a:solidFill>
                <a:latin typeface="Calibri"/>
              </a:rPr>
              <a:t>Celonis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983980" y="2697480"/>
            <a:ext cx="2766060" cy="292608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83980" y="2697480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TBD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983980" y="2990088"/>
            <a:ext cx="2766060" cy="50292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057132" y="3026664"/>
            <a:ext cx="2619756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333333"/>
                </a:solidFill>
                <a:latin typeface="Calibri"/>
              </a:rPr>
              <a:t>Process Mining + Automatisierung auf bestehender Celonis-Lösung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983980" y="3493008"/>
            <a:ext cx="2766060" cy="457200"/>
          </a:xfrm>
          <a:prstGeom prst="rect">
            <a:avLst/>
          </a:prstGeom>
          <a:solidFill>
            <a:srgbClr val="E8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057132" y="352958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109C55"/>
                </a:solidFill>
                <a:latin typeface="Calibri"/>
              </a:rPr>
              <a:t>Pro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57132" y="373075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✓  ERGO-Standard, integriert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983980" y="3950208"/>
            <a:ext cx="2766060" cy="822960"/>
          </a:xfrm>
          <a:prstGeom prst="rect">
            <a:avLst/>
          </a:prstGeom>
          <a:solidFill>
            <a:srgbClr val="FB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57132" y="3986784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9C060F"/>
                </a:solidFill>
                <a:latin typeface="Calibri"/>
              </a:rPr>
              <a:t>Contra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57132" y="418795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Technische Anbindung aufwändig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57132" y="437083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Kein Effekt auf aktuellen Rückstand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57132" y="4553712"/>
            <a:ext cx="2619756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✗  Lösung frühestens 2028 verfügbar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83980" y="5468112"/>
            <a:ext cx="2766060" cy="292608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83980" y="5468112"/>
            <a:ext cx="276606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später ggf. ergänzend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Empfehlung: Strukturierungs-Bot als Zielarchitektur (Q4). Bis dahin PoC/ERGO-GPT als Interim-Lösung; Celonis später ggf. ergänzend, Makler-Formular nicht weiter verfolgen.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ARCHITEKTUR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Strukturierungs-Bot vor dem Postkorb über neues Gruppenpostfach (Option 1) — Fallback Bot im Postkorb (Option 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Beide Optionen liefern Vorqualifizierung und Cluster-Sicht; Option 1 greift zusätzlich ins Routing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ARCHITEKTUR — EIN BOT, ZWEI ANDOCKPUNKTE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057400"/>
            <a:ext cx="1133856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 u="none">
                <a:solidFill>
                  <a:srgbClr val="666666"/>
                </a:solidFill>
                <a:latin typeface="Calibri"/>
              </a:rPr>
              <a:t>Aktueller Prozess heute (Referenz)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2286000"/>
            <a:ext cx="1758696" cy="594360"/>
          </a:xfrm>
          <a:prstGeom prst="rect">
            <a:avLst/>
          </a:prstGeom>
          <a:solidFill>
            <a:srgbClr val="F1F1F1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2286000"/>
            <a:ext cx="1758696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📧 Eingang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188464" y="2528316"/>
            <a:ext cx="91440" cy="109728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52472" y="2286000"/>
            <a:ext cx="1758696" cy="594360"/>
          </a:xfrm>
          <a:prstGeom prst="rect">
            <a:avLst/>
          </a:prstGeom>
          <a:solidFill>
            <a:srgbClr val="F1F1F1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2472" y="2286000"/>
            <a:ext cx="1758696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Routing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002024" y="2528316"/>
            <a:ext cx="91440" cy="109728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66032" y="2286000"/>
            <a:ext cx="1758696" cy="594360"/>
          </a:xfrm>
          <a:prstGeom prst="rect">
            <a:avLst/>
          </a:prstGeom>
          <a:solidFill>
            <a:srgbClr val="F1F1F1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6032" y="2286000"/>
            <a:ext cx="1758696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Indizierung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815584" y="2528316"/>
            <a:ext cx="91440" cy="109728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79592" y="2286000"/>
            <a:ext cx="1758696" cy="594360"/>
          </a:xfrm>
          <a:prstGeom prst="rect">
            <a:avLst/>
          </a:prstGeom>
          <a:solidFill>
            <a:srgbClr val="F1F1F1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9592" y="2286000"/>
            <a:ext cx="1758696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Postkorb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629144" y="2528316"/>
            <a:ext cx="91440" cy="109728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3152" y="2286000"/>
            <a:ext cx="1758696" cy="594360"/>
          </a:xfrm>
          <a:prstGeom prst="rect">
            <a:avLst/>
          </a:prstGeom>
          <a:solidFill>
            <a:srgbClr val="F1F1F1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93152" y="2286000"/>
            <a:ext cx="1758696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Sachbearbeitung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442704" y="2528316"/>
            <a:ext cx="91440" cy="109728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06712" y="2286000"/>
            <a:ext cx="1758696" cy="594360"/>
          </a:xfrm>
          <a:prstGeom prst="rect">
            <a:avLst/>
          </a:prstGeom>
          <a:solidFill>
            <a:srgbClr val="F1F1F1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6712" y="2286000"/>
            <a:ext cx="1758696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BÜ-Bots 72H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2971800"/>
            <a:ext cx="11338560" cy="21945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↓  Wo dockt der Strukturierungs-Bot an?  (gleicher Bot in beiden Optionen)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300984"/>
            <a:ext cx="5577840" cy="2697480"/>
          </a:xfrm>
          <a:prstGeom prst="rect">
            <a:avLst/>
          </a:prstGeom>
          <a:solidFill>
            <a:srgbClr val="FFFFFF"/>
          </a:solidFill>
          <a:ln w="25400">
            <a:solidFill>
              <a:srgbClr val="109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3300984"/>
            <a:ext cx="5577840" cy="365760"/>
          </a:xfrm>
          <a:prstGeom prst="rect">
            <a:avLst/>
          </a:prstGeom>
          <a:solidFill>
            <a:srgbClr val="109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300984"/>
            <a:ext cx="53035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✓  OPTION 1 · PRÄFERENZ  —  Bot VOR Postkorb (neues Gruppenpostfach)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758184"/>
            <a:ext cx="5303520" cy="228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758184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📧 Eingang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023360"/>
            <a:ext cx="5303520" cy="228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023360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Routing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288536"/>
            <a:ext cx="5303520" cy="228600"/>
          </a:xfrm>
          <a:prstGeom prst="rect">
            <a:avLst/>
          </a:prstGeom>
          <a:solidFill>
            <a:srgbClr val="E8F5E8"/>
          </a:solidFill>
          <a:ln w="10160">
            <a:solidFill>
              <a:srgbClr val="109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4288536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333333"/>
                </a:solidFill>
                <a:latin typeface="Calibri"/>
              </a:rPr>
              <a:t>★ Neues Gruppenpostfach @KI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553712"/>
            <a:ext cx="5303520" cy="228600"/>
          </a:xfrm>
          <a:prstGeom prst="rect">
            <a:avLst/>
          </a:prstGeom>
          <a:solidFill>
            <a:srgbClr val="E8F5E8"/>
          </a:solidFill>
          <a:ln w="10160">
            <a:solidFill>
              <a:srgbClr val="109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4553712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333333"/>
                </a:solidFill>
                <a:latin typeface="Calibri"/>
              </a:rPr>
              <a:t>★ Strukturierungs-Bot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818888"/>
            <a:ext cx="5303520" cy="228600"/>
          </a:xfrm>
          <a:prstGeom prst="rect">
            <a:avLst/>
          </a:prstGeom>
          <a:solidFill>
            <a:srgbClr val="E8F5E8"/>
          </a:solidFill>
          <a:ln w="10160">
            <a:solidFill>
              <a:srgbClr val="109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4818888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333333"/>
                </a:solidFill>
                <a:latin typeface="Calibri"/>
              </a:rPr>
              <a:t>★ Indizierung + KI-Notiz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084064"/>
            <a:ext cx="5303520" cy="228600"/>
          </a:xfrm>
          <a:prstGeom prst="rect">
            <a:avLst/>
          </a:prstGeom>
          <a:solidFill>
            <a:srgbClr val="E8F5E8"/>
          </a:solidFill>
          <a:ln w="10160">
            <a:solidFill>
              <a:srgbClr val="109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5084064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333333"/>
                </a:solidFill>
                <a:latin typeface="Calibri"/>
              </a:rPr>
              <a:t>★ Postkorb + Cluster-Sicht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349240"/>
            <a:ext cx="5303520" cy="228600"/>
          </a:xfrm>
          <a:prstGeom prst="rect">
            <a:avLst/>
          </a:prstGeom>
          <a:solidFill>
            <a:srgbClr val="E8F5E8"/>
          </a:solidFill>
          <a:ln w="10160">
            <a:solidFill>
              <a:srgbClr val="109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5349240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333333"/>
                </a:solidFill>
                <a:latin typeface="Calibri"/>
              </a:rPr>
              <a:t>★ Sachbearbeitung → BÜ-Bots + Prüfbot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6072" y="5687568"/>
            <a:ext cx="137160" cy="1828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 i="0" u="none">
                <a:solidFill>
                  <a:srgbClr val="109C55"/>
                </a:solidFill>
                <a:latin typeface="Calibr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664" y="5687568"/>
            <a:ext cx="5120640" cy="1828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Routing wird verbessert – 240 Fehl-Routings pro Woche fallen weg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" y="5870448"/>
            <a:ext cx="137160" cy="1828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 i="0" u="none">
                <a:solidFill>
                  <a:srgbClr val="109C55"/>
                </a:solidFill>
                <a:latin typeface="Calibr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" y="5870448"/>
            <a:ext cx="5120640" cy="1828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Postkorb wird sauberer (nur echte BÜ-Anfragen)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6072" y="6053328"/>
            <a:ext cx="137160" cy="1828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 i="0" u="none">
                <a:solidFill>
                  <a:srgbClr val="109C55"/>
                </a:solidFill>
                <a:latin typeface="Calibr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6053328"/>
            <a:ext cx="5120640" cy="1828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Adressiert alle vier Herausforderungen aus Folie 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3300984"/>
            <a:ext cx="5577840" cy="26974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72200" y="3300984"/>
            <a:ext cx="5577840" cy="36576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60" y="3300984"/>
            <a:ext cx="53035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⚠  OPTION 2 · FALLBACK  —  Bot IM Postkorb (falls neues GP nicht möglich)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3758184"/>
            <a:ext cx="5303520" cy="228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3758184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📧 Eingang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4023360"/>
            <a:ext cx="5303520" cy="228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55080" y="4023360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Routing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4288536"/>
            <a:ext cx="5303520" cy="228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55080" y="4288536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Indizierung (wie heute)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4553712"/>
            <a:ext cx="5303520" cy="228600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55080" y="4553712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Postkorb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09360" y="4818888"/>
            <a:ext cx="5303520" cy="228600"/>
          </a:xfrm>
          <a:prstGeom prst="rect">
            <a:avLst/>
          </a:prstGeom>
          <a:solidFill>
            <a:srgbClr val="E8F5E8"/>
          </a:solidFill>
          <a:ln w="10160">
            <a:solidFill>
              <a:srgbClr val="109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55080" y="4818888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333333"/>
                </a:solidFill>
                <a:latin typeface="Calibri"/>
              </a:rPr>
              <a:t>★ Strukturierungs-Bot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09360" y="5084064"/>
            <a:ext cx="5303520" cy="228600"/>
          </a:xfrm>
          <a:prstGeom prst="rect">
            <a:avLst/>
          </a:prstGeom>
          <a:solidFill>
            <a:srgbClr val="E8F5E8"/>
          </a:solidFill>
          <a:ln w="10160">
            <a:solidFill>
              <a:srgbClr val="109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55080" y="5084064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333333"/>
                </a:solidFill>
                <a:latin typeface="Calibri"/>
              </a:rPr>
              <a:t>★ Sachbearbeitung (informiert) → BÜ-Bots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5349240"/>
            <a:ext cx="5303520" cy="228600"/>
          </a:xfrm>
          <a:prstGeom prst="rect">
            <a:avLst/>
          </a:prstGeom>
          <a:solidFill>
            <a:srgbClr val="E8F5E8"/>
          </a:solidFill>
          <a:ln w="10160">
            <a:solidFill>
              <a:srgbClr val="109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55080" y="5349240"/>
            <a:ext cx="5212080" cy="228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333333"/>
                </a:solidFill>
                <a:latin typeface="Calibri"/>
              </a:rPr>
              <a:t>★ (später nachrüstbar: Prüfbot)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36792" y="5687568"/>
            <a:ext cx="137160" cy="1828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 i="0" u="none">
                <a:solidFill>
                  <a:srgbClr val="E30613"/>
                </a:solidFill>
                <a:latin typeface="Calibri"/>
              </a:rPr>
              <a:t>✗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01384" y="5687568"/>
            <a:ext cx="5120640" cy="1828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Routing bleibt wie heute – 240 Fehl-Routings bleiben im Postkorb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6792" y="5870448"/>
            <a:ext cx="137160" cy="1828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 i="0" u="none">
                <a:solidFill>
                  <a:srgbClr val="109C55"/>
                </a:solidFill>
                <a:latin typeface="Calibri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01384" y="5870448"/>
            <a:ext cx="5120640" cy="1828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Cluster-Sicht und Vorqualifizierung sind trotzdem verfügbar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36792" y="6053328"/>
            <a:ext cx="137160" cy="1828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 i="0" u="none">
                <a:solidFill>
                  <a:srgbClr val="109C55"/>
                </a:solidFill>
                <a:latin typeface="Calibri"/>
              </a:rPr>
              <a:t>✓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01384" y="6053328"/>
            <a:ext cx="5120640" cy="1828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Adressiert drei der vier Herausforderungen (Routing fehlt)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6071616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★  = neue Komponenten durch KI-Strukturierung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Option 1 ist die erste Wahl: der Bot greift zusätzlich ins Routing ein (240 MV-Fehlrouter pro Woche). Option 2 bleibt umsetzbar, falls ein neues Gruppenpostfach organisatorisch nicht durchsetzbar 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PRAXIS-SKIZZE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So sieht das in der Praxis aus: eine Mail wird zum KI-Beiblatt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liefert drei Outputs für Routing, Steuerung und automatisierte Prüfung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EINE MAIL — DREI OUTPUTS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31720"/>
            <a:ext cx="269748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331720"/>
            <a:ext cx="269748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331720"/>
            <a:ext cx="2697480" cy="29260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Eingehende 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715768"/>
            <a:ext cx="247802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006B77"/>
                </a:solidFill>
                <a:latin typeface="Calibri"/>
              </a:rPr>
              <a:t>Von: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2898648"/>
            <a:ext cx="2478024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bestandsuebertragung@jungdms.de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3227832"/>
            <a:ext cx="247802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006B77"/>
                </a:solidFill>
                <a:latin typeface="Calibri"/>
              </a:rPr>
              <a:t>An: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3410712"/>
            <a:ext cx="2478024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Service Team Maklerauftraege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3739896"/>
            <a:ext cx="247802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006B77"/>
                </a:solidFill>
                <a:latin typeface="Calibri"/>
              </a:rPr>
              <a:t>Betreff: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" y="3922776"/>
            <a:ext cx="2478024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Bestandsübertragung für Borleis, Nicole;</a:t>
            </a:r>
          </a:p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VSNr. SV98161620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" y="4251960"/>
            <a:ext cx="247802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006B77"/>
                </a:solidFill>
                <a:latin typeface="Calibri"/>
              </a:rPr>
              <a:t>Anhang: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" y="4434840"/>
            <a:ext cx="2478024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Maklervertrag.pdf (256 KB)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4764024"/>
            <a:ext cx="247802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1" i="0" u="none">
                <a:solidFill>
                  <a:srgbClr val="006B77"/>
                </a:solidFill>
                <a:latin typeface="Calibri"/>
              </a:rPr>
              <a:t>Inhalt: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" y="4946904"/>
            <a:ext cx="2478024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JDC / Jung, DMS &amp; Cie. bittet um Bestandsübertragung des Rechtsschutzvertrags SV98161620 der Kundin Nicole Borleis; Maklervollmacht von Finanzguru liegt bei.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0" y="3543300"/>
            <a:ext cx="2103120" cy="914400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0" y="3634740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KI-Layer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3927348"/>
            <a:ext cx="21031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 i="0" u="none">
                <a:solidFill>
                  <a:srgbClr val="FFFFFF"/>
                </a:solidFill>
                <a:latin typeface="Calibri"/>
              </a:rPr>
              <a:t>Strukturierung</a:t>
            </a:r>
          </a:p>
          <a:p>
            <a:pPr algn="ctr"/>
            <a:r>
              <a:rPr sz="1000" b="0" i="0" u="none">
                <a:solidFill>
                  <a:srgbClr val="FFFFFF"/>
                </a:solidFill>
                <a:latin typeface="Calibri"/>
              </a:rPr>
              <a:t>Claude Opus 4.7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3127248" y="3854196"/>
            <a:ext cx="146304" cy="292608"/>
          </a:xfrm>
          <a:prstGeom prst="rightArrow">
            <a:avLst/>
          </a:prstGeom>
          <a:solidFill>
            <a:srgbClr val="008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60720" y="2327148"/>
            <a:ext cx="5989320" cy="1005840"/>
          </a:xfrm>
          <a:prstGeom prst="rect">
            <a:avLst/>
          </a:prstGeom>
          <a:solidFill>
            <a:srgbClr val="FFFFFF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60720" y="2327148"/>
            <a:ext cx="164592" cy="100584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0" y="2418588"/>
            <a:ext cx="56235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E30613"/>
                </a:solidFill>
                <a:latin typeface="Calibri"/>
              </a:rPr>
              <a:t>1  Routing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2711196"/>
            <a:ext cx="562356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Status = Neue BÜ, Sparte = Komposit, MV vorhanden ✓ → korrekter BÜ-Postkorb (kein Fehl-Routing)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413248" y="2720340"/>
            <a:ext cx="329184" cy="219456"/>
          </a:xfrm>
          <a:prstGeom prst="rightArrow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720" y="3497580"/>
            <a:ext cx="5989320" cy="10058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60720" y="3497580"/>
            <a:ext cx="164592" cy="1005840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3589020"/>
            <a:ext cx="56235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8793"/>
                </a:solidFill>
                <a:latin typeface="Calibri"/>
              </a:rPr>
              <a:t>2  Cluster / Steuerung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3881628"/>
            <a:ext cx="562356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Makler JDC + Kunde Borleis + VNR SV98161620 → Excel-Cluster aktualisiert; Bearbeiter sieht offene Vorgänge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413248" y="3890772"/>
            <a:ext cx="329184" cy="219456"/>
          </a:xfrm>
          <a:prstGeom prst="rightArrow">
            <a:avLst/>
          </a:prstGeom>
          <a:solidFill>
            <a:srgbClr val="008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0720" y="4668012"/>
            <a:ext cx="5989320" cy="1005840"/>
          </a:xfrm>
          <a:prstGeom prst="rect">
            <a:avLst/>
          </a:prstGeom>
          <a:solidFill>
            <a:srgbClr val="FFFFFF"/>
          </a:solidFill>
          <a:ln w="15875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60720" y="4668012"/>
            <a:ext cx="164592" cy="100584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0" y="4759452"/>
            <a:ext cx="56235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C86E10"/>
                </a:solidFill>
                <a:latin typeface="Calibri"/>
              </a:rPr>
              <a:t>3  Prüfbot / Automatisierung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35040" y="5052060"/>
            <a:ext cx="562356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KI-Beiblatt liefert 50 Felder maschinenlesbar → nachgelagerter Bot prüft Mindestanforderungen (BiPRO/Dunkelverarbeitung)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5413248" y="5061204"/>
            <a:ext cx="329184" cy="219456"/>
          </a:xfrm>
          <a:prstGeom prst="rightArrow">
            <a:avLst/>
          </a:prstGeom>
          <a:solidFill>
            <a:srgbClr val="C86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5760720"/>
            <a:ext cx="4983480" cy="868680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" y="5797296"/>
            <a:ext cx="47640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 u="none">
                <a:solidFill>
                  <a:srgbClr val="006B77"/>
                </a:solidFill>
                <a:latin typeface="Calibri"/>
              </a:rPr>
              <a:t>KI-Beiblatt (Auszug aus 50 Feldern)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8" y="6053328"/>
            <a:ext cx="4764024" cy="53949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333333"/>
                </a:solidFill>
                <a:latin typeface="Calibri"/>
              </a:rPr>
              <a:t>Status: Neue BÜ  ·  Sparte: Komposit  ·  Maklerpool: JDC  ·  Untervermittler: Finanzguru  ·  VNR: SV98161620  ·  Kunde: Borleis Nicole  ·  MV vorhanden: ✓  ·  Unterschrift Kunde: ✓  ·  Unterschrift Makler: ✓  ·  Cluster: ja (3 Mails)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jeder Eingangsmail entsteht ein strukturiertes KI-Beiblatt — drei direkt nutzbare Outputs: richtiges Postfach, Cluster-Sicht für die Steuerung, maschinenlesbare Basis für den Prüfbot.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