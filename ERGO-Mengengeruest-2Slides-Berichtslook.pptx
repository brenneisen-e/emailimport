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Das Mengengeruest einer Woche zeigt zwei Hebel: jede 5. Mail ist keine BÜ (Routing)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die echten BÜ-Mails buendeln sich zu Vorgaengen (Clustering / Arbeitsvorrats-Steuerung)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813048"/>
            <a:ext cx="2103120" cy="9144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904488"/>
            <a:ext cx="210312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2800" b="1" i="0" u="none">
                <a:solidFill>
                  <a:srgbClr val="FFFFFF"/>
                </a:solidFill>
                <a:latin typeface="Calibri"/>
              </a:rPr>
              <a:t>5.034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4343400"/>
            <a:ext cx="210312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 u="none">
                <a:solidFill>
                  <a:srgbClr val="FFFFFF"/>
                </a:solidFill>
                <a:latin typeface="Calibri"/>
              </a:rPr>
              <a:t>Mails / Woche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3035808"/>
            <a:ext cx="5029200" cy="1188720"/>
          </a:xfrm>
          <a:prstGeom prst="rect">
            <a:avLst/>
          </a:prstGeom>
          <a:solidFill>
            <a:srgbClr val="FDE2C4"/>
          </a:solidFill>
          <a:ln w="15875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0" y="3090672"/>
            <a:ext cx="46634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C86E10"/>
                </a:solidFill>
                <a:latin typeface="Calibri"/>
              </a:rPr>
              <a:t>1.034 Nicht-BÜ-Mails  (20,5 %) – nach Segment: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3401568"/>
            <a:ext cx="4663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KV 161   ·   Spam/Sparten-leer 331   ·   Komposit 413   ·   Leben 93   ·   Sonst 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675888"/>
            <a:ext cx="4663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Bekanntes Fehlrouting v.a. KV; Spam/leer trivial; Komposit-Reminder laeuft heute schon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3931920"/>
            <a:ext cx="4663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9C060F"/>
                </a:solidFill>
                <a:latin typeface="Calibri"/>
              </a:rPr>
              <a:t>→  HEBEL 1: Routing / Vorqualifizierung  (Folie 11a)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17520" y="4361688"/>
            <a:ext cx="5029200" cy="1188720"/>
          </a:xfrm>
          <a:prstGeom prst="rect">
            <a:avLst/>
          </a:prstGeom>
          <a:solidFill>
            <a:srgbClr val="CFE6E9"/>
          </a:solidFill>
          <a:ln w="1587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0" y="4434840"/>
            <a:ext cx="4663440" cy="31089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 u="none">
                <a:solidFill>
                  <a:srgbClr val="006B77"/>
                </a:solidFill>
                <a:latin typeface="Calibri"/>
              </a:rPr>
              <a:t>4.000 BÜ-Anfrage-Mails  (79,5 %)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4773168"/>
            <a:ext cx="466344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buendeln sich zu nur 2.495 Vorgaengen  ·  619 Kunden mit mehreren Vertraegen beim selben Makler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5257800"/>
            <a:ext cx="46634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9C060F"/>
                </a:solidFill>
                <a:latin typeface="Calibri"/>
              </a:rPr>
              <a:t>→  HEBEL 2: Clustering / Arbeitsvorrats-Steuerung  (Folie 11b)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514600" y="4041648"/>
            <a:ext cx="457200" cy="274320"/>
          </a:xfrm>
          <a:prstGeom prst="rightArrow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ight Arrow 45"/>
          <p:cNvSpPr/>
          <p:nvPr/>
        </p:nvSpPr>
        <p:spPr>
          <a:xfrm>
            <a:off x="2514600" y="4498848"/>
            <a:ext cx="457200" cy="274320"/>
          </a:xfrm>
          <a:prstGeom prst="rightArrow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51" name="Oval 50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54" name="Oval 53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sind keine neue BÜ – bekanntes Fehlrouting v.a. in KV (161), Spam/leer (331) trivial filterbar.</a:t>
            </a:r>
          </a:p>
        </p:txBody>
      </p:sp>
      <p:sp>
        <p:nvSpPr>
          <p:cNvPr id="57" name="Oval 56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60" name="Oval 59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folgen zwei Hebel: Nicht-BÜ-Mails → besseres Routing, bekanntes Fehlrouting v.a. in KV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1: Strukturierte Vorqualifizierung verbessert das Routing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groesste Luecke ist KV; Spam/Sparten-leer trivial, Komposit-Reminder laeuft heute schon gut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Aufteilung der 1.034 Nicht-BÜ-Mails / Woche nach Sparte – heutiger Filter-Status und KI-Hebel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36576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6060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606040"/>
            <a:ext cx="105156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Posteingang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06040"/>
            <a:ext cx="9601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Keine BÜ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606040"/>
            <a:ext cx="9601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Reminder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2606040"/>
            <a:ext cx="14630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Heutige Filterung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60604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Verbesserungs-Hebel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971800"/>
            <a:ext cx="76352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2971800"/>
            <a:ext cx="109728" cy="411480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2971800"/>
            <a:ext cx="1399032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2971800"/>
            <a:ext cx="10515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2.502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297180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192 (8 %)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97180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221 (9 %)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2971800"/>
            <a:ext cx="1463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Reminder bereits gut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044952"/>
            <a:ext cx="1600200" cy="265176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297180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192 Keine BÜ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383280"/>
            <a:ext cx="7635240" cy="41148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3383280"/>
            <a:ext cx="109728" cy="41148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1208" y="3383280"/>
            <a:ext cx="1399032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3383280"/>
            <a:ext cx="10515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1.308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71800" y="338328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112 (9 %)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38328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49 (4 %)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3383280"/>
            <a:ext cx="1463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schwach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456432"/>
            <a:ext cx="1600200" cy="265176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38328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161 Mails (groesster Hebel)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794760"/>
            <a:ext cx="76352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1480" y="3794760"/>
            <a:ext cx="109728" cy="411480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1208" y="3794760"/>
            <a:ext cx="1399032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0240" y="3794760"/>
            <a:ext cx="10515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755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71800" y="379476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 (7 %)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79476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38 (5 %)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3794760"/>
            <a:ext cx="1463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teilweise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3867912"/>
            <a:ext cx="1600200" cy="265176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379476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93 Mails (mittel)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206240"/>
            <a:ext cx="7635240" cy="41148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206240"/>
            <a:ext cx="109728" cy="411480"/>
          </a:xfrm>
          <a:prstGeom prst="rect">
            <a:avLst/>
          </a:prstGeom>
          <a:solidFill>
            <a:srgbClr val="109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1208" y="4206240"/>
            <a:ext cx="1399032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Sparten-leer/Spam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206240"/>
            <a:ext cx="10515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71800" y="420624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331 (100 %)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20624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92040" y="4206240"/>
            <a:ext cx="1463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kaum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4279392"/>
            <a:ext cx="1600200" cy="265176"/>
          </a:xfrm>
          <a:prstGeom prst="rect">
            <a:avLst/>
          </a:prstGeom>
          <a:solidFill>
            <a:srgbClr val="109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55080" y="420624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331 Mails (trivial)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4617720"/>
            <a:ext cx="76352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4617720"/>
            <a:ext cx="109728" cy="41148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1208" y="4617720"/>
            <a:ext cx="1399032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Mehrere/Unbekannt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4617720"/>
            <a:ext cx="10515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71800" y="461772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31920" y="461772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92040" y="4617720"/>
            <a:ext cx="1463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uneinheitlich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0" y="4690872"/>
            <a:ext cx="1600200" cy="265176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55080" y="461772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klein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5102352"/>
            <a:ext cx="7635240" cy="384048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8640" y="5102352"/>
            <a:ext cx="73609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Klar adressierbar: KV-Fehlrouting 161 + Spam/Sparten-leer 331 = ~490 Mails / Woche.  Komposit/Leben-Keine-BÜ (247) = weiteres Potenzial – Reminder dort heute schon gut.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KV-Triage ist die Luecke: </a:t>
            </a:r>
            <a:r>
              <a:rPr sz="1100">
                <a:solidFill>
                  <a:srgbClr val="333333"/>
                </a:solidFill>
                <a:latin typeface="Calibri"/>
              </a:rPr>
              <a:t>161 Nicht-BÜ-Mails / Woche werden heute schlecht gefiltert – Keine BÜ und Reminder.</a:t>
            </a:r>
          </a:p>
        </p:txBody>
      </p:sp>
      <p:sp>
        <p:nvSpPr>
          <p:cNvPr id="76" name="Oval 75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Sparten-leer/Spam: </a:t>
            </a:r>
            <a:r>
              <a:rPr sz="1100">
                <a:solidFill>
                  <a:srgbClr val="333333"/>
                </a:solidFill>
                <a:latin typeface="Calibri"/>
              </a:rPr>
              <a:t>331 Mails (Sparte nicht erkennbar) sind trivial mit Header-/Absender-Regeln auszufiltern.</a:t>
            </a:r>
          </a:p>
        </p:txBody>
      </p:sp>
      <p:sp>
        <p:nvSpPr>
          <p:cNvPr id="79" name="Oval 78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Komposit laeuft heute weitgehend: </a:t>
            </a:r>
            <a:r>
              <a:rPr sz="1100">
                <a:solidFill>
                  <a:srgbClr val="333333"/>
                </a:solidFill>
                <a:latin typeface="Calibri"/>
              </a:rPr>
              <a:t>221 Komposit-Reminder werden heute schon gut erkannt – kein nachgewiesenes Fehlrouting.</a:t>
            </a:r>
          </a:p>
        </p:txBody>
      </p:sp>
      <p:sp>
        <p:nvSpPr>
          <p:cNvPr id="82" name="Oval 81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Wichtig zur Einordnung: </a:t>
            </a:r>
            <a:r>
              <a:rPr sz="1100">
                <a:solidFill>
                  <a:srgbClr val="333333"/>
                </a:solidFill>
                <a:latin typeface="Calibri"/>
              </a:rPr>
              <a:t>Nicht alle 1.034 Mails werden heute falsch geroutet – nachgewiesen ist v.a. die KV-Luecke.</a:t>
            </a:r>
          </a:p>
        </p:txBody>
      </p:sp>
      <p:sp>
        <p:nvSpPr>
          <p:cNvPr id="85" name="Oval 84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Reihenfolge: </a:t>
            </a:r>
            <a:r>
              <a:rPr sz="1100">
                <a:solidFill>
                  <a:srgbClr val="333333"/>
                </a:solidFill>
                <a:latin typeface="Calibri"/>
              </a:rPr>
              <a:t>1) Spam/leer-Filter  2) KV-Triage aufbauen  3) Komposit/Leben-Keine-BÜ pruefen.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Klar adressierbarer Routing-Hebel ~490 Mails / Woche (KV-Fehlrouting 161 + Spam/leer 331); Komposit/Leben mit weiterem Potenzial, aber dort laeuft das Routing heute teils schon.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2: Cluster-Erkennung ermoeglicht Arbeitsvorrats-Steuerung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schliesst die KV-Vorgangsluecke: heute ist dort jede Eingangsmail ein eigener Vorgang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Vorgangs-Buendelung heute je Sparte – wo die Cluster-Sicht im Postkorb fehlt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384048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606040"/>
            <a:ext cx="11430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BÜ-Mails/Wo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06040"/>
            <a:ext cx="1874519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in Mehrfach-Vorgang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19" y="2606040"/>
            <a:ext cx="17830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VNR-Mapping Postkorb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399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Cluster-Hebel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990088"/>
            <a:ext cx="7635240" cy="45720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2990088"/>
            <a:ext cx="109728" cy="4572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" y="29900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9C060F"/>
                </a:solidFill>
                <a:latin typeface="Calibri"/>
              </a:rPr>
              <a:t>KV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29900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1.147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29900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317 Mails (28 %)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19" y="29900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FEHLT heute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19" y="3081528"/>
            <a:ext cx="1325880" cy="27432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399" y="29900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GROSS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447288"/>
            <a:ext cx="7635240" cy="45720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3447288"/>
            <a:ext cx="109728" cy="45720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" y="34472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34472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2.089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34472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1.362 Mails (65 %)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46319" y="34472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bereits gemappt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5119" y="3538728"/>
            <a:ext cx="1325880" cy="2743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399" y="34472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904488"/>
            <a:ext cx="7635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1480" y="3904488"/>
            <a:ext cx="109728" cy="45720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" y="39044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39044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71800" y="39044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314 Mails (47 %)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19" y="39044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weitgehend gemappt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75119" y="3995928"/>
            <a:ext cx="1325880" cy="2743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9399" y="39044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361688"/>
            <a:ext cx="7635240" cy="45720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4361688"/>
            <a:ext cx="109728" cy="45720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" y="43616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Mehr/Unbek.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43616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239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71800" y="43616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26 Mails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46319" y="43616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uneinheitlich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75119" y="4453128"/>
            <a:ext cx="1325880" cy="2743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29399" y="43616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klein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4956048"/>
            <a:ext cx="7635240" cy="91440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5029200"/>
            <a:ext cx="72694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006B77"/>
                </a:solidFill>
                <a:latin typeface="Calibri"/>
              </a:rPr>
              <a:t>Von 'Postkorb blind abarbeiten' zu aktiver Arbeitsvorrats-Steuerung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5340096"/>
            <a:ext cx="726948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Heute: Sachbearbeiter nehmen Vorgaenge unsortiert aus dem Postkorb.   Kuenftig mit strukturierten Daten: Prio-Faelle (Alter, Vollmacht-Status) und Prio-Makler (z. B. JDC, Fonds Finanz) gezielt filtern und Cluster gebuendelt abarbeiten.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KV-Vorgangsluecke: </a:t>
            </a:r>
            <a:r>
              <a:rPr sz="1100">
                <a:solidFill>
                  <a:srgbClr val="333333"/>
                </a:solidFill>
                <a:latin typeface="Calibri"/>
              </a:rPr>
              <a:t>Im KV-Postkorb ist heute jede Eingangsmail ein eigener Vorgang – Zusammenhaenge fehlen.</a:t>
            </a:r>
          </a:p>
        </p:txBody>
      </p:sp>
      <p:sp>
        <p:nvSpPr>
          <p:cNvPr id="63" name="Oval 62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Komposit gemappt: </a:t>
            </a:r>
            <a:r>
              <a:rPr sz="1100">
                <a:solidFill>
                  <a:srgbClr val="333333"/>
                </a:solidFill>
                <a:latin typeface="Calibri"/>
              </a:rPr>
              <a:t>Bei Komposit (und weitgehend Leben) werden Vorgaenge zur VNR bereits gebuendelt.</a:t>
            </a:r>
          </a:p>
        </p:txBody>
      </p:sp>
      <p:sp>
        <p:nvSpPr>
          <p:cNvPr id="66" name="Oval 65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Mehrfach-Vorgaenge sind WERTVOLL: </a:t>
            </a:r>
            <a:r>
              <a:rPr sz="1100">
                <a:solidFill>
                  <a:srgbClr val="333333"/>
                </a:solidFill>
                <a:latin typeface="Calibri"/>
              </a:rPr>
              <a:t>619 Kunden / Woche mit mehreren Vertraegen beim selben Makler – erkennen statt doppelt anlegen.</a:t>
            </a:r>
          </a:p>
        </p:txBody>
      </p:sp>
      <p:sp>
        <p:nvSpPr>
          <p:cNvPr id="69" name="Oval 68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Arbeitsvorrats-Steuerung: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Daten erlauben Filter nach Prio-Fall und Prio-Makler statt blindes Abarbeiten.</a:t>
            </a:r>
          </a:p>
        </p:txBody>
      </p:sp>
      <p:sp>
        <p:nvSpPr>
          <p:cNvPr id="72" name="Oval 71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Echte Folge-Mails: </a:t>
            </a:r>
            <a:r>
              <a:rPr sz="1100">
                <a:solidFill>
                  <a:srgbClr val="333333"/>
                </a:solidFill>
                <a:latin typeface="Calibri"/>
              </a:rPr>
              <a:t>104 Nachreichungen / Woche zur selben VNR – Auto-Zuordnung zum offenen Vorgang.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Groesster Cluster-Hebel ist KV: dort fehlt heute die Vorgangs-Buendelung (jede Mail = ein Vorgang). Strukturierte Daten ermoeglichen Arbeitsvorrats-Steuerung nach Prio-Fall und Prio-Makler.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