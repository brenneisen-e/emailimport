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Cluster</c:v>
                </c:pt>
              </c:strCache>
            </c:strRef>
          </c:tx>
          <c:spPr>
            <a:solidFill>
              <a:srgbClr val="008793"/>
            </a:solidFill>
          </c:spPr>
          <c:dPt>
            <c:idx val="0"/>
            <c:spPr>
              <a:solidFill>
                <a:srgbClr val="E30613"/>
              </a:solidFill>
            </c:spPr>
          </c:dPt>
          <c:dPt>
            <c:idx val="1"/>
            <c:spPr>
              <a:solidFill>
                <a:srgbClr val="E30613"/>
              </a:solidFill>
            </c:spPr>
          </c:dPt>
          <c:cat>
            <c:strRef>
              <c:f>Sheet1!$A$2:$A$10</c:f>
              <c:strCache>
                <c:ptCount val="9"/>
                <c:pt idx="0">
                  <c:v>2 Mails</c:v>
                </c:pt>
                <c:pt idx="1">
                  <c:v>3 Mails</c:v>
                </c:pt>
                <c:pt idx="2">
                  <c:v>4 Mails</c:v>
                </c:pt>
                <c:pt idx="3">
                  <c:v>5 Mails</c:v>
                </c:pt>
                <c:pt idx="4">
                  <c:v>6 Mails</c:v>
                </c:pt>
                <c:pt idx="5">
                  <c:v>7 Mails</c:v>
                </c:pt>
                <c:pt idx="6">
                  <c:v>8 Mails</c:v>
                </c:pt>
                <c:pt idx="7">
                  <c:v>9-12</c:v>
                </c:pt>
                <c:pt idx="8">
                  <c:v>13-16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312</c:v>
                </c:pt>
                <c:pt idx="1">
                  <c:v>107</c:v>
                </c:pt>
                <c:pt idx="2">
                  <c:v>62</c:v>
                </c:pt>
                <c:pt idx="3">
                  <c:v>31</c:v>
                </c:pt>
                <c:pt idx="4">
                  <c:v>40</c:v>
                </c:pt>
                <c:pt idx="5">
                  <c:v>24</c:v>
                </c:pt>
                <c:pt idx="6">
                  <c:v>13</c:v>
                </c:pt>
                <c:pt idx="7">
                  <c:v>19</c:v>
                </c:pt>
                <c:pt idx="8">
                  <c:v>4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3333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333333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 i="0" u="none">
                <a:solidFill>
                  <a:srgbClr val="E30613"/>
                </a:solidFill>
                <a:latin typeface="Calibri"/>
              </a:rPr>
              <a:t>Jede 5. Mail im BUe-Posteingang ist gar keine BUe-Anfrage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9728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 i="0" u="none">
                <a:solidFill>
                  <a:srgbClr val="E30613"/>
                </a:solidFill>
                <a:latin typeface="Calibri"/>
              </a:rPr>
              <a:t>konsequente Vorqualifizierung entlastet den Postkorb um 1.034 Mails / Woche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Aufteilung der 5.034 Mails / Woche (Service Team Maklerauftraege)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42062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2606040"/>
            <a:ext cx="146304" cy="731520"/>
          </a:xfrm>
          <a:prstGeom prst="rect">
            <a:avLst/>
          </a:prstGeom>
          <a:solidFill>
            <a:srgbClr val="9AA3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642616"/>
            <a:ext cx="384048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Keine BUe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916936"/>
            <a:ext cx="242316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Falscher Kanal – Schaden / Antrag / Anfrage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2642616"/>
            <a:ext cx="160020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2200" b="1" i="0" u="none">
                <a:solidFill>
                  <a:srgbClr val="9AA3AE"/>
                </a:solidFill>
                <a:latin typeface="Calibri"/>
              </a:rPr>
              <a:t>705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3026664"/>
            <a:ext cx="16002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0" i="0" u="none">
                <a:solidFill>
                  <a:srgbClr val="666666"/>
                </a:solidFill>
                <a:latin typeface="Calibri"/>
              </a:rPr>
              <a:t>14.0 %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663440" y="2825496"/>
            <a:ext cx="320040" cy="292608"/>
          </a:xfrm>
          <a:prstGeom prst="rightArrow">
            <a:avLst/>
          </a:prstGeom>
          <a:solidFill>
            <a:srgbClr val="109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0" y="2606040"/>
            <a:ext cx="3017520" cy="731520"/>
          </a:xfrm>
          <a:prstGeom prst="rect">
            <a:avLst/>
          </a:prstGeom>
          <a:solidFill>
            <a:srgbClr val="CFE6E9"/>
          </a:solidFill>
          <a:ln w="12700">
            <a:solidFill>
              <a:srgbClr val="109C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38928" y="2606040"/>
            <a:ext cx="28346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109C55"/>
                </a:solidFill>
                <a:latin typeface="Calibri"/>
              </a:rPr>
              <a:t>Hebel: Triage im</a:t>
            </a:r>
          </a:p>
          <a:p>
            <a:pPr algn="l"/>
            <a:r>
              <a:rPr sz="1100" b="1" i="0" u="none">
                <a:solidFill>
                  <a:srgbClr val="109C55"/>
                </a:solidFill>
                <a:latin typeface="Calibri"/>
              </a:rPr>
              <a:t>Eingangsmanagement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410712"/>
            <a:ext cx="42062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3410712"/>
            <a:ext cx="146304" cy="731520"/>
          </a:xfrm>
          <a:prstGeom prst="rect">
            <a:avLst/>
          </a:prstGeom>
          <a:solidFill>
            <a:srgbClr val="E8A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447288"/>
            <a:ext cx="384048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BUe-Reminder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3721608"/>
            <a:ext cx="242316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Sachstand zu Vorgang aus frueherer Woche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3447288"/>
            <a:ext cx="160020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2200" b="1" i="0" u="none">
                <a:solidFill>
                  <a:srgbClr val="E8A82A"/>
                </a:solidFill>
                <a:latin typeface="Calibri"/>
              </a:rPr>
              <a:t>329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3831336"/>
            <a:ext cx="16002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0" i="0" u="none">
                <a:solidFill>
                  <a:srgbClr val="666666"/>
                </a:solidFill>
                <a:latin typeface="Calibri"/>
              </a:rPr>
              <a:t>6.5 %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4663440" y="3630168"/>
            <a:ext cx="320040" cy="292608"/>
          </a:xfrm>
          <a:prstGeom prst="rightArrow">
            <a:avLst/>
          </a:prstGeom>
          <a:solidFill>
            <a:srgbClr val="109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0" y="3410712"/>
            <a:ext cx="3017520" cy="731520"/>
          </a:xfrm>
          <a:prstGeom prst="rect">
            <a:avLst/>
          </a:prstGeom>
          <a:solidFill>
            <a:srgbClr val="CFE6E9"/>
          </a:solidFill>
          <a:ln w="12700">
            <a:solidFill>
              <a:srgbClr val="109C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38928" y="3410712"/>
            <a:ext cx="28346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109C55"/>
                </a:solidFill>
                <a:latin typeface="Calibri"/>
              </a:rPr>
              <a:t>Hebel: Triage im</a:t>
            </a:r>
          </a:p>
          <a:p>
            <a:pPr algn="l"/>
            <a:r>
              <a:rPr sz="1100" b="1" i="0" u="none">
                <a:solidFill>
                  <a:srgbClr val="109C55"/>
                </a:solidFill>
                <a:latin typeface="Calibri"/>
              </a:rPr>
              <a:t>Eingangsmanagement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4215384"/>
            <a:ext cx="42062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4215384"/>
            <a:ext cx="146304" cy="731520"/>
          </a:xfrm>
          <a:prstGeom prst="rect">
            <a:avLst/>
          </a:prstGeom>
          <a:solidFill>
            <a:srgbClr val="DE6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251960"/>
            <a:ext cx="384048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Nachreichungen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526280"/>
            <a:ext cx="242316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Folge-Mails zu offenem Vorgang dieser Woche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4251960"/>
            <a:ext cx="160020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2200" b="1" i="0" u="none">
                <a:solidFill>
                  <a:srgbClr val="DE6F2A"/>
                </a:solidFill>
                <a:latin typeface="Calibri"/>
              </a:rPr>
              <a:t>1.505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26080" y="4636008"/>
            <a:ext cx="16002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0" i="0" u="none">
                <a:solidFill>
                  <a:srgbClr val="666666"/>
                </a:solidFill>
                <a:latin typeface="Calibri"/>
              </a:rPr>
              <a:t>29.9 %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4663440" y="4434840"/>
            <a:ext cx="320040" cy="292608"/>
          </a:xfrm>
          <a:prstGeom prst="rightArrow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0" y="4215384"/>
            <a:ext cx="3017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38928" y="4215384"/>
            <a:ext cx="28346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008793"/>
                </a:solidFill>
                <a:latin typeface="Calibri"/>
              </a:rPr>
              <a:t>(siehe Folie 11b –</a:t>
            </a:r>
          </a:p>
          <a:p>
            <a:pPr algn="l"/>
            <a:r>
              <a:rPr sz="1100" b="1" i="0" u="none">
                <a:solidFill>
                  <a:srgbClr val="008793"/>
                </a:solidFill>
                <a:latin typeface="Calibri"/>
              </a:rPr>
              <a:t>Vorgangs-Clusterung)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020056"/>
            <a:ext cx="42062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1480" y="5020056"/>
            <a:ext cx="146304" cy="73152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5056632"/>
            <a:ext cx="384048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Echte Neuanlagen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330952"/>
            <a:ext cx="242316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Neue BUe-Vorgaenge / Woche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26080" y="5056632"/>
            <a:ext cx="160020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2200" b="1" i="0" u="none">
                <a:solidFill>
                  <a:srgbClr val="E30613"/>
                </a:solidFill>
                <a:latin typeface="Calibri"/>
              </a:rPr>
              <a:t>2.495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26080" y="5440680"/>
            <a:ext cx="16002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0" i="0" u="none">
                <a:solidFill>
                  <a:srgbClr val="666666"/>
                </a:solidFill>
                <a:latin typeface="Calibri"/>
              </a:rPr>
              <a:t>49.6 %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4663440" y="5239512"/>
            <a:ext cx="320040" cy="292608"/>
          </a:xfrm>
          <a:prstGeom prst="rightArrow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029200" y="5020056"/>
            <a:ext cx="3017520" cy="731520"/>
          </a:xfrm>
          <a:prstGeom prst="rect">
            <a:avLst/>
          </a:prstGeom>
          <a:solidFill>
            <a:srgbClr val="E6E6E6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38928" y="5020056"/>
            <a:ext cx="28346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= Echter</a:t>
            </a:r>
          </a:p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Bearbeitungs-Aufwand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66760" y="246888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66760" y="246888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69680" y="2423160"/>
            <a:ext cx="2834640" cy="649224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Volumen: </a:t>
            </a:r>
            <a:r>
              <a:rPr sz="1100">
                <a:solidFill>
                  <a:srgbClr val="333333"/>
                </a:solidFill>
                <a:latin typeface="Calibri"/>
              </a:rPr>
              <a:t>5.034 Mails / Woche, davon Hauptkanal 94 % Service Team Maklerauftraege.</a:t>
            </a:r>
          </a:p>
        </p:txBody>
      </p:sp>
      <p:sp>
        <p:nvSpPr>
          <p:cNvPr id="58" name="Oval 57"/>
          <p:cNvSpPr/>
          <p:nvPr/>
        </p:nvSpPr>
        <p:spPr>
          <a:xfrm>
            <a:off x="8366760" y="3118104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66760" y="3118104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69680" y="3072384"/>
            <a:ext cx="2834640" cy="649224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Keine BUe: </a:t>
            </a:r>
            <a:r>
              <a:rPr sz="1100">
                <a:solidFill>
                  <a:srgbClr val="333333"/>
                </a:solidFill>
                <a:latin typeface="Calibri"/>
              </a:rPr>
              <a:t>705 Mails (14 %) gehoeren in andere Postfaecher (Schaden, Antrag, Anfrage).</a:t>
            </a:r>
          </a:p>
        </p:txBody>
      </p:sp>
      <p:sp>
        <p:nvSpPr>
          <p:cNvPr id="61" name="Oval 60"/>
          <p:cNvSpPr/>
          <p:nvPr/>
        </p:nvSpPr>
        <p:spPr>
          <a:xfrm>
            <a:off x="8366760" y="376732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66760" y="376732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69680" y="3721608"/>
            <a:ext cx="2834640" cy="649224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Reminder: </a:t>
            </a:r>
            <a:r>
              <a:rPr sz="1100">
                <a:solidFill>
                  <a:srgbClr val="333333"/>
                </a:solidFill>
                <a:latin typeface="Calibri"/>
              </a:rPr>
              <a:t>329 Mails (6,5 %) sind Sachstands-Mails zu Vorgaengen aus frueheren Wochen.</a:t>
            </a:r>
          </a:p>
        </p:txBody>
      </p:sp>
      <p:sp>
        <p:nvSpPr>
          <p:cNvPr id="64" name="Oval 63"/>
          <p:cNvSpPr/>
          <p:nvPr/>
        </p:nvSpPr>
        <p:spPr>
          <a:xfrm>
            <a:off x="8366760" y="441655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66760" y="441655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69680" y="4370832"/>
            <a:ext cx="2834640" cy="649224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Hebel Vorqualifizierung: </a:t>
            </a:r>
            <a:r>
              <a:rPr sz="1100">
                <a:solidFill>
                  <a:srgbClr val="333333"/>
                </a:solidFill>
                <a:latin typeface="Calibri"/>
              </a:rPr>
              <a:t>1.034 Mails / Woche kommen nie im BUe-Postkorb an = –21 % BUe-Last.</a:t>
            </a:r>
          </a:p>
        </p:txBody>
      </p:sp>
      <p:sp>
        <p:nvSpPr>
          <p:cNvPr id="67" name="Oval 66"/>
          <p:cNvSpPr/>
          <p:nvPr/>
        </p:nvSpPr>
        <p:spPr>
          <a:xfrm>
            <a:off x="8366760" y="5065776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66760" y="5065776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69680" y="5020056"/>
            <a:ext cx="2834640" cy="649224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Verbleibend: </a:t>
            </a:r>
            <a:r>
              <a:rPr sz="1100">
                <a:solidFill>
                  <a:srgbClr val="333333"/>
                </a:solidFill>
                <a:latin typeface="Calibri"/>
              </a:rPr>
              <a:t>4.000 BUe-Anfrage-Mails / Woche – Behandlung siehe Folie 11b (Vorgangs-Clusterung).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5897880"/>
            <a:ext cx="11338560" cy="41148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4360" y="5897880"/>
            <a:ext cx="109728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1.034 Mails (21 %) gehoeren nicht in den BUe-Postkorb — Triage im Eingangsmanagement wirkt fachuebergreifend und ist Hebel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 i="0" u="none">
                <a:solidFill>
                  <a:srgbClr val="E30613"/>
                </a:solidFill>
                <a:latin typeface="Calibri"/>
              </a:rPr>
              <a:t>Die echten BUe-Mails buendeln sich in wiederkehrenden Vorgaengen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9728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 i="0" u="none">
                <a:solidFill>
                  <a:srgbClr val="E30613"/>
                </a:solidFill>
                <a:latin typeface="Calibri"/>
              </a:rPr>
              <a:t>vorgangs-orientierte Bearbeitung spart weitere 1.505 Mail-Eroeffnungen / Woche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Aus 4.000 BUe-Mails / Woche werden 2.495 echte Vorgaenge — 633 Cluster erzeugen 1.505 Nachreichungen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2606040"/>
            <a:ext cx="76352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Cluster-Groessenverteilung (633 Cluster mit jeweils n Mails)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411480" y="2880360"/>
          <a:ext cx="7635240" cy="1417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11480" y="4480560"/>
            <a:ext cx="76352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Top-Cluster-Pools – wo der Auto-Zuordnungs-Hebel am staerksten wirkt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773168"/>
            <a:ext cx="7635240" cy="27432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773168"/>
            <a:ext cx="233172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Maklerpool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773168"/>
            <a:ext cx="86868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Mails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773168"/>
            <a:ext cx="86868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Vorgaenge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773168"/>
            <a:ext cx="9144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Ø Mails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4773168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Nachreichungen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773168"/>
            <a:ext cx="118872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Anteil 1.505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047488"/>
            <a:ext cx="7635240" cy="201168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5047488"/>
            <a:ext cx="233172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1" i="0" u="none">
                <a:solidFill>
                  <a:srgbClr val="9C060F"/>
                </a:solidFill>
                <a:latin typeface="Calibri"/>
              </a:rPr>
              <a:t>JDC / Jung, DMS &amp; Cie.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5047488"/>
            <a:ext cx="86868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9C060F"/>
                </a:solidFill>
                <a:latin typeface="Calibri"/>
              </a:rPr>
              <a:t>1.538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1880" y="5047488"/>
            <a:ext cx="86868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9C060F"/>
                </a:solidFill>
                <a:latin typeface="Calibri"/>
              </a:rPr>
              <a:t>913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047488"/>
            <a:ext cx="91440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9C060F"/>
                </a:solidFill>
                <a:latin typeface="Calibri"/>
              </a:rPr>
              <a:t>1,68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5047488"/>
            <a:ext cx="146304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9C060F"/>
                </a:solidFill>
                <a:latin typeface="Calibri"/>
              </a:rPr>
              <a:t>626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047488"/>
            <a:ext cx="118872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9C060F"/>
                </a:solidFill>
                <a:latin typeface="Calibri"/>
              </a:rPr>
              <a:t>41,6 %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248656"/>
            <a:ext cx="7635240" cy="201168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5248656"/>
            <a:ext cx="233172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1" i="0" u="none">
                <a:solidFill>
                  <a:srgbClr val="9C060F"/>
                </a:solidFill>
                <a:latin typeface="Calibri"/>
              </a:rPr>
              <a:t>Fonds Finanz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5248656"/>
            <a:ext cx="86868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9C060F"/>
                </a:solidFill>
                <a:latin typeface="Calibri"/>
              </a:rPr>
              <a:t>612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11880" y="5248656"/>
            <a:ext cx="86868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9C060F"/>
                </a:solidFill>
                <a:latin typeface="Calibri"/>
              </a:rPr>
              <a:t>291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5248656"/>
            <a:ext cx="91440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9C060F"/>
                </a:solidFill>
                <a:latin typeface="Calibri"/>
              </a:rPr>
              <a:t>2,10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5248656"/>
            <a:ext cx="146304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9C060F"/>
                </a:solidFill>
                <a:latin typeface="Calibri"/>
              </a:rPr>
              <a:t>322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5248656"/>
            <a:ext cx="118872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9C060F"/>
                </a:solidFill>
                <a:latin typeface="Calibri"/>
              </a:rPr>
              <a:t>21,4 %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449824"/>
            <a:ext cx="7635240" cy="201168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5449824"/>
            <a:ext cx="233172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Sonstige Pools (Long-Tail)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0" y="5449824"/>
            <a:ext cx="86868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1.221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11880" y="5449824"/>
            <a:ext cx="86868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986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0" y="5449824"/>
            <a:ext cx="91440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1,24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94960" y="5449824"/>
            <a:ext cx="146304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503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5449824"/>
            <a:ext cx="118872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33,4 %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5650992"/>
            <a:ext cx="7635240" cy="2011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5650992"/>
            <a:ext cx="233172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Pool unbekannt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0" y="5650992"/>
            <a:ext cx="86868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204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11880" y="5650992"/>
            <a:ext cx="86868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182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0560" y="5650992"/>
            <a:ext cx="91440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1,12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5650992"/>
            <a:ext cx="146304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29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0" y="5650992"/>
            <a:ext cx="1188720" cy="2011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1,9 %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366760" y="246888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66760" y="246888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69680" y="2423160"/>
            <a:ext cx="2834640" cy="649224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Buendelung: </a:t>
            </a:r>
            <a:r>
              <a:rPr sz="1100">
                <a:solidFill>
                  <a:srgbClr val="333333"/>
                </a:solidFill>
                <a:latin typeface="Calibri"/>
              </a:rPr>
              <a:t>4.000 BUe-Mails / Woche betreffen nur 2.495 echte Vorgaenge — Ø 1,6 Mails pro Vorgang.</a:t>
            </a:r>
          </a:p>
        </p:txBody>
      </p:sp>
      <p:sp>
        <p:nvSpPr>
          <p:cNvPr id="60" name="Oval 59"/>
          <p:cNvSpPr/>
          <p:nvPr/>
        </p:nvSpPr>
        <p:spPr>
          <a:xfrm>
            <a:off x="8366760" y="3118104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66760" y="3118104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69680" y="3072384"/>
            <a:ext cx="2834640" cy="649224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Cluster-Vorgaenge: </a:t>
            </a:r>
            <a:r>
              <a:rPr sz="1100">
                <a:solidFill>
                  <a:srgbClr val="333333"/>
                </a:solidFill>
                <a:latin typeface="Calibri"/>
              </a:rPr>
              <a:t>633 Vorgaenge erzeugen alle 1.505 Nachreichungen — 66 % davon als 2-/3-Mailer.</a:t>
            </a:r>
          </a:p>
        </p:txBody>
      </p:sp>
      <p:sp>
        <p:nvSpPr>
          <p:cNvPr id="63" name="Oval 62"/>
          <p:cNvSpPr/>
          <p:nvPr/>
        </p:nvSpPr>
        <p:spPr>
          <a:xfrm>
            <a:off x="8366760" y="376732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66760" y="376732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3721608"/>
            <a:ext cx="2834640" cy="649224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Konzentration: </a:t>
            </a:r>
            <a:r>
              <a:rPr sz="1100">
                <a:solidFill>
                  <a:srgbClr val="333333"/>
                </a:solidFill>
                <a:latin typeface="Calibri"/>
              </a:rPr>
              <a:t>JDC + Fonds Finanz allein bringen 948 Nachreichungen = 63 % des Hebels.</a:t>
            </a:r>
          </a:p>
        </p:txBody>
      </p:sp>
      <p:sp>
        <p:nvSpPr>
          <p:cNvPr id="66" name="Oval 65"/>
          <p:cNvSpPr/>
          <p:nvPr/>
        </p:nvSpPr>
        <p:spPr>
          <a:xfrm>
            <a:off x="8366760" y="441655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441655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4370832"/>
            <a:ext cx="2834640" cy="649224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Hoechster Faktor: </a:t>
            </a:r>
            <a:r>
              <a:rPr sz="1100">
                <a:solidFill>
                  <a:srgbClr val="333333"/>
                </a:solidFill>
                <a:latin typeface="Calibri"/>
              </a:rPr>
              <a:t>Securess Ø 4,4 Mails / Vorgang – 1:1 Assekuranz Ø 2,4 – Fonds Finanz Ø 2,1.</a:t>
            </a:r>
          </a:p>
        </p:txBody>
      </p:sp>
      <p:sp>
        <p:nvSpPr>
          <p:cNvPr id="69" name="Oval 68"/>
          <p:cNvSpPr/>
          <p:nvPr/>
        </p:nvSpPr>
        <p:spPr>
          <a:xfrm>
            <a:off x="8366760" y="5065776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66760" y="5065776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680" y="5020056"/>
            <a:ext cx="2834640" cy="649224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Hebel Vorgangs-Sicht: </a:t>
            </a:r>
            <a:r>
              <a:rPr sz="1100">
                <a:solidFill>
                  <a:srgbClr val="333333"/>
                </a:solidFill>
                <a:latin typeface="Calibri"/>
              </a:rPr>
              <a:t>Auto-Zuordnung 'neue Mail → offener Vorgang' spart 1.505 Eroeffnungen / Woche.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5897880"/>
            <a:ext cx="11338560" cy="41148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4360" y="5897880"/>
            <a:ext cx="109728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Vorgangs-orientierte Bearbeitung statt Mail-fuer-Mail spart 1.505 Eroeffnungen / Woche — zusammen mit Hebel 1 sinkt die BUe-Last um 50 % auf 2.495 echte Neuanlagen.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