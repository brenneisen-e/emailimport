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>
            <a:off x="5120640" y="137160"/>
            <a:ext cx="530352" cy="292608"/>
          </a:xfrm>
          <a:prstGeom prst="homePlate">
            <a:avLst/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Pentagon 2"/>
          <p:cNvSpPr/>
          <p:nvPr/>
        </p:nvSpPr>
        <p:spPr>
          <a:xfrm>
            <a:off x="5687568" y="137160"/>
            <a:ext cx="530352" cy="292608"/>
          </a:xfrm>
          <a:prstGeom prst="homePlat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entagon 3"/>
          <p:cNvSpPr/>
          <p:nvPr/>
        </p:nvSpPr>
        <p:spPr>
          <a:xfrm>
            <a:off x="6254496" y="137160"/>
            <a:ext cx="530352" cy="292608"/>
          </a:xfrm>
          <a:prstGeom prst="homePlate">
            <a:avLst/>
          </a:prstGeom>
          <a:solidFill>
            <a:srgbClr val="CC4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entagon 4"/>
          <p:cNvSpPr/>
          <p:nvPr/>
        </p:nvSpPr>
        <p:spPr>
          <a:xfrm>
            <a:off x="6821424" y="137160"/>
            <a:ext cx="530352" cy="292608"/>
          </a:xfrm>
          <a:prstGeom prst="homePlate">
            <a:avLst/>
          </a:prstGeom>
          <a:solidFill>
            <a:srgbClr val="6FC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Pentagon 5"/>
          <p:cNvSpPr/>
          <p:nvPr/>
        </p:nvSpPr>
        <p:spPr>
          <a:xfrm>
            <a:off x="7388352" y="137160"/>
            <a:ext cx="530352" cy="292608"/>
          </a:xfrm>
          <a:prstGeom prst="homePlate">
            <a:avLst/>
          </a:prstGeom>
          <a:solidFill>
            <a:srgbClr val="E8C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61320" y="182880"/>
            <a:ext cx="146304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3200" b="1" i="0" u="none">
                <a:solidFill>
                  <a:srgbClr val="E30613"/>
                </a:solidFill>
                <a:latin typeface="Calibri"/>
              </a:rPr>
              <a:t>ERGO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731520"/>
            <a:ext cx="146304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800" b="0" i="0" u="none">
                <a:solidFill>
                  <a:srgbClr val="333333"/>
                </a:solidFill>
                <a:latin typeface="Calibri"/>
              </a:rPr>
              <a:t>A Munich Re company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28600"/>
            <a:ext cx="6400800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0" i="0" u="none">
                <a:solidFill>
                  <a:srgbClr val="333333"/>
                </a:solidFill>
                <a:latin typeface="Calibri"/>
              </a:rPr>
              <a:t>STRUKTURIERUNG  |  IST-PROZESS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594360"/>
            <a:ext cx="1005840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E30613"/>
                </a:solidFill>
                <a:latin typeface="Calibri"/>
              </a:rPr>
              <a:t>BÜ-Posteingang heute unstrukturiert; in der Mail enthaltene Daten bleiben ungenutzt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078992"/>
            <a:ext cx="1005840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E30613"/>
                </a:solidFill>
                <a:latin typeface="Calibri"/>
              </a:rPr>
              <a:t>Sichtbare Folgen: Fehl-Routing (MV) und nicht erkannte, zusammengehoerige Vorgaenge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1920240"/>
            <a:ext cx="73152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 i="0" u="none">
                <a:solidFill>
                  <a:srgbClr val="333333"/>
                </a:solidFill>
                <a:latin typeface="Calibri"/>
              </a:rPr>
              <a:t>MENGENGERÜSTE AUS ANALYSE 13.04. – 20.04.*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1920240"/>
            <a:ext cx="36576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 i="0" u="none">
                <a:solidFill>
                  <a:srgbClr val="333333"/>
                </a:solidFill>
                <a:latin typeface="Calibri"/>
              </a:rPr>
              <a:t>KERNAUSSAGEN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6446520"/>
            <a:ext cx="11338560" cy="9525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6510528"/>
            <a:ext cx="100584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666666"/>
                </a:solidFill>
                <a:latin typeface="Calibri"/>
              </a:rPr>
              <a:t>ERGO | Makler BUe meets KI – Zwischenbericht Phase 1 - 10.06.2026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510528"/>
            <a:ext cx="4572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900" b="0" i="0" u="none">
                <a:solidFill>
                  <a:srgbClr val="666666"/>
                </a:solidFill>
                <a:latin typeface="Calibri"/>
              </a:rPr>
              <a:t>11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5559552"/>
            <a:ext cx="7635240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800" b="0" i="1" u="none">
                <a:solidFill>
                  <a:srgbClr val="666666"/>
                </a:solidFill>
                <a:latin typeface="Calibri"/>
              </a:rPr>
              <a:t>* Vollerhebung BÜ-Posteingang einer Kalenderwoche: 5.034 Mails, KI-strukturiert (Claude Opus); 99 Mails mit Analyse-Fehler/Timeout.  MV = Maklervollmacht im Anhang.  Cluster = weitere Mails desselben Maklers zum selben Kunden.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2240280"/>
            <a:ext cx="184023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1480" y="2240280"/>
            <a:ext cx="54864" cy="566928"/>
          </a:xfrm>
          <a:prstGeom prst="rect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1208" y="2258568"/>
            <a:ext cx="1703070" cy="329184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333333"/>
                </a:solidFill>
                <a:latin typeface="Calibri"/>
              </a:rPr>
              <a:t>5.034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" y="2587752"/>
            <a:ext cx="1703070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666666"/>
                </a:solidFill>
                <a:latin typeface="Calibri"/>
              </a:rPr>
              <a:t>Mails / Woche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343150" y="2240280"/>
            <a:ext cx="184023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343150" y="2240280"/>
            <a:ext cx="54864" cy="566928"/>
          </a:xfrm>
          <a:prstGeom prst="rect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452878" y="2258568"/>
            <a:ext cx="1703070" cy="329184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333333"/>
                </a:solidFill>
                <a:latin typeface="Calibri"/>
              </a:rPr>
              <a:t>1 KW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52878" y="2587752"/>
            <a:ext cx="1703070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666666"/>
                </a:solidFill>
                <a:latin typeface="Calibri"/>
              </a:rPr>
              <a:t>Vollerhebung 13.–20.04.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74820" y="2240280"/>
            <a:ext cx="184023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274820" y="2240280"/>
            <a:ext cx="54864" cy="566928"/>
          </a:xfrm>
          <a:prstGeom prst="rect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384548" y="2258568"/>
            <a:ext cx="1703070" cy="329184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333333"/>
                </a:solidFill>
                <a:latin typeface="Calibri"/>
              </a:rPr>
              <a:t>94 %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4548" y="2587752"/>
            <a:ext cx="1703070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666666"/>
                </a:solidFill>
                <a:latin typeface="Calibri"/>
              </a:rPr>
              <a:t>ein Sammel-Postfach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06490" y="2240280"/>
            <a:ext cx="184023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06490" y="2240280"/>
            <a:ext cx="54864" cy="566928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16218" y="2258568"/>
            <a:ext cx="1703070" cy="329184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333333"/>
                </a:solidFill>
                <a:latin typeface="Calibri"/>
              </a:rPr>
              <a:t>50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16218" y="2587752"/>
            <a:ext cx="1703070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666666"/>
                </a:solidFill>
                <a:latin typeface="Calibri"/>
              </a:rPr>
              <a:t>KI-Datenfelder / Mail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11480" y="3008376"/>
            <a:ext cx="7635240" cy="329184"/>
          </a:xfrm>
          <a:prstGeom prst="rect">
            <a:avLst/>
          </a:prstGeom>
          <a:solidFill>
            <a:srgbClr val="006B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3008376"/>
            <a:ext cx="2606040" cy="329184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0" u="none">
                <a:solidFill>
                  <a:srgbClr val="FFFFFF"/>
                </a:solidFill>
                <a:latin typeface="Calibri"/>
              </a:rPr>
              <a:t>Status / Woche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017520" y="3008376"/>
            <a:ext cx="1051560" cy="329184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FFFFFF"/>
                </a:solidFill>
                <a:latin typeface="Calibri"/>
              </a:rPr>
              <a:t>Gesamt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069080" y="3008376"/>
            <a:ext cx="960120" cy="329184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FFFFFF"/>
                </a:solidFill>
                <a:latin typeface="Calibri"/>
              </a:rPr>
              <a:t>KV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0" y="3008376"/>
            <a:ext cx="1143000" cy="329184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FFFFFF"/>
                </a:solidFill>
                <a:latin typeface="Calibri"/>
              </a:rPr>
              <a:t>Komposit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72200" y="3008376"/>
            <a:ext cx="914400" cy="329184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FFFFFF"/>
                </a:solidFill>
                <a:latin typeface="Calibri"/>
              </a:rPr>
              <a:t>Leben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086600" y="3008376"/>
            <a:ext cx="960120" cy="329184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FFFFFF"/>
                </a:solidFill>
                <a:latin typeface="Calibri"/>
              </a:rPr>
              <a:t>Sonstige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11480" y="3337560"/>
            <a:ext cx="7635240" cy="278892"/>
          </a:xfrm>
          <a:prstGeom prst="rect">
            <a:avLst/>
          </a:prstGeom>
          <a:solidFill>
            <a:srgbClr val="E9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21208" y="3337560"/>
            <a:ext cx="2496312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0" u="none">
                <a:solidFill>
                  <a:srgbClr val="333333"/>
                </a:solidFill>
                <a:latin typeface="Calibri"/>
              </a:rPr>
              <a:t>Gesamt Mails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017520" y="3337560"/>
            <a:ext cx="105156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333333"/>
                </a:solidFill>
                <a:latin typeface="Calibri"/>
              </a:rPr>
              <a:t>5.034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069080" y="3337560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333333"/>
                </a:solidFill>
                <a:latin typeface="Calibri"/>
              </a:rPr>
              <a:t>1.308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29200" y="3337560"/>
            <a:ext cx="11430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333333"/>
                </a:solidFill>
                <a:latin typeface="Calibri"/>
              </a:rPr>
              <a:t>2.502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72200" y="3337560"/>
            <a:ext cx="9144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333333"/>
                </a:solidFill>
                <a:latin typeface="Calibri"/>
              </a:rPr>
              <a:t>755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086600" y="3337560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333333"/>
                </a:solidFill>
                <a:latin typeface="Calibri"/>
              </a:rPr>
              <a:t>469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11480" y="3616452"/>
            <a:ext cx="7635240" cy="2788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21208" y="3616452"/>
            <a:ext cx="2496312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 i="0" u="none">
                <a:solidFill>
                  <a:srgbClr val="333333"/>
                </a:solidFill>
                <a:latin typeface="Calibri"/>
              </a:rPr>
              <a:t>Keine BÜ (falscher Kanal)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017520" y="3616452"/>
            <a:ext cx="105156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333333"/>
                </a:solidFill>
                <a:latin typeface="Calibri"/>
              </a:rPr>
              <a:t>705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069080" y="3616452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112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029200" y="3616452"/>
            <a:ext cx="11430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192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172200" y="3616452"/>
            <a:ext cx="9144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55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086600" y="3616452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346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11480" y="3895344"/>
            <a:ext cx="7635240" cy="278892"/>
          </a:xfrm>
          <a:prstGeom prst="rect">
            <a:avLst/>
          </a:prstGeom>
          <a:solidFill>
            <a:srgbClr val="FDE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11480" y="3895344"/>
            <a:ext cx="91440" cy="278892"/>
          </a:xfrm>
          <a:prstGeom prst="rect">
            <a:avLst/>
          </a:prstGeom>
          <a:solidFill>
            <a:srgbClr val="C86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21208" y="3895344"/>
            <a:ext cx="2496312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1" u="none">
                <a:solidFill>
                  <a:srgbClr val="C86E10"/>
                </a:solidFill>
                <a:latin typeface="Calibri"/>
              </a:rPr>
              <a:t>   davon mit MV im Anhang*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017520" y="3895344"/>
            <a:ext cx="105156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1" u="none">
                <a:solidFill>
                  <a:srgbClr val="C86E10"/>
                </a:solidFill>
                <a:latin typeface="Calibri"/>
              </a:rPr>
              <a:t>30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069080" y="3895344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1" u="none">
                <a:solidFill>
                  <a:srgbClr val="C86E10"/>
                </a:solidFill>
                <a:latin typeface="Calibri"/>
              </a:rPr>
              <a:t>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029200" y="3895344"/>
            <a:ext cx="11430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1" u="none">
                <a:solidFill>
                  <a:srgbClr val="C86E10"/>
                </a:solidFill>
                <a:latin typeface="Calibri"/>
              </a:rPr>
              <a:t>20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172200" y="3895344"/>
            <a:ext cx="9144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1" u="none">
                <a:solidFill>
                  <a:srgbClr val="C86E10"/>
                </a:solidFill>
                <a:latin typeface="Calibri"/>
              </a:rPr>
              <a:t>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086600" y="3895344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1" u="none">
                <a:solidFill>
                  <a:srgbClr val="C86E10"/>
                </a:solidFill>
                <a:latin typeface="Calibri"/>
              </a:rPr>
              <a:t>1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11480" y="4174236"/>
            <a:ext cx="7635240" cy="2788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21208" y="4174236"/>
            <a:ext cx="2496312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 i="0" u="none">
                <a:solidFill>
                  <a:srgbClr val="333333"/>
                </a:solidFill>
                <a:latin typeface="Calibri"/>
              </a:rPr>
              <a:t>BÜ-Reminder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017520" y="4174236"/>
            <a:ext cx="105156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333333"/>
                </a:solidFill>
                <a:latin typeface="Calibri"/>
              </a:rPr>
              <a:t>329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069080" y="4174236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49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029200" y="4174236"/>
            <a:ext cx="11430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221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172200" y="4174236"/>
            <a:ext cx="9144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38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086600" y="4174236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21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11480" y="4453128"/>
            <a:ext cx="7635240" cy="278892"/>
          </a:xfrm>
          <a:prstGeom prst="rect">
            <a:avLst/>
          </a:prstGeom>
          <a:solidFill>
            <a:srgbClr val="FDE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411480" y="4453128"/>
            <a:ext cx="91440" cy="278892"/>
          </a:xfrm>
          <a:prstGeom prst="rect">
            <a:avLst/>
          </a:prstGeom>
          <a:solidFill>
            <a:srgbClr val="C86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21208" y="4453128"/>
            <a:ext cx="2496312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1" u="none">
                <a:solidFill>
                  <a:srgbClr val="C86E10"/>
                </a:solidFill>
                <a:latin typeface="Calibri"/>
              </a:rPr>
              <a:t>   davon mit MV im Anhang*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017520" y="4453128"/>
            <a:ext cx="105156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1" u="none">
                <a:solidFill>
                  <a:srgbClr val="C86E10"/>
                </a:solidFill>
                <a:latin typeface="Calibri"/>
              </a:rPr>
              <a:t>210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069080" y="4453128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1" u="none">
                <a:solidFill>
                  <a:srgbClr val="C86E10"/>
                </a:solidFill>
                <a:latin typeface="Calibri"/>
              </a:rPr>
              <a:t>40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029200" y="4453128"/>
            <a:ext cx="11430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1" u="none">
                <a:solidFill>
                  <a:srgbClr val="C86E10"/>
                </a:solidFill>
                <a:latin typeface="Calibri"/>
              </a:rPr>
              <a:t>135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172200" y="4453128"/>
            <a:ext cx="9144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1" u="none">
                <a:solidFill>
                  <a:srgbClr val="C86E10"/>
                </a:solidFill>
                <a:latin typeface="Calibri"/>
              </a:rPr>
              <a:t>29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086600" y="4453128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1" u="none">
                <a:solidFill>
                  <a:srgbClr val="C86E10"/>
                </a:solidFill>
                <a:latin typeface="Calibri"/>
              </a:rPr>
              <a:t>6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11480" y="4732020"/>
            <a:ext cx="7635240" cy="278892"/>
          </a:xfrm>
          <a:prstGeom prst="rect">
            <a:avLst/>
          </a:prstGeom>
          <a:solidFill>
            <a:srgbClr val="CFE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411480" y="4732020"/>
            <a:ext cx="91440" cy="278892"/>
          </a:xfrm>
          <a:prstGeom prst="rect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521208" y="4732020"/>
            <a:ext cx="2496312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0" u="none">
                <a:solidFill>
                  <a:srgbClr val="006B77"/>
                </a:solidFill>
                <a:latin typeface="Calibri"/>
              </a:rPr>
              <a:t>Neue BÜ (echte BÜ-Anfragen)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017520" y="4732020"/>
            <a:ext cx="105156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006B77"/>
                </a:solidFill>
                <a:latin typeface="Calibri"/>
              </a:rPr>
              <a:t>4.000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069080" y="4732020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006B77"/>
                </a:solidFill>
                <a:latin typeface="Calibri"/>
              </a:rPr>
              <a:t>1.147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029200" y="4732020"/>
            <a:ext cx="11430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006B77"/>
                </a:solidFill>
                <a:latin typeface="Calibri"/>
              </a:rPr>
              <a:t>2.089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172200" y="4732020"/>
            <a:ext cx="9144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006B77"/>
                </a:solidFill>
                <a:latin typeface="Calibri"/>
              </a:rPr>
              <a:t>662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086600" y="4732020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006B77"/>
                </a:solidFill>
                <a:latin typeface="Calibri"/>
              </a:rPr>
              <a:t>102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11480" y="5010912"/>
            <a:ext cx="7635240" cy="278892"/>
          </a:xfrm>
          <a:prstGeom prst="rect">
            <a:avLst/>
          </a:prstGeom>
          <a:solidFill>
            <a:srgbClr val="F3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21208" y="5010912"/>
            <a:ext cx="2496312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900" b="0" i="1" u="none">
                <a:solidFill>
                  <a:srgbClr val="666666"/>
                </a:solidFill>
                <a:latin typeface="Calibri"/>
              </a:rPr>
              <a:t>Anteil Top-5-Makler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017520" y="5010912"/>
            <a:ext cx="105156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900" b="1" i="1" u="none">
                <a:solidFill>
                  <a:srgbClr val="666666"/>
                </a:solidFill>
                <a:latin typeface="Calibri"/>
              </a:rPr>
              <a:t>2.890 (57 %)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069080" y="5010912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900" b="0" i="1" u="none">
                <a:solidFill>
                  <a:srgbClr val="666666"/>
                </a:solidFill>
                <a:latin typeface="Calibri"/>
              </a:rPr>
              <a:t>886 (68 %)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029200" y="5010912"/>
            <a:ext cx="11430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900" b="0" i="1" u="none">
                <a:solidFill>
                  <a:srgbClr val="666666"/>
                </a:solidFill>
                <a:latin typeface="Calibri"/>
              </a:rPr>
              <a:t>1.489 (60 %)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172200" y="5010912"/>
            <a:ext cx="9144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900" b="0" i="1" u="none">
                <a:solidFill>
                  <a:srgbClr val="666666"/>
                </a:solidFill>
                <a:latin typeface="Calibri"/>
              </a:rPr>
              <a:t>505 (67 %)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086600" y="5010912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900" b="0" i="1" u="none">
                <a:solidFill>
                  <a:srgbClr val="666666"/>
                </a:solidFill>
                <a:latin typeface="Calibri"/>
              </a:rPr>
              <a:t>10 (2 %)</a:t>
            </a:r>
          </a:p>
        </p:txBody>
      </p:sp>
      <p:sp>
        <p:nvSpPr>
          <p:cNvPr id="93" name="Rectangle 92"/>
          <p:cNvSpPr/>
          <p:nvPr/>
        </p:nvSpPr>
        <p:spPr>
          <a:xfrm>
            <a:off x="411480" y="5289804"/>
            <a:ext cx="7635240" cy="278892"/>
          </a:xfrm>
          <a:prstGeom prst="rect">
            <a:avLst/>
          </a:prstGeom>
          <a:solidFill>
            <a:srgbClr val="F3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521208" y="5289804"/>
            <a:ext cx="2496312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900" b="0" i="1" u="none">
                <a:solidFill>
                  <a:srgbClr val="666666"/>
                </a:solidFill>
                <a:latin typeface="Calibri"/>
              </a:rPr>
              <a:t>Anteil in Cluster (weitere Mails Makler+Kunde)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017520" y="5289804"/>
            <a:ext cx="105156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900" b="1" i="1" u="none">
                <a:solidFill>
                  <a:srgbClr val="666666"/>
                </a:solidFill>
                <a:latin typeface="Calibri"/>
              </a:rPr>
              <a:t>2.370 (47 %)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069080" y="5289804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900" b="0" i="1" u="none">
                <a:solidFill>
                  <a:srgbClr val="666666"/>
                </a:solidFill>
                <a:latin typeface="Calibri"/>
              </a:rPr>
              <a:t>399 (31 %)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5029200" y="5289804"/>
            <a:ext cx="11430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900" b="0" i="1" u="none">
                <a:solidFill>
                  <a:srgbClr val="666666"/>
                </a:solidFill>
                <a:latin typeface="Calibri"/>
              </a:rPr>
              <a:t>1.573 (63 %)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172200" y="5289804"/>
            <a:ext cx="9144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900" b="0" i="1" u="none">
                <a:solidFill>
                  <a:srgbClr val="666666"/>
                </a:solidFill>
                <a:latin typeface="Calibri"/>
              </a:rPr>
              <a:t>357 (47 %)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086600" y="5289804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900" b="0" i="1" u="none">
                <a:solidFill>
                  <a:srgbClr val="666666"/>
                </a:solidFill>
                <a:latin typeface="Calibri"/>
              </a:rPr>
              <a:t>41 (9 %)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11480" y="5577840"/>
            <a:ext cx="7635240" cy="237744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1" u="none">
                <a:solidFill>
                  <a:srgbClr val="666666"/>
                </a:solidFill>
                <a:latin typeface="Calibri"/>
              </a:rPr>
              <a:t>* MV im Anhang ohne neue BÜ = potentielles Falschrouting (240 / Wo → Hebel 1, 11a).  Cluster-Anteil &amp; Top-5-Makler → Hebel 2 (11b).  Sonstige = Sparte unklar / Spam (346 der Keine-BÜ ohne MV).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8229600" y="2240280"/>
            <a:ext cx="3611880" cy="3611880"/>
          </a:xfrm>
          <a:prstGeom prst="rect">
            <a:avLst/>
          </a:prstGeom>
          <a:solidFill>
            <a:srgbClr val="CFE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8366760" y="2450592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8366760" y="2450592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869680" y="2404872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Mengengeruest 1 Woche: </a:t>
            </a:r>
            <a:r>
              <a:rPr sz="1100">
                <a:solidFill>
                  <a:srgbClr val="333333"/>
                </a:solidFill>
                <a:latin typeface="Calibri"/>
              </a:rPr>
              <a:t>5.034 Mails, Vollerhebung 13.–20.04.2026; 94 % ueber ein Sammel-Postfach. Hochrechnung ~260.000 / Jahr.</a:t>
            </a:r>
          </a:p>
        </p:txBody>
      </p:sp>
      <p:sp>
        <p:nvSpPr>
          <p:cNvPr id="105" name="Oval 104"/>
          <p:cNvSpPr/>
          <p:nvPr/>
        </p:nvSpPr>
        <p:spPr>
          <a:xfrm>
            <a:off x="8366760" y="3107131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8366760" y="3107131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869680" y="3061411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Strukturierte Extraktion: </a:t>
            </a:r>
            <a:r>
              <a:rPr sz="1100">
                <a:solidFill>
                  <a:srgbClr val="333333"/>
                </a:solidFill>
                <a:latin typeface="Calibri"/>
              </a:rPr>
              <a:t>KI erstellt je Mail ein Beiblatt mit 50 Feldern – VNR, Sparte, Pool, Status, Vorgangs-Cluster immer gleich.</a:t>
            </a:r>
          </a:p>
        </p:txBody>
      </p:sp>
      <p:sp>
        <p:nvSpPr>
          <p:cNvPr id="108" name="Oval 107"/>
          <p:cNvSpPr/>
          <p:nvPr/>
        </p:nvSpPr>
        <p:spPr>
          <a:xfrm>
            <a:off x="8366760" y="3763670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8366760" y="3763670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8869680" y="3717950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Ableitung Hebel 1: </a:t>
            </a:r>
            <a:r>
              <a:rPr sz="1100">
                <a:solidFill>
                  <a:srgbClr val="333333"/>
                </a:solidFill>
                <a:latin typeface="Calibri"/>
              </a:rPr>
              <a:t>1.034 Mails sind keine neue BÜ; 240 haengen eine MV an und werden durch die Regel 'MV → BÜ' falsch angelegt.</a:t>
            </a:r>
          </a:p>
        </p:txBody>
      </p:sp>
      <p:sp>
        <p:nvSpPr>
          <p:cNvPr id="111" name="Oval 110"/>
          <p:cNvSpPr/>
          <p:nvPr/>
        </p:nvSpPr>
        <p:spPr>
          <a:xfrm>
            <a:off x="8366760" y="4420209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8366760" y="4420209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869680" y="4374489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Ableitung Hebel 2: </a:t>
            </a:r>
            <a:r>
              <a:rPr sz="1100">
                <a:solidFill>
                  <a:srgbClr val="333333"/>
                </a:solidFill>
                <a:latin typeface="Calibri"/>
              </a:rPr>
              <a:t>4.000 BÜ-Mails verteilen sich auf nur 2.495 Vorgaenge → Buendelung / Steuerung moeglich.</a:t>
            </a:r>
          </a:p>
        </p:txBody>
      </p:sp>
      <p:sp>
        <p:nvSpPr>
          <p:cNvPr id="114" name="Oval 113"/>
          <p:cNvSpPr/>
          <p:nvPr/>
        </p:nvSpPr>
        <p:spPr>
          <a:xfrm>
            <a:off x="8366760" y="5076748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8366760" y="5076748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8869680" y="5031028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Roter Faden: </a:t>
            </a:r>
            <a:r>
              <a:rPr sz="1100">
                <a:solidFill>
                  <a:srgbClr val="333333"/>
                </a:solidFill>
                <a:latin typeface="Calibri"/>
              </a:rPr>
              <a:t>Beide Hebel folgen direkt aus der KI-Strukturierung des Posteingangs – Details auf 11a / 11b.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11480" y="5760720"/>
            <a:ext cx="11338560" cy="1828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800" b="0" i="1" u="none">
                <a:solidFill>
                  <a:srgbClr val="666666"/>
                </a:solidFill>
                <a:latin typeface="Calibri"/>
              </a:rPr>
              <a:t>Datenbasis: 5.034 Mails  |  Mo 13.04. – Mo 20.04.2026 (eine Kalenderwoche)  |  Eingangs-Postfächer: 'Service Team Makleraufträge' (94 %), 'Bestandsübertragungen' (5 %), 12 weitere &lt;1 %  |  Analyse-Stand: 27.05.2026 (KI-Auswertung mit Claude Opus 4.7, 99 von 5.034 Mails mit Analyse-Fehler/Timeout)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411480" y="5989320"/>
            <a:ext cx="11338560" cy="384048"/>
          </a:xfrm>
          <a:prstGeom prst="rect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594360" y="5989320"/>
            <a:ext cx="10972800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200" b="1" i="0" u="none">
                <a:solidFill>
                  <a:srgbClr val="FFFFFF"/>
                </a:solidFill>
                <a:latin typeface="Calibri"/>
              </a:rPr>
              <a:t>TAKE-AWAY:  Aus dem Status-Split folgen zwei Hebel: 240 Mails mit MV im Anhang werden faelschlich als BÜ angelegt → Routing (11a); 4.000 BÜ-Mails buendeln sich zu 2.495 Vorgaengen → Clustering &amp; Arbeitsvorrats-Steuerung (11b).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>
            <a:off x="5120640" y="137160"/>
            <a:ext cx="530352" cy="292608"/>
          </a:xfrm>
          <a:prstGeom prst="homePlate">
            <a:avLst/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Pentagon 2"/>
          <p:cNvSpPr/>
          <p:nvPr/>
        </p:nvSpPr>
        <p:spPr>
          <a:xfrm>
            <a:off x="5687568" y="137160"/>
            <a:ext cx="530352" cy="292608"/>
          </a:xfrm>
          <a:prstGeom prst="homePlat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entagon 3"/>
          <p:cNvSpPr/>
          <p:nvPr/>
        </p:nvSpPr>
        <p:spPr>
          <a:xfrm>
            <a:off x="6254496" y="137160"/>
            <a:ext cx="530352" cy="292608"/>
          </a:xfrm>
          <a:prstGeom prst="homePlate">
            <a:avLst/>
          </a:prstGeom>
          <a:solidFill>
            <a:srgbClr val="CC4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entagon 4"/>
          <p:cNvSpPr/>
          <p:nvPr/>
        </p:nvSpPr>
        <p:spPr>
          <a:xfrm>
            <a:off x="6821424" y="137160"/>
            <a:ext cx="530352" cy="292608"/>
          </a:xfrm>
          <a:prstGeom prst="homePlate">
            <a:avLst/>
          </a:prstGeom>
          <a:solidFill>
            <a:srgbClr val="6FC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Pentagon 5"/>
          <p:cNvSpPr/>
          <p:nvPr/>
        </p:nvSpPr>
        <p:spPr>
          <a:xfrm>
            <a:off x="7388352" y="137160"/>
            <a:ext cx="530352" cy="292608"/>
          </a:xfrm>
          <a:prstGeom prst="homePlate">
            <a:avLst/>
          </a:prstGeom>
          <a:solidFill>
            <a:srgbClr val="E8C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61320" y="182880"/>
            <a:ext cx="146304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3200" b="1" i="0" u="none">
                <a:solidFill>
                  <a:srgbClr val="E30613"/>
                </a:solidFill>
                <a:latin typeface="Calibri"/>
              </a:rPr>
              <a:t>ERGO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731520"/>
            <a:ext cx="146304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800" b="0" i="0" u="none">
                <a:solidFill>
                  <a:srgbClr val="333333"/>
                </a:solidFill>
                <a:latin typeface="Calibri"/>
              </a:rPr>
              <a:t>A Munich Re company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28600"/>
            <a:ext cx="6400800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0" i="0" u="none">
                <a:solidFill>
                  <a:srgbClr val="333333"/>
                </a:solidFill>
                <a:latin typeface="Calibri"/>
              </a:rPr>
              <a:t>STRUKTURIERUNG  |  MENGENGERÜSTE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594360"/>
            <a:ext cx="1005840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E30613"/>
                </a:solidFill>
                <a:latin typeface="Calibri"/>
              </a:rPr>
              <a:t>Wenige Makler, viele zusammenhängende Vorgänge — heute im Postkorb nicht auffindbar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078992"/>
            <a:ext cx="1005840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E30613"/>
                </a:solidFill>
                <a:latin typeface="Calibri"/>
              </a:rPr>
              <a:t>Strukturierung + Excel ermöglichen gezieltes Abarbeiten (Prio-Makler, Cluster) statt blindem Postkorb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1920240"/>
            <a:ext cx="73152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 i="0" u="none">
                <a:solidFill>
                  <a:srgbClr val="333333"/>
                </a:solidFill>
                <a:latin typeface="Calibri"/>
              </a:rPr>
              <a:t>MENGENGERÜST: MAKLER &amp; CLUSTER*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1920240"/>
            <a:ext cx="36576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 i="0" u="none">
                <a:solidFill>
                  <a:srgbClr val="333333"/>
                </a:solidFill>
                <a:latin typeface="Calibri"/>
              </a:rPr>
              <a:t>KERNAUSSAGEN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6446520"/>
            <a:ext cx="11338560" cy="9525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6510528"/>
            <a:ext cx="100584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666666"/>
                </a:solidFill>
                <a:latin typeface="Calibri"/>
              </a:rPr>
              <a:t>ERGO | Makler BUe meets KI – Zwischenbericht Phase 1 - 10.06.2026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510528"/>
            <a:ext cx="4572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900" b="0" i="0" u="none">
                <a:solidFill>
                  <a:srgbClr val="666666"/>
                </a:solidFill>
                <a:latin typeface="Calibri"/>
              </a:rPr>
              <a:t>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2331720"/>
            <a:ext cx="7635240" cy="237744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 i="1" u="none">
                <a:solidFill>
                  <a:srgbClr val="666666"/>
                </a:solidFill>
                <a:latin typeface="Calibri"/>
              </a:rPr>
              <a:t>Vorgang = ein Makler-+-Kunde-Fall.  Ø Mails/Vorgang &gt; 1 → mehrere Mails zum selben Fall (Cluster).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411480" y="2587752"/>
          <a:ext cx="7635240" cy="250545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3063240"/>
                <a:gridCol w="1508760"/>
                <a:gridCol w="1508760"/>
                <a:gridCol w="1554480"/>
              </a:tblGrid>
              <a:tr h="310896">
                <a:tc>
                  <a:txBody>
                    <a:bodyPr lIns="36000" rIns="36000" tIns="18000" bIns="18000"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Maklerpool</a:t>
                      </a:r>
                    </a:p>
                  </a:txBody>
                  <a:tcPr anchor="ctr">
                    <a:solidFill>
                      <a:srgbClr val="006B77"/>
                    </a:solidFill>
                  </a:tcPr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BÜ-Anfragen / Wo</a:t>
                      </a:r>
                    </a:p>
                  </a:txBody>
                  <a:tcPr anchor="ctr">
                    <a:solidFill>
                      <a:srgbClr val="006B77"/>
                    </a:solidFill>
                  </a:tcPr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Vorgänge</a:t>
                      </a:r>
                    </a:p>
                  </a:txBody>
                  <a:tcPr anchor="ctr">
                    <a:solidFill>
                      <a:srgbClr val="006B77"/>
                    </a:solidFill>
                  </a:tcPr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Ø Mails / Vorgang</a:t>
                      </a:r>
                    </a:p>
                  </a:txBody>
                  <a:tcPr anchor="ctr">
                    <a:solidFill>
                      <a:srgbClr val="006B77"/>
                    </a:solidFill>
                  </a:tcPr>
                </a:tc>
              </a:tr>
              <a:tr h="274320">
                <a:tc>
                  <a:txBody>
                    <a:bodyPr lIns="36000" rIns="36000" tIns="18000" bIns="18000"/>
                    <a:lstStyle/>
                    <a:p>
                      <a:pPr algn="l"/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JDC / Jung, DMS &amp; Cie.</a:t>
                      </a:r>
                    </a:p>
                  </a:txBody>
                  <a:tcPr anchor="ctr"/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1.538</a:t>
                      </a:r>
                    </a:p>
                  </a:txBody>
                  <a:tcPr anchor="ctr"/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913</a:t>
                      </a:r>
                    </a:p>
                  </a:txBody>
                  <a:tcPr anchor="ctr"/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1,68</a:t>
                      </a:r>
                    </a:p>
                  </a:txBody>
                  <a:tcPr anchor="ctr"/>
                </a:tc>
              </a:tr>
              <a:tr h="274320">
                <a:tc>
                  <a:txBody>
                    <a:bodyPr lIns="36000" rIns="36000" tIns="18000" bIns="18000"/>
                    <a:lstStyle/>
                    <a:p>
                      <a:pPr algn="l"/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Fonds Finanz</a:t>
                      </a:r>
                    </a:p>
                  </a:txBody>
                  <a:tcPr anchor="ctr"/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612</a:t>
                      </a:r>
                    </a:p>
                  </a:txBody>
                  <a:tcPr anchor="ctr"/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291</a:t>
                      </a:r>
                    </a:p>
                  </a:txBody>
                  <a:tcPr anchor="ctr"/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2,10</a:t>
                      </a:r>
                    </a:p>
                  </a:txBody>
                  <a:tcPr anchor="ctr"/>
                </a:tc>
              </a:tr>
              <a:tr h="274320">
                <a:tc>
                  <a:txBody>
                    <a:bodyPr lIns="36000" rIns="36000" tIns="18000" bIns="18000"/>
                    <a:lstStyle/>
                    <a:p>
                      <a:pPr algn="l"/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blau direkt</a:t>
                      </a:r>
                    </a:p>
                  </a:txBody>
                  <a:tcPr anchor="ctr"/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255</a:t>
                      </a:r>
                    </a:p>
                  </a:txBody>
                  <a:tcPr anchor="ctr"/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180</a:t>
                      </a:r>
                    </a:p>
                  </a:txBody>
                  <a:tcPr anchor="ctr"/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1,42</a:t>
                      </a:r>
                    </a:p>
                  </a:txBody>
                  <a:tcPr anchor="ctr"/>
                </a:tc>
              </a:tr>
              <a:tr h="274320">
                <a:tc>
                  <a:txBody>
                    <a:bodyPr lIns="36000" rIns="36000" tIns="18000" bIns="18000"/>
                    <a:lstStyle/>
                    <a:p>
                      <a:pPr algn="l"/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DEMA</a:t>
                      </a:r>
                    </a:p>
                  </a:txBody>
                  <a:tcPr anchor="ctr"/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158</a:t>
                      </a:r>
                    </a:p>
                  </a:txBody>
                  <a:tcPr anchor="ctr"/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124</a:t>
                      </a:r>
                    </a:p>
                  </a:txBody>
                  <a:tcPr anchor="ctr"/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1,27</a:t>
                      </a:r>
                    </a:p>
                  </a:txBody>
                  <a:tcPr anchor="ctr"/>
                </a:tc>
              </a:tr>
              <a:tr h="274320">
                <a:tc>
                  <a:txBody>
                    <a:bodyPr lIns="36000" rIns="36000" tIns="18000" bIns="18000"/>
                    <a:lstStyle/>
                    <a:p>
                      <a:pPr algn="l"/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vfm Service</a:t>
                      </a:r>
                    </a:p>
                  </a:txBody>
                  <a:tcPr anchor="ctr"/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116</a:t>
                      </a:r>
                    </a:p>
                  </a:txBody>
                  <a:tcPr anchor="ctr"/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77</a:t>
                      </a:r>
                    </a:p>
                  </a:txBody>
                  <a:tcPr anchor="ctr"/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1,51</a:t>
                      </a:r>
                    </a:p>
                  </a:txBody>
                  <a:tcPr anchor="ctr"/>
                </a:tc>
              </a:tr>
              <a:tr h="274320">
                <a:tc>
                  <a:txBody>
                    <a:bodyPr lIns="36000" rIns="36000" tIns="18000" bIns="18000"/>
                    <a:lstStyle/>
                    <a:p>
                      <a:pPr algn="l"/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Summe Top-5-Makler  (65 % der BÜ-Anfragen)</a:t>
                      </a:r>
                    </a:p>
                  </a:txBody>
                  <a:tcPr anchor="ctr">
                    <a:solidFill>
                      <a:srgbClr val="CFE6E9"/>
                    </a:solidFill>
                  </a:tcPr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2.594</a:t>
                      </a:r>
                    </a:p>
                  </a:txBody>
                  <a:tcPr anchor="ctr">
                    <a:solidFill>
                      <a:srgbClr val="CFE6E9"/>
                    </a:solidFill>
                  </a:tcPr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1.519</a:t>
                      </a:r>
                    </a:p>
                  </a:txBody>
                  <a:tcPr anchor="ctr">
                    <a:solidFill>
                      <a:srgbClr val="CFE6E9"/>
                    </a:solidFill>
                  </a:tcPr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1,71</a:t>
                      </a:r>
                    </a:p>
                  </a:txBody>
                  <a:tcPr anchor="ctr">
                    <a:solidFill>
                      <a:srgbClr val="CFE6E9"/>
                    </a:solidFill>
                  </a:tcPr>
                </a:tc>
              </a:tr>
              <a:tr h="274320">
                <a:tc>
                  <a:txBody>
                    <a:bodyPr lIns="36000" rIns="36000" tIns="18000" bIns="18000"/>
                    <a:lstStyle/>
                    <a:p>
                      <a:pPr algn="l"/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Sonstige Makler (Long-Tail)</a:t>
                      </a:r>
                    </a:p>
                  </a:txBody>
                  <a:tcPr anchor="ctr"/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1.406</a:t>
                      </a:r>
                    </a:p>
                  </a:txBody>
                  <a:tcPr anchor="ctr"/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982</a:t>
                      </a:r>
                    </a:p>
                  </a:txBody>
                  <a:tcPr anchor="ctr"/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1,43</a:t>
                      </a:r>
                    </a:p>
                  </a:txBody>
                  <a:tcPr anchor="ctr"/>
                </a:tc>
              </a:tr>
              <a:tr h="274320">
                <a:tc>
                  <a:txBody>
                    <a:bodyPr lIns="36000" rIns="36000" tIns="18000" bIns="18000"/>
                    <a:lstStyle/>
                    <a:p>
                      <a:pPr algn="l"/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Gesamt</a:t>
                      </a:r>
                    </a:p>
                  </a:txBody>
                  <a:tcPr anchor="ctr">
                    <a:solidFill>
                      <a:srgbClr val="E9EFF1"/>
                    </a:solidFill>
                  </a:tcPr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4.000</a:t>
                      </a:r>
                    </a:p>
                  </a:txBody>
                  <a:tcPr anchor="ctr">
                    <a:solidFill>
                      <a:srgbClr val="E9EFF1"/>
                    </a:solidFill>
                  </a:tcPr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2.495</a:t>
                      </a:r>
                    </a:p>
                  </a:txBody>
                  <a:tcPr anchor="ctr">
                    <a:solidFill>
                      <a:srgbClr val="E9EFF1"/>
                    </a:solidFill>
                  </a:tcPr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1,60</a:t>
                      </a:r>
                    </a:p>
                  </a:txBody>
                  <a:tcPr anchor="ctr">
                    <a:solidFill>
                      <a:srgbClr val="E9EFF1"/>
                    </a:solidFill>
                  </a:tcPr>
                </a:tc>
              </a:tr>
            </a:tbl>
          </a:graphicData>
        </a:graphic>
      </p:graphicFrame>
      <p:sp>
        <p:nvSpPr>
          <p:cNvPr id="19" name="Rectangle 18"/>
          <p:cNvSpPr/>
          <p:nvPr/>
        </p:nvSpPr>
        <p:spPr>
          <a:xfrm>
            <a:off x="411480" y="5276088"/>
            <a:ext cx="7635240" cy="868680"/>
          </a:xfrm>
          <a:prstGeom prst="rect">
            <a:avLst/>
          </a:prstGeom>
          <a:solidFill>
            <a:srgbClr val="CFE6E9"/>
          </a:solidFill>
          <a:ln w="12700">
            <a:solidFill>
              <a:srgbClr val="0087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330952"/>
            <a:ext cx="726948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1" i="0" u="none">
                <a:solidFill>
                  <a:srgbClr val="006B77"/>
                </a:solidFill>
                <a:latin typeface="Calibri"/>
              </a:rPr>
              <a:t>Die 4.000 BÜ-Anfragen teilen sich auf in: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605272"/>
            <a:ext cx="7086600" cy="237744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 i="0" u="none">
                <a:solidFill>
                  <a:srgbClr val="333333"/>
                </a:solidFill>
                <a:latin typeface="Calibri"/>
              </a:rPr>
              <a:t>• 1.883 Einzelmails (47 %) — je ein einzelner Vorgang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5861304"/>
            <a:ext cx="7086600" cy="237744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 i="0" u="none">
                <a:solidFill>
                  <a:srgbClr val="333333"/>
                </a:solidFill>
                <a:latin typeface="Calibri"/>
              </a:rPr>
              <a:t>• 2.117 Mails (53 %) zu nur 612 Vorgängen — selber Makler schreibt mehrfach zum selben Kunden (Cluster)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0" y="2240280"/>
            <a:ext cx="3611880" cy="3611880"/>
          </a:xfrm>
          <a:prstGeom prst="rect">
            <a:avLst/>
          </a:prstGeom>
          <a:solidFill>
            <a:srgbClr val="CFE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39328" y="2304288"/>
            <a:ext cx="3392424" cy="256032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1" i="0" u="none">
                <a:solidFill>
                  <a:srgbClr val="006B77"/>
                </a:solidFill>
                <a:latin typeface="Calibri"/>
              </a:rPr>
              <a:t>Split nach Segment (BÜ-Anfragen)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8321040" y="2606040"/>
          <a:ext cx="3429000" cy="15544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143000"/>
                <a:gridCol w="1097280"/>
                <a:gridCol w="1188720"/>
              </a:tblGrid>
              <a:tr h="274320">
                <a:tc>
                  <a:txBody>
                    <a:bodyPr lIns="36000" rIns="36000" tIns="18000" bIns="18000"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Sparte</a:t>
                      </a:r>
                    </a:p>
                  </a:txBody>
                  <a:tcPr anchor="ctr">
                    <a:solidFill>
                      <a:srgbClr val="006B77"/>
                    </a:solidFill>
                  </a:tcPr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BÜ-Anfr.</a:t>
                      </a:r>
                    </a:p>
                  </a:txBody>
                  <a:tcPr anchor="ctr">
                    <a:solidFill>
                      <a:srgbClr val="006B77"/>
                    </a:solidFill>
                  </a:tcPr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000" b="1" i="0">
                          <a:solidFill>
                            <a:srgbClr val="FFFFFF"/>
                          </a:solidFill>
                          <a:latin typeface="Calibri"/>
                        </a:rPr>
                        <a:t>in Cluster</a:t>
                      </a:r>
                    </a:p>
                  </a:txBody>
                  <a:tcPr anchor="ctr">
                    <a:solidFill>
                      <a:srgbClr val="006B77"/>
                    </a:solidFill>
                  </a:tcPr>
                </a:tc>
              </a:tr>
              <a:tr h="256032">
                <a:tc>
                  <a:txBody>
                    <a:bodyPr lIns="36000" rIns="36000" tIns="18000" bIns="18000"/>
                    <a:lstStyle/>
                    <a:p>
                      <a:pPr algn="l"/>
                      <a:r>
                        <a:rPr sz="1000" b="1" i="0">
                          <a:solidFill>
                            <a:srgbClr val="9C060F"/>
                          </a:solidFill>
                          <a:latin typeface="Calibri"/>
                        </a:rPr>
                        <a:t>KV</a:t>
                      </a:r>
                    </a:p>
                  </a:txBody>
                  <a:tcPr anchor="ctr">
                    <a:solidFill>
                      <a:srgbClr val="FDE2C4"/>
                    </a:solidFill>
                  </a:tcPr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000" b="1" i="0">
                          <a:solidFill>
                            <a:srgbClr val="9C060F"/>
                          </a:solidFill>
                          <a:latin typeface="Calibri"/>
                        </a:rPr>
                        <a:t>1.147</a:t>
                      </a:r>
                    </a:p>
                  </a:txBody>
                  <a:tcPr anchor="ctr">
                    <a:solidFill>
                      <a:srgbClr val="FDE2C4"/>
                    </a:solidFill>
                  </a:tcPr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000" b="1" i="0">
                          <a:solidFill>
                            <a:srgbClr val="9C060F"/>
                          </a:solidFill>
                          <a:latin typeface="Calibri"/>
                        </a:rPr>
                        <a:t>354 (31 %)</a:t>
                      </a:r>
                    </a:p>
                  </a:txBody>
                  <a:tcPr anchor="ctr">
                    <a:solidFill>
                      <a:srgbClr val="FDE2C4"/>
                    </a:solidFill>
                  </a:tcPr>
                </a:tc>
              </a:tr>
              <a:tr h="256032">
                <a:tc>
                  <a:txBody>
                    <a:bodyPr lIns="36000" rIns="36000" tIns="18000" bIns="18000"/>
                    <a:lstStyle/>
                    <a:p>
                      <a:pPr algn="l"/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Komposit</a:t>
                      </a:r>
                    </a:p>
                  </a:txBody>
                  <a:tcPr anchor="ctr"/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2.089</a:t>
                      </a:r>
                    </a:p>
                  </a:txBody>
                  <a:tcPr anchor="ctr"/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1.405 (67 %)</a:t>
                      </a:r>
                    </a:p>
                  </a:txBody>
                  <a:tcPr anchor="ctr"/>
                </a:tc>
              </a:tr>
              <a:tr h="256032">
                <a:tc>
                  <a:txBody>
                    <a:bodyPr lIns="36000" rIns="36000" tIns="18000" bIns="18000"/>
                    <a:lstStyle/>
                    <a:p>
                      <a:pPr algn="l"/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Leben</a:t>
                      </a:r>
                    </a:p>
                  </a:txBody>
                  <a:tcPr anchor="ctr"/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662</a:t>
                      </a:r>
                    </a:p>
                  </a:txBody>
                  <a:tcPr anchor="ctr"/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325 (49 %)</a:t>
                      </a:r>
                    </a:p>
                  </a:txBody>
                  <a:tcPr anchor="ctr"/>
                </a:tc>
              </a:tr>
              <a:tr h="256032">
                <a:tc>
                  <a:txBody>
                    <a:bodyPr lIns="36000" rIns="36000" tIns="18000" bIns="18000"/>
                    <a:lstStyle/>
                    <a:p>
                      <a:pPr algn="l"/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Sonstige</a:t>
                      </a:r>
                    </a:p>
                  </a:txBody>
                  <a:tcPr anchor="ctr"/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102</a:t>
                      </a:r>
                    </a:p>
                  </a:txBody>
                  <a:tcPr anchor="ctr"/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000" b="0" i="0">
                          <a:solidFill>
                            <a:srgbClr val="333333"/>
                          </a:solidFill>
                          <a:latin typeface="Calibri"/>
                        </a:rPr>
                        <a:t>33 (32 %)</a:t>
                      </a:r>
                    </a:p>
                  </a:txBody>
                  <a:tcPr anchor="ctr"/>
                </a:tc>
              </a:tr>
              <a:tr h="256032">
                <a:tc>
                  <a:txBody>
                    <a:bodyPr lIns="36000" rIns="36000" tIns="18000" bIns="18000"/>
                    <a:lstStyle/>
                    <a:p>
                      <a:pPr algn="l"/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Gesamt</a:t>
                      </a:r>
                    </a:p>
                  </a:txBody>
                  <a:tcPr anchor="ctr">
                    <a:solidFill>
                      <a:srgbClr val="E9EFF1"/>
                    </a:solidFill>
                  </a:tcPr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4.000</a:t>
                      </a:r>
                    </a:p>
                  </a:txBody>
                  <a:tcPr anchor="ctr">
                    <a:solidFill>
                      <a:srgbClr val="E9EFF1"/>
                    </a:solidFill>
                  </a:tcPr>
                </a:tc>
                <a:tc>
                  <a:txBody>
                    <a:bodyPr lIns="36000" rIns="36000" tIns="18000" bIns="18000"/>
                    <a:lstStyle/>
                    <a:p>
                      <a:pPr algn="ctr"/>
                      <a:r>
                        <a:rPr sz="1000" b="1" i="0">
                          <a:solidFill>
                            <a:srgbClr val="333333"/>
                          </a:solidFill>
                          <a:latin typeface="Calibri"/>
                        </a:rPr>
                        <a:t>2.117 (53 %)</a:t>
                      </a:r>
                    </a:p>
                  </a:txBody>
                  <a:tcPr anchor="ctr">
                    <a:solidFill>
                      <a:srgbClr val="E9EFF1"/>
                    </a:solidFill>
                  </a:tcPr>
                </a:tc>
              </a:tr>
            </a:tbl>
          </a:graphicData>
        </a:graphic>
      </p:graphicFrame>
      <p:sp>
        <p:nvSpPr>
          <p:cNvPr id="26" name="TextBox 25"/>
          <p:cNvSpPr txBox="1"/>
          <p:nvPr/>
        </p:nvSpPr>
        <p:spPr>
          <a:xfrm>
            <a:off x="8339328" y="4206240"/>
            <a:ext cx="3392424" cy="256032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1" u="none">
                <a:solidFill>
                  <a:srgbClr val="9C060F"/>
                </a:solidFill>
                <a:latin typeface="Calibri"/>
              </a:rPr>
              <a:t>KV: kein VNR-Mapping → jede Mail = eigener Vorgang</a:t>
            </a:r>
          </a:p>
        </p:txBody>
      </p:sp>
      <p:sp>
        <p:nvSpPr>
          <p:cNvPr id="27" name="Oval 26"/>
          <p:cNvSpPr/>
          <p:nvPr/>
        </p:nvSpPr>
        <p:spPr>
          <a:xfrm>
            <a:off x="8366760" y="4535424"/>
            <a:ext cx="384048" cy="384048"/>
          </a:xfrm>
          <a:prstGeom prst="ellipse">
            <a:avLst/>
          </a:prstGeom>
          <a:solidFill>
            <a:srgbClr val="FFFFFF"/>
          </a:solidFill>
          <a:ln w="22225">
            <a:solidFill>
              <a:srgbClr val="C86E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66760" y="4535424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C86E10"/>
                </a:solidFill>
                <a:latin typeface="Calibri"/>
              </a:rPr>
              <a:t>!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51392" y="4517136"/>
            <a:ext cx="2880360" cy="256032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1" i="0" u="none">
                <a:solidFill>
                  <a:srgbClr val="333333"/>
                </a:solidFill>
                <a:latin typeface="Calibri"/>
              </a:rPr>
              <a:t>Erkenntnis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851392" y="4773168"/>
            <a:ext cx="2834640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 i="0" u="none">
                <a:solidFill>
                  <a:srgbClr val="333333"/>
                </a:solidFill>
                <a:latin typeface="Calibri"/>
              </a:rPr>
              <a:t>Diese Vorgänge sind im Postkorb heute nicht auffindbar.</a:t>
            </a:r>
          </a:p>
        </p:txBody>
      </p:sp>
      <p:sp>
        <p:nvSpPr>
          <p:cNvPr id="31" name="Oval 30"/>
          <p:cNvSpPr/>
          <p:nvPr/>
        </p:nvSpPr>
        <p:spPr>
          <a:xfrm>
            <a:off x="8366760" y="5212080"/>
            <a:ext cx="384048" cy="384048"/>
          </a:xfrm>
          <a:prstGeom prst="ellipse">
            <a:avLst/>
          </a:prstGeom>
          <a:solidFill>
            <a:srgbClr val="FFFFFF"/>
          </a:solidFill>
          <a:ln w="22225">
            <a:solidFill>
              <a:srgbClr val="0087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66760" y="5212080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008793"/>
                </a:solidFill>
                <a:latin typeface="Calibri"/>
              </a:rPr>
              <a:t>→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51392" y="5193792"/>
            <a:ext cx="2880360" cy="256032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1" i="0" u="none">
                <a:solidFill>
                  <a:srgbClr val="333333"/>
                </a:solidFill>
                <a:latin typeface="Calibri"/>
              </a:rPr>
              <a:t>Möglichkeit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51392" y="5449824"/>
            <a:ext cx="2834640" cy="603504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 i="0" u="none">
                <a:solidFill>
                  <a:srgbClr val="333333"/>
                </a:solidFill>
                <a:latin typeface="Calibri"/>
              </a:rPr>
              <a:t>Strukturierung + Excel: gezielt alle Vorgänge eines Prio-Maklers oder alle mit Cluster gebündelt abarbeiten.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1480" y="5559552"/>
            <a:ext cx="11338560" cy="1828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800" b="0" i="1" u="none">
                <a:solidFill>
                  <a:srgbClr val="666666"/>
                </a:solidFill>
                <a:latin typeface="Calibri"/>
              </a:rPr>
              <a:t>* BÜ-Anfragen = Mails mit Status 'Neue BÜ' (4.000 / Wo). Vorgang = eindeutige Kombination Makler + Kunde. Cluster = Vorgang mit &gt; 1 BÜ-Anfrage-Mail in derselben Woche.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0" y="5760720"/>
            <a:ext cx="11338560" cy="1828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800" b="0" i="1" u="none">
                <a:solidFill>
                  <a:srgbClr val="666666"/>
                </a:solidFill>
                <a:latin typeface="Calibri"/>
              </a:rPr>
              <a:t>Datenbasis: 5.034 Mails  |  Mo 13.04. – Mo 20.04.2026 (eine Kalenderwoche)  |  Eingangs-Postfächer: 'Service Team Makleraufträge' (94 %), 'Bestandsübertragungen' (5 %), 12 weitere &lt;1 %  |  Analyse-Stand: 27.05.2026 (KI-Auswertung mit Claude Opus 4.7, 99 von 5.034 Mails mit Analyse-Fehler/Timeout)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" y="5989320"/>
            <a:ext cx="11338560" cy="384048"/>
          </a:xfrm>
          <a:prstGeom prst="rect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4360" y="5989320"/>
            <a:ext cx="10972800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200" b="1" i="0" u="none">
                <a:solidFill>
                  <a:srgbClr val="FFFFFF"/>
                </a:solidFill>
                <a:latin typeface="Calibri"/>
              </a:rPr>
              <a:t>TAKE-AWAY:  65 % der BÜ-Anfragen kommen von 5 Maklern, 53 % hängen in Clustern (KV ohne VNR-Mapping) — heute nicht auffindbar. Strukturierung + Excel ermöglichen gezieltes Abarbeiten nach Prio-Makler und Cluster.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