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Nicht-BUe-Mails belasten den Posteingang ungleich nach Sparte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groesster Hebel: KV-Triage und Spam-Filter. Komposit-Reminder laeuft heute schon gut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Aufteilung der 1.034 Nicht-BUe-Mails / Woche nach Sparte – heutiger Filter-Status und KI-Hebel-Potenzial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36576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6060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Sparte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606040"/>
            <a:ext cx="105156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Posteingang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606040"/>
            <a:ext cx="9601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Keine BÜ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2606040"/>
            <a:ext cx="9601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Reminder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2606040"/>
            <a:ext cx="14630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Heutige Filterung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60604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Verbesserungs-Hebel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971800"/>
            <a:ext cx="76352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2971800"/>
            <a:ext cx="109728" cy="411480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" y="2971800"/>
            <a:ext cx="1399032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Komposit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2971800"/>
            <a:ext cx="105156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2.502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1800" y="297180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192 (8 %)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97180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221 (9 %)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2971800"/>
            <a:ext cx="14630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Reminder bereits gut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044952"/>
            <a:ext cx="1600200" cy="265176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2971800"/>
            <a:ext cx="16916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192 Keine BÜ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383280"/>
            <a:ext cx="7635240" cy="41148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" y="3383280"/>
            <a:ext cx="109728" cy="41148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1208" y="3383280"/>
            <a:ext cx="1399032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3383280"/>
            <a:ext cx="105156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1.308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71800" y="338328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112 (9 %)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38328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49 (4 %)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3383280"/>
            <a:ext cx="14630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schwach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3456432"/>
            <a:ext cx="1600200" cy="265176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3383280"/>
            <a:ext cx="16916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161 Mails (groesster Hebel)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794760"/>
            <a:ext cx="76352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11480" y="3794760"/>
            <a:ext cx="109728" cy="411480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1208" y="3794760"/>
            <a:ext cx="1399032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Leben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20240" y="3794760"/>
            <a:ext cx="105156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755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71800" y="379476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55 (7 %)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79476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38 (5 %)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3794760"/>
            <a:ext cx="14630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teilweise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0" y="3867912"/>
            <a:ext cx="1600200" cy="265176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80" y="3794760"/>
            <a:ext cx="16916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93 Mails (mittel)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206240"/>
            <a:ext cx="7635240" cy="41148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206240"/>
            <a:ext cx="109728" cy="411480"/>
          </a:xfrm>
          <a:prstGeom prst="rect">
            <a:avLst/>
          </a:prstGeom>
          <a:solidFill>
            <a:srgbClr val="109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1208" y="4206240"/>
            <a:ext cx="1399032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Sparten-leer/Spam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206240"/>
            <a:ext cx="105156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343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71800" y="420624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343 (100 %)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420624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92040" y="4206240"/>
            <a:ext cx="14630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kaum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4279392"/>
            <a:ext cx="1600200" cy="265176"/>
          </a:xfrm>
          <a:prstGeom prst="rect">
            <a:avLst/>
          </a:prstGeom>
          <a:solidFill>
            <a:srgbClr val="109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55080" y="4206240"/>
            <a:ext cx="16916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343 Mails (trivial)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4617720"/>
            <a:ext cx="76352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1480" y="4617720"/>
            <a:ext cx="109728" cy="41148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1208" y="4617720"/>
            <a:ext cx="1399032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Mehrere/Unbekannt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4617720"/>
            <a:ext cx="105156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71800" y="461772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31920" y="4617720"/>
            <a:ext cx="9601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92040" y="4617720"/>
            <a:ext cx="14630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uneinheitlich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0" y="4690872"/>
            <a:ext cx="1600200" cy="265176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55080" y="4617720"/>
            <a:ext cx="16916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klein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5102352"/>
            <a:ext cx="7635240" cy="384048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48640" y="5102352"/>
            <a:ext cx="736092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Gesamt 1.034 Nicht-BUe-Mails / Woche  -  davon Komposit-Reminder (221) heute schon gut gefiltert  -&gt;  realer Verbesserungs-Hebel ~800 Mails / Woche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KV-Triage ist die Luecke: </a:t>
            </a:r>
            <a:r>
              <a:rPr sz="1100">
                <a:solidFill>
                  <a:srgbClr val="333333"/>
                </a:solidFill>
                <a:latin typeface="Calibri"/>
              </a:rPr>
              <a:t>161 Nicht-BUe-Mails / Woche werden heute schlecht gefiltert – sowohl Keine BUe als auch Reminder.</a:t>
            </a:r>
          </a:p>
        </p:txBody>
      </p:sp>
      <p:sp>
        <p:nvSpPr>
          <p:cNvPr id="76" name="Oval 75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Sparten-leer/Spam: </a:t>
            </a:r>
            <a:r>
              <a:rPr sz="1100">
                <a:solidFill>
                  <a:srgbClr val="333333"/>
                </a:solidFill>
                <a:latin typeface="Calibri"/>
              </a:rPr>
              <a:t>343 Mails (33 % der Nicht-BUe) sind trivial mit Header-Regeln auszufiltern.</a:t>
            </a:r>
          </a:p>
        </p:txBody>
      </p:sp>
      <p:sp>
        <p:nvSpPr>
          <p:cNvPr id="79" name="Oval 78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Komposit-Reminder OK: </a:t>
            </a:r>
            <a:r>
              <a:rPr sz="1100">
                <a:solidFill>
                  <a:srgbClr val="333333"/>
                </a:solidFill>
                <a:latin typeface="Calibri"/>
              </a:rPr>
              <a:t>221 Komposit-Reminder werden heute schon gut erkannt – kein neuer Hebel.</a:t>
            </a:r>
          </a:p>
        </p:txBody>
      </p:sp>
      <p:sp>
        <p:nvSpPr>
          <p:cNvPr id="82" name="Oval 81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Komposit-Keine BUe: </a:t>
            </a:r>
            <a:r>
              <a:rPr sz="1100">
                <a:solidFill>
                  <a:srgbClr val="333333"/>
                </a:solidFill>
                <a:latin typeface="Calibri"/>
              </a:rPr>
              <a:t>192 Mails Schaden/Antrag/Anfrage gehoeren in andere Postfaecher – zweitgroesster Hebel.</a:t>
            </a:r>
          </a:p>
        </p:txBody>
      </p:sp>
      <p:sp>
        <p:nvSpPr>
          <p:cNvPr id="85" name="Oval 84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Reihenfolge der Massnahmen: </a:t>
            </a:r>
            <a:r>
              <a:rPr sz="1100">
                <a:solidFill>
                  <a:srgbClr val="333333"/>
                </a:solidFill>
                <a:latin typeface="Calibri"/>
              </a:rPr>
              <a:t>1) Spam/leer-Filter  2) KV-Triage aufbauen  3) Komposit-Keine BUe routen.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11480" y="5897880"/>
            <a:ext cx="11338560" cy="41148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94360" y="5897880"/>
            <a:ext cx="109728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Realer Vorqualifizierungs-Hebel ~800 Mails / Woche (-16 %) – Schwerpunkt KV und Spam/Sparten-leer; Komposit-Reminder läuft heute schon gut.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Vorgangs-Clusterung ist primaer in KV ein neuer Hebel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Komposit und Leben werden bereits im Bestands-Postkorb geclustert (85 % der Nachreichungen)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Aufteilung der 1.505 Nachreichungen / Woche nach Sparte  –  echter neuer Hebel: KV-Auto-Zuordnung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36576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6060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Sparte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606040"/>
            <a:ext cx="11430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Nachreichungen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2606040"/>
            <a:ext cx="10972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Cluster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0520" y="2606040"/>
            <a:ext cx="105156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Ø Mails/Vorg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606040"/>
            <a:ext cx="2834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Heutiger Stand / Hebel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971800"/>
            <a:ext cx="76352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" y="2971800"/>
            <a:ext cx="109728" cy="5029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" y="2971800"/>
            <a:ext cx="150876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Komposit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2971800"/>
            <a:ext cx="114300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1.055 (70 %)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2971800"/>
            <a:ext cx="109728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2971800"/>
            <a:ext cx="105156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2,02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0" y="2971800"/>
            <a:ext cx="269748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im Bestands-Postkorb bereits geclustert – KEIN neuer KI-Hebel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474720"/>
            <a:ext cx="7635240" cy="50292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" y="3474720"/>
            <a:ext cx="109728" cy="5029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1208" y="3474720"/>
            <a:ext cx="150876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Leben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20240" y="3474720"/>
            <a:ext cx="114300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217 (14 %)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63240" y="3474720"/>
            <a:ext cx="109728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3474720"/>
            <a:ext cx="105156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1,49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3474720"/>
            <a:ext cx="269748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im Bestands-Postkorb bereits geclustert – kein neuer Hebel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977640"/>
            <a:ext cx="7635240" cy="50292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1480" y="3977640"/>
            <a:ext cx="109728" cy="50292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977640"/>
            <a:ext cx="150876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9C060F"/>
                </a:solidFill>
                <a:latin typeface="Calibri"/>
              </a:rPr>
              <a:t>KV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20240" y="3977640"/>
            <a:ext cx="114300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213 (14 %)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63240" y="3977640"/>
            <a:ext cx="109728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256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60520" y="3977640"/>
            <a:ext cx="105156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1,23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03520" y="3977640"/>
            <a:ext cx="269748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1" i="0" u="none">
                <a:solidFill>
                  <a:srgbClr val="9C060F"/>
                </a:solidFill>
                <a:latin typeface="Calibri"/>
              </a:rPr>
              <a:t>heute KEINE Cluster-Sicht – ECHTER neuer Hebel: -213 Eröffn./Wo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4480560"/>
            <a:ext cx="7635240" cy="50292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1480" y="4480560"/>
            <a:ext cx="109728" cy="5029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1208" y="4480560"/>
            <a:ext cx="150876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Sonstiges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20240" y="4480560"/>
            <a:ext cx="114300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20 (1 %)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63240" y="4480560"/>
            <a:ext cx="109728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60520" y="4480560"/>
            <a:ext cx="105156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1,30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03520" y="4480560"/>
            <a:ext cx="2697480" cy="5029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marginales Volumen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5120640"/>
            <a:ext cx="76352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Top-Pools in den 213 KV-Nachreichungen – JDC dominiert klar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413248"/>
            <a:ext cx="7635240" cy="27432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413248"/>
            <a:ext cx="32004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Pool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11880" y="541324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Nachreichungen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92040" y="541324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Anteil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72200" y="5413248"/>
            <a:ext cx="1874519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Cluster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11480" y="5687568"/>
            <a:ext cx="7635240" cy="27432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480" y="5687568"/>
            <a:ext cx="32004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1" i="0" u="none">
                <a:solidFill>
                  <a:srgbClr val="9C060F"/>
                </a:solidFill>
                <a:latin typeface="Calibri"/>
              </a:rPr>
              <a:t>JDC / Jung, DMS &amp; Cie.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11880" y="568756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9C060F"/>
                </a:solidFill>
                <a:latin typeface="Calibri"/>
              </a:rPr>
              <a:t>116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92040" y="568756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9C060F"/>
                </a:solidFill>
                <a:latin typeface="Calibri"/>
              </a:rPr>
              <a:t>54,5 %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72200" y="5687568"/>
            <a:ext cx="1874519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9C060F"/>
                </a:solidFill>
                <a:latin typeface="Calibri"/>
              </a:rPr>
              <a:t>101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5961888"/>
            <a:ext cx="7635240" cy="27432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5961888"/>
            <a:ext cx="32004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Fonds Finanz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11880" y="596188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92040" y="596188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13,1 %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72200" y="5961888"/>
            <a:ext cx="1874519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6236208"/>
            <a:ext cx="763524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6236208"/>
            <a:ext cx="32004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Sonstige (8 Pools)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11880" y="623620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69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92040" y="623620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32,4 %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72200" y="6236208"/>
            <a:ext cx="1874519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0" i="0" u="none">
                <a:solidFill>
                  <a:srgbClr val="333333"/>
                </a:solidFill>
                <a:latin typeface="Calibri"/>
              </a:rPr>
              <a:t>53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Komposit + Leben: </a:t>
            </a:r>
            <a:r>
              <a:rPr sz="1100">
                <a:solidFill>
                  <a:srgbClr val="333333"/>
                </a:solidFill>
                <a:latin typeface="Calibri"/>
              </a:rPr>
              <a:t>1.272 Nachreichungen (85 %) werden heute schon im Bestands-Postkorb geclustert – KEIN neuer KI-Hebel.</a:t>
            </a:r>
          </a:p>
        </p:txBody>
      </p:sp>
      <p:sp>
        <p:nvSpPr>
          <p:cNvPr id="77" name="Oval 76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KV als echter Hebel: </a:t>
            </a:r>
            <a:r>
              <a:rPr sz="1100">
                <a:solidFill>
                  <a:srgbClr val="333333"/>
                </a:solidFill>
                <a:latin typeface="Calibri"/>
              </a:rPr>
              <a:t>213 KV-Nachreichungen / Woche – hier fehlt heute die Cluster-Sicht im Eingangsbereich.</a:t>
            </a:r>
          </a:p>
        </p:txBody>
      </p:sp>
      <p:sp>
        <p:nvSpPr>
          <p:cNvPr id="80" name="Oval 79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JDC dominiert KV: </a:t>
            </a:r>
            <a:r>
              <a:rPr sz="1100">
                <a:solidFill>
                  <a:srgbClr val="333333"/>
                </a:solidFill>
                <a:latin typeface="Calibri"/>
              </a:rPr>
              <a:t>116 von 213 KV-Nachreichungen (55 %) stammen aus JDC – Anbindungs-Priorität 1 für KV.</a:t>
            </a:r>
          </a:p>
        </p:txBody>
      </p:sp>
      <p:sp>
        <p:nvSpPr>
          <p:cNvPr id="83" name="Oval 82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Vorgangs-Excel als Datenpool: </a:t>
            </a:r>
            <a:r>
              <a:rPr sz="1100">
                <a:solidFill>
                  <a:srgbClr val="333333"/>
                </a:solidFill>
                <a:latin typeface="Calibri"/>
              </a:rPr>
              <a:t>Cluster-Sicht ist für alle Sparten in der Auswertungs-Excel verfuegbar – Sprung in den Vorgang fuer Stichproben.</a:t>
            </a:r>
          </a:p>
        </p:txBody>
      </p:sp>
      <p:sp>
        <p:nvSpPr>
          <p:cNvPr id="86" name="Oval 85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Technische Voraussetzung: </a:t>
            </a:r>
            <a:r>
              <a:rPr sz="1100">
                <a:solidFill>
                  <a:srgbClr val="333333"/>
                </a:solidFill>
                <a:latin typeface="Calibri"/>
              </a:rPr>
              <a:t>Auto-Match 'neue Mail → offener KV-Vorgang' via Makler-ID + Kundennummer / Versicherungsnummer.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5897880"/>
            <a:ext cx="11338560" cy="41148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94360" y="5897880"/>
            <a:ext cx="109728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KV-Cluster-Auto-Zuordnung spart ~213 Eröffnungen / Woche – in Komposit/Leben dient die Vorgangs-Excel als Datenpool, nicht als Auto-Hebel.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