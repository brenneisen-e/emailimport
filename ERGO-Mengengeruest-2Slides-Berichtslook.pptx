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>
            <a:off x="5120640" y="137160"/>
            <a:ext cx="530352" cy="292608"/>
          </a:xfrm>
          <a:prstGeom prst="homePlate">
            <a:avLst/>
          </a:prstGeom>
          <a:solidFill>
            <a:srgbClr val="888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Pentagon 2"/>
          <p:cNvSpPr/>
          <p:nvPr/>
        </p:nvSpPr>
        <p:spPr>
          <a:xfrm>
            <a:off x="5687568" y="137160"/>
            <a:ext cx="530352" cy="292608"/>
          </a:xfrm>
          <a:prstGeom prst="homePlat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Pentagon 3"/>
          <p:cNvSpPr/>
          <p:nvPr/>
        </p:nvSpPr>
        <p:spPr>
          <a:xfrm>
            <a:off x="6254496" y="137160"/>
            <a:ext cx="530352" cy="292608"/>
          </a:xfrm>
          <a:prstGeom prst="homePlate">
            <a:avLst/>
          </a:prstGeom>
          <a:solidFill>
            <a:srgbClr val="CC4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Pentagon 4"/>
          <p:cNvSpPr/>
          <p:nvPr/>
        </p:nvSpPr>
        <p:spPr>
          <a:xfrm>
            <a:off x="6821424" y="137160"/>
            <a:ext cx="530352" cy="292608"/>
          </a:xfrm>
          <a:prstGeom prst="homePlate">
            <a:avLst/>
          </a:prstGeom>
          <a:solidFill>
            <a:srgbClr val="6FC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Pentagon 5"/>
          <p:cNvSpPr/>
          <p:nvPr/>
        </p:nvSpPr>
        <p:spPr>
          <a:xfrm>
            <a:off x="7388352" y="137160"/>
            <a:ext cx="530352" cy="292608"/>
          </a:xfrm>
          <a:prstGeom prst="homePlate">
            <a:avLst/>
          </a:prstGeom>
          <a:solidFill>
            <a:srgbClr val="E8C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61320" y="182880"/>
            <a:ext cx="1463040" cy="5029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3200" b="1" i="0" u="none">
                <a:solidFill>
                  <a:srgbClr val="E30613"/>
                </a:solidFill>
                <a:latin typeface="Calibri"/>
              </a:rPr>
              <a:t>ERGO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731520"/>
            <a:ext cx="146304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800" b="0" i="0" u="none">
                <a:solidFill>
                  <a:srgbClr val="333333"/>
                </a:solidFill>
                <a:latin typeface="Calibri"/>
              </a:rPr>
              <a:t>A Munich Re company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228600"/>
            <a:ext cx="6400800" cy="29260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200" b="0" i="0" u="none">
                <a:solidFill>
                  <a:srgbClr val="333333"/>
                </a:solidFill>
                <a:latin typeface="Calibri"/>
              </a:rPr>
              <a:t>STRUKTURIERUNG  |  MENGENGERÜSTE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594360"/>
            <a:ext cx="10058400" cy="5029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000" b="1" i="0" u="none">
                <a:solidFill>
                  <a:srgbClr val="E30613"/>
                </a:solidFill>
                <a:latin typeface="Calibri"/>
              </a:rPr>
              <a:t>Das Mengengeruest einer Woche zeigt zwei Hebel: jede 5. Mail ist keine BÜ (Routing) 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078992"/>
            <a:ext cx="10058400" cy="5029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000" b="1" i="0" u="none">
                <a:solidFill>
                  <a:srgbClr val="E30613"/>
                </a:solidFill>
                <a:latin typeface="Calibri"/>
              </a:rPr>
              <a:t>und die echten BÜ-Mails buendeln sich zu Vorgaengen (Clustering / Arbeitsvorrats-Steuerung)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1920240"/>
            <a:ext cx="731520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1" i="0" u="none">
                <a:solidFill>
                  <a:srgbClr val="333333"/>
                </a:solidFill>
                <a:latin typeface="Calibri"/>
              </a:rPr>
              <a:t>MENGENGERÜSTE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1920240"/>
            <a:ext cx="365760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1" i="0" u="none">
                <a:solidFill>
                  <a:srgbClr val="333333"/>
                </a:solidFill>
                <a:latin typeface="Calibri"/>
              </a:rPr>
              <a:t>KERNAUSSAGEN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6446520"/>
            <a:ext cx="11338560" cy="9525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6510528"/>
            <a:ext cx="1005840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 i="0" u="none">
                <a:solidFill>
                  <a:srgbClr val="666666"/>
                </a:solidFill>
                <a:latin typeface="Calibri"/>
              </a:rPr>
              <a:t>ERGO | Makler BUe meets KI – Zwischenbericht Phase 1 - 10.06.2026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510528"/>
            <a:ext cx="45720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900" b="0" i="0" u="none">
                <a:solidFill>
                  <a:srgbClr val="666666"/>
                </a:solidFill>
                <a:latin typeface="Calibri"/>
              </a:rPr>
              <a:t>11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2240280"/>
            <a:ext cx="184023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11480" y="2240280"/>
            <a:ext cx="54864" cy="566928"/>
          </a:xfrm>
          <a:prstGeom prst="rect">
            <a:avLst/>
          </a:prstGeom>
          <a:solidFill>
            <a:srgbClr val="E3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1208" y="2258568"/>
            <a:ext cx="1703070" cy="329184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000" b="1" i="0" u="none">
                <a:solidFill>
                  <a:srgbClr val="333333"/>
                </a:solidFill>
                <a:latin typeface="Calibri"/>
              </a:rPr>
              <a:t>5.034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1208" y="2587752"/>
            <a:ext cx="1703070" cy="20116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 i="0" u="none">
                <a:solidFill>
                  <a:srgbClr val="666666"/>
                </a:solidFill>
                <a:latin typeface="Calibri"/>
              </a:rPr>
              <a:t>Mails / Woche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343150" y="2240280"/>
            <a:ext cx="184023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343150" y="2240280"/>
            <a:ext cx="54864" cy="566928"/>
          </a:xfrm>
          <a:prstGeom prst="rect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452878" y="2258568"/>
            <a:ext cx="1703070" cy="329184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000" b="1" i="0" u="none">
                <a:solidFill>
                  <a:srgbClr val="333333"/>
                </a:solidFill>
                <a:latin typeface="Calibri"/>
              </a:rPr>
              <a:t>1 KW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52878" y="2587752"/>
            <a:ext cx="1703070" cy="20116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 i="0" u="none">
                <a:solidFill>
                  <a:srgbClr val="666666"/>
                </a:solidFill>
                <a:latin typeface="Calibri"/>
              </a:rPr>
              <a:t>Vollerhebung 13.–20.04.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74820" y="2240280"/>
            <a:ext cx="184023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74820" y="2240280"/>
            <a:ext cx="54864" cy="566928"/>
          </a:xfrm>
          <a:prstGeom prst="rect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4548" y="2258568"/>
            <a:ext cx="1703070" cy="329184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000" b="1" i="0" u="none">
                <a:solidFill>
                  <a:srgbClr val="333333"/>
                </a:solidFill>
                <a:latin typeface="Calibri"/>
              </a:rPr>
              <a:t>94 %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4548" y="2587752"/>
            <a:ext cx="1703070" cy="20116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 i="0" u="none">
                <a:solidFill>
                  <a:srgbClr val="666666"/>
                </a:solidFill>
                <a:latin typeface="Calibri"/>
              </a:rPr>
              <a:t>ein Sammel-Postfach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06490" y="2240280"/>
            <a:ext cx="184023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206490" y="2240280"/>
            <a:ext cx="54864" cy="566928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16218" y="2258568"/>
            <a:ext cx="1703070" cy="329184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000" b="1" i="0" u="none">
                <a:solidFill>
                  <a:srgbClr val="333333"/>
                </a:solidFill>
                <a:latin typeface="Calibri"/>
              </a:rPr>
              <a:t>50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16218" y="2587752"/>
            <a:ext cx="1703070" cy="20116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 i="0" u="none">
                <a:solidFill>
                  <a:srgbClr val="666666"/>
                </a:solidFill>
                <a:latin typeface="Calibri"/>
              </a:rPr>
              <a:t>KI-Datenfelder / Mail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11480" y="3813048"/>
            <a:ext cx="2103120" cy="91440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3904488"/>
            <a:ext cx="2103120" cy="41148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/>
            <a:r>
              <a:rPr sz="2800" b="1" i="0" u="none">
                <a:solidFill>
                  <a:srgbClr val="FFFFFF"/>
                </a:solidFill>
                <a:latin typeface="Calibri"/>
              </a:rPr>
              <a:t>5.034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11480" y="4343400"/>
            <a:ext cx="2103120" cy="29260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/>
            <a:r>
              <a:rPr sz="1100" b="0" i="0" u="none">
                <a:solidFill>
                  <a:srgbClr val="FFFFFF"/>
                </a:solidFill>
                <a:latin typeface="Calibri"/>
              </a:rPr>
              <a:t>Mails / Woche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017520" y="3035808"/>
            <a:ext cx="5029200" cy="1051560"/>
          </a:xfrm>
          <a:prstGeom prst="rect">
            <a:avLst/>
          </a:prstGeom>
          <a:solidFill>
            <a:srgbClr val="FDE2C4"/>
          </a:solidFill>
          <a:ln w="15875">
            <a:solidFill>
              <a:srgbClr val="C86E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200400" y="3108960"/>
            <a:ext cx="4663440" cy="310896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400" b="1" i="0" u="none">
                <a:solidFill>
                  <a:srgbClr val="C86E10"/>
                </a:solidFill>
                <a:latin typeface="Calibri"/>
              </a:rPr>
              <a:t>1.034 Nicht-BÜ-Mails  (20,5 %)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200400" y="3447288"/>
            <a:ext cx="4663440" cy="29260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 i="0" u="none">
                <a:solidFill>
                  <a:srgbClr val="333333"/>
                </a:solidFill>
                <a:latin typeface="Calibri"/>
              </a:rPr>
              <a:t>705 Keine BÜ (falscher Kanal)  +  329 BÜ-Reminder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200400" y="3749040"/>
            <a:ext cx="4663440" cy="29260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200" b="1" i="0" u="none">
                <a:solidFill>
                  <a:srgbClr val="9C060F"/>
                </a:solidFill>
                <a:latin typeface="Calibri"/>
              </a:rPr>
              <a:t>→  HEBEL 1: Routing / Vorqualifizierung  (Folie 11a)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017520" y="4251960"/>
            <a:ext cx="5029200" cy="1234440"/>
          </a:xfrm>
          <a:prstGeom prst="rect">
            <a:avLst/>
          </a:prstGeom>
          <a:solidFill>
            <a:srgbClr val="CFE6E9"/>
          </a:solidFill>
          <a:ln w="15875">
            <a:solidFill>
              <a:srgbClr val="0087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200400" y="4325112"/>
            <a:ext cx="4663440" cy="310896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400" b="1" i="0" u="none">
                <a:solidFill>
                  <a:srgbClr val="006B77"/>
                </a:solidFill>
                <a:latin typeface="Calibri"/>
              </a:rPr>
              <a:t>4.000 BÜ-Anfrage-Mails  (79,5 %)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200400" y="4663440"/>
            <a:ext cx="4663440" cy="4572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 i="0" u="none">
                <a:solidFill>
                  <a:srgbClr val="333333"/>
                </a:solidFill>
                <a:latin typeface="Calibri"/>
              </a:rPr>
              <a:t>buendeln sich zu nur 2.495 Vorgaengen  ·  619 Kunden mit mehreren Vertraegen beim selben Makler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200400" y="5148072"/>
            <a:ext cx="4663440" cy="29260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200" b="1" i="0" u="none">
                <a:solidFill>
                  <a:srgbClr val="9C060F"/>
                </a:solidFill>
                <a:latin typeface="Calibri"/>
              </a:rPr>
              <a:t>→  HEBEL 2: Clustering / Arbeitsvorrats-Steuerung  (Folie 11b)</a:t>
            </a:r>
          </a:p>
        </p:txBody>
      </p:sp>
      <p:sp>
        <p:nvSpPr>
          <p:cNvPr id="44" name="Right Arrow 43"/>
          <p:cNvSpPr/>
          <p:nvPr/>
        </p:nvSpPr>
        <p:spPr>
          <a:xfrm>
            <a:off x="2514600" y="3904488"/>
            <a:ext cx="457200" cy="274320"/>
          </a:xfrm>
          <a:prstGeom prst="rightArrow">
            <a:avLst/>
          </a:prstGeom>
          <a:solidFill>
            <a:srgbClr val="C86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ight Arrow 44"/>
          <p:cNvSpPr/>
          <p:nvPr/>
        </p:nvSpPr>
        <p:spPr>
          <a:xfrm>
            <a:off x="2514600" y="4389120"/>
            <a:ext cx="457200" cy="274320"/>
          </a:xfrm>
          <a:prstGeom prst="rightArrow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8229600" y="2240280"/>
            <a:ext cx="3611880" cy="3611880"/>
          </a:xfrm>
          <a:prstGeom prst="rect">
            <a:avLst/>
          </a:prstGeom>
          <a:solidFill>
            <a:srgbClr val="CFE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8366760" y="2450592"/>
            <a:ext cx="384048" cy="384048"/>
          </a:xfrm>
          <a:prstGeom prst="ellips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366760" y="2450592"/>
            <a:ext cx="384048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500" b="1" i="0" u="none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869680" y="2404872"/>
            <a:ext cx="2834640" cy="656539"/>
          </a:xfrm>
          <a:prstGeom prst="rect">
            <a:avLst/>
          </a:prstGeom>
          <a:noFill/>
        </p:spPr>
        <p:txBody>
          <a:bodyPr wrap="square" lIns="36000" rIns="36000" tIns="0" bIns="0">
            <a:spAutoFit/>
          </a:bodyPr>
          <a:lstStyle/>
          <a:p>
            <a:pPr algn="l"/>
            <a:r>
              <a:rPr sz="1100" b="1">
                <a:solidFill>
                  <a:srgbClr val="333333"/>
                </a:solidFill>
                <a:latin typeface="Calibri"/>
              </a:rPr>
              <a:t>Mengengeruest 1 Woche: </a:t>
            </a:r>
            <a:r>
              <a:rPr sz="1100">
                <a:solidFill>
                  <a:srgbClr val="333333"/>
                </a:solidFill>
                <a:latin typeface="Calibri"/>
              </a:rPr>
              <a:t>5.034 Mails, Vollerhebung 13.–20.04.2026; 94 % ueber ein Sammel-Postfach. Hochrechnung ~260.000 / Jahr.</a:t>
            </a:r>
          </a:p>
        </p:txBody>
      </p:sp>
      <p:sp>
        <p:nvSpPr>
          <p:cNvPr id="50" name="Oval 49"/>
          <p:cNvSpPr/>
          <p:nvPr/>
        </p:nvSpPr>
        <p:spPr>
          <a:xfrm>
            <a:off x="8366760" y="3107131"/>
            <a:ext cx="384048" cy="384048"/>
          </a:xfrm>
          <a:prstGeom prst="ellips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366760" y="3107131"/>
            <a:ext cx="384048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500" b="1" i="0" u="none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869680" y="3061411"/>
            <a:ext cx="2834640" cy="656539"/>
          </a:xfrm>
          <a:prstGeom prst="rect">
            <a:avLst/>
          </a:prstGeom>
          <a:noFill/>
        </p:spPr>
        <p:txBody>
          <a:bodyPr wrap="square" lIns="36000" rIns="36000" tIns="0" bIns="0">
            <a:spAutoFit/>
          </a:bodyPr>
          <a:lstStyle/>
          <a:p>
            <a:pPr algn="l"/>
            <a:r>
              <a:rPr sz="1100" b="1">
                <a:solidFill>
                  <a:srgbClr val="333333"/>
                </a:solidFill>
                <a:latin typeface="Calibri"/>
              </a:rPr>
              <a:t>Strukturierte Extraktion: </a:t>
            </a:r>
            <a:r>
              <a:rPr sz="1100">
                <a:solidFill>
                  <a:srgbClr val="333333"/>
                </a:solidFill>
                <a:latin typeface="Calibri"/>
              </a:rPr>
              <a:t>KI erstellt je Mail ein Beiblatt mit 50 Feldern – VNR, Sparte, Pool, Status, Vorgangs-Cluster immer gleich.</a:t>
            </a:r>
          </a:p>
        </p:txBody>
      </p:sp>
      <p:sp>
        <p:nvSpPr>
          <p:cNvPr id="53" name="Oval 52"/>
          <p:cNvSpPr/>
          <p:nvPr/>
        </p:nvSpPr>
        <p:spPr>
          <a:xfrm>
            <a:off x="8366760" y="3763670"/>
            <a:ext cx="384048" cy="384048"/>
          </a:xfrm>
          <a:prstGeom prst="ellips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366760" y="3763670"/>
            <a:ext cx="384048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500" b="1" i="0" u="none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869680" y="3717950"/>
            <a:ext cx="2834640" cy="656539"/>
          </a:xfrm>
          <a:prstGeom prst="rect">
            <a:avLst/>
          </a:prstGeom>
          <a:noFill/>
        </p:spPr>
        <p:txBody>
          <a:bodyPr wrap="square" lIns="36000" rIns="36000" tIns="0" bIns="0">
            <a:spAutoFit/>
          </a:bodyPr>
          <a:lstStyle/>
          <a:p>
            <a:pPr algn="l"/>
            <a:r>
              <a:rPr sz="1100" b="1">
                <a:solidFill>
                  <a:srgbClr val="333333"/>
                </a:solidFill>
                <a:latin typeface="Calibri"/>
              </a:rPr>
              <a:t>Ableitung Hebel 1: </a:t>
            </a:r>
            <a:r>
              <a:rPr sz="1100">
                <a:solidFill>
                  <a:srgbClr val="333333"/>
                </a:solidFill>
                <a:latin typeface="Calibri"/>
              </a:rPr>
              <a:t>Status-Split zeigt 1.034 Nicht-BÜ-Mails (705 Keine BÜ + 329 Reminder) → falsches Routing.</a:t>
            </a:r>
          </a:p>
        </p:txBody>
      </p:sp>
      <p:sp>
        <p:nvSpPr>
          <p:cNvPr id="56" name="Oval 55"/>
          <p:cNvSpPr/>
          <p:nvPr/>
        </p:nvSpPr>
        <p:spPr>
          <a:xfrm>
            <a:off x="8366760" y="4420209"/>
            <a:ext cx="384048" cy="384048"/>
          </a:xfrm>
          <a:prstGeom prst="ellips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366760" y="4420209"/>
            <a:ext cx="384048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500" b="1" i="0" u="none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869680" y="4374489"/>
            <a:ext cx="2834640" cy="656539"/>
          </a:xfrm>
          <a:prstGeom prst="rect">
            <a:avLst/>
          </a:prstGeom>
          <a:noFill/>
        </p:spPr>
        <p:txBody>
          <a:bodyPr wrap="square" lIns="36000" rIns="36000" tIns="0" bIns="0">
            <a:spAutoFit/>
          </a:bodyPr>
          <a:lstStyle/>
          <a:p>
            <a:pPr algn="l"/>
            <a:r>
              <a:rPr sz="1100" b="1">
                <a:solidFill>
                  <a:srgbClr val="333333"/>
                </a:solidFill>
                <a:latin typeface="Calibri"/>
              </a:rPr>
              <a:t>Ableitung Hebel 2: </a:t>
            </a:r>
            <a:r>
              <a:rPr sz="1100">
                <a:solidFill>
                  <a:srgbClr val="333333"/>
                </a:solidFill>
                <a:latin typeface="Calibri"/>
              </a:rPr>
              <a:t>4.000 BÜ-Mails verteilen sich auf nur 2.495 Vorgaenge → Buendelung / Steuerung moeglich.</a:t>
            </a:r>
          </a:p>
        </p:txBody>
      </p:sp>
      <p:sp>
        <p:nvSpPr>
          <p:cNvPr id="59" name="Oval 58"/>
          <p:cNvSpPr/>
          <p:nvPr/>
        </p:nvSpPr>
        <p:spPr>
          <a:xfrm>
            <a:off x="8366760" y="5076748"/>
            <a:ext cx="384048" cy="384048"/>
          </a:xfrm>
          <a:prstGeom prst="ellips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366760" y="5076748"/>
            <a:ext cx="384048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500" b="1" i="0" u="none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869680" y="5031028"/>
            <a:ext cx="2834640" cy="656539"/>
          </a:xfrm>
          <a:prstGeom prst="rect">
            <a:avLst/>
          </a:prstGeom>
          <a:noFill/>
        </p:spPr>
        <p:txBody>
          <a:bodyPr wrap="square" lIns="36000" rIns="36000" tIns="0" bIns="0">
            <a:spAutoFit/>
          </a:bodyPr>
          <a:lstStyle/>
          <a:p>
            <a:pPr algn="l"/>
            <a:r>
              <a:rPr sz="1100" b="1">
                <a:solidFill>
                  <a:srgbClr val="333333"/>
                </a:solidFill>
                <a:latin typeface="Calibri"/>
              </a:rPr>
              <a:t>Roter Faden: </a:t>
            </a:r>
            <a:r>
              <a:rPr sz="1100">
                <a:solidFill>
                  <a:srgbClr val="333333"/>
                </a:solidFill>
                <a:latin typeface="Calibri"/>
              </a:rPr>
              <a:t>Beide Hebel folgen direkt aus der KI-Strukturierung des Posteingangs – Details auf 11a / 11b.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11480" y="5760720"/>
            <a:ext cx="11338560" cy="18288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800" b="0" i="1" u="none">
                <a:solidFill>
                  <a:srgbClr val="666666"/>
                </a:solidFill>
                <a:latin typeface="Calibri"/>
              </a:rPr>
              <a:t>Datenbasis: 5.034 Mails  |  Mo 13.04. – Mo 20.04.2026 (eine Kalenderwoche)  |  Eingangs-Postfaecher: 'Service Team Maklerauftraege' (94 %), 'Bestandsuebertragungen' (5 %), 12 weitere &lt;1 %  |  Analyse-Stand: 27.05.2026 (KI-Auswertung mit Claude Opus 4.7, 99 von 5.034 Mails mit Analyse-Fehler/Timeout)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11480" y="5989320"/>
            <a:ext cx="11338560" cy="384048"/>
          </a:xfrm>
          <a:prstGeom prst="rect">
            <a:avLst/>
          </a:prstGeom>
          <a:solidFill>
            <a:srgbClr val="E3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94360" y="5989320"/>
            <a:ext cx="10972800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200" b="1" i="0" u="none">
                <a:solidFill>
                  <a:srgbClr val="FFFFFF"/>
                </a:solidFill>
                <a:latin typeface="Calibri"/>
              </a:rPr>
              <a:t>TAKE-AWAY:  Aus dem Status-Split des Mengengeruests folgen zwei Hebel: 1.034 Nicht-BÜ-Mails → Routing (11a); 4.000 BÜ-Mails buendeln sich zu 2.495 Vorgaengen → Clustering &amp; Arbeitsvorrats-Steuerung (11b).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>
            <a:off x="5120640" y="137160"/>
            <a:ext cx="530352" cy="292608"/>
          </a:xfrm>
          <a:prstGeom prst="homePlate">
            <a:avLst/>
          </a:prstGeom>
          <a:solidFill>
            <a:srgbClr val="888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Pentagon 2"/>
          <p:cNvSpPr/>
          <p:nvPr/>
        </p:nvSpPr>
        <p:spPr>
          <a:xfrm>
            <a:off x="5687568" y="137160"/>
            <a:ext cx="530352" cy="292608"/>
          </a:xfrm>
          <a:prstGeom prst="homePlat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Pentagon 3"/>
          <p:cNvSpPr/>
          <p:nvPr/>
        </p:nvSpPr>
        <p:spPr>
          <a:xfrm>
            <a:off x="6254496" y="137160"/>
            <a:ext cx="530352" cy="292608"/>
          </a:xfrm>
          <a:prstGeom prst="homePlate">
            <a:avLst/>
          </a:prstGeom>
          <a:solidFill>
            <a:srgbClr val="CC4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Pentagon 4"/>
          <p:cNvSpPr/>
          <p:nvPr/>
        </p:nvSpPr>
        <p:spPr>
          <a:xfrm>
            <a:off x="6821424" y="137160"/>
            <a:ext cx="530352" cy="292608"/>
          </a:xfrm>
          <a:prstGeom prst="homePlate">
            <a:avLst/>
          </a:prstGeom>
          <a:solidFill>
            <a:srgbClr val="6FC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Pentagon 5"/>
          <p:cNvSpPr/>
          <p:nvPr/>
        </p:nvSpPr>
        <p:spPr>
          <a:xfrm>
            <a:off x="7388352" y="137160"/>
            <a:ext cx="530352" cy="292608"/>
          </a:xfrm>
          <a:prstGeom prst="homePlate">
            <a:avLst/>
          </a:prstGeom>
          <a:solidFill>
            <a:srgbClr val="E8C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61320" y="182880"/>
            <a:ext cx="1463040" cy="5029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3200" b="1" i="0" u="none">
                <a:solidFill>
                  <a:srgbClr val="E30613"/>
                </a:solidFill>
                <a:latin typeface="Calibri"/>
              </a:rPr>
              <a:t>ERGO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731520"/>
            <a:ext cx="146304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800" b="0" i="0" u="none">
                <a:solidFill>
                  <a:srgbClr val="333333"/>
                </a:solidFill>
                <a:latin typeface="Calibri"/>
              </a:rPr>
              <a:t>A Munich Re company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228600"/>
            <a:ext cx="6400800" cy="29260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200" b="0" i="0" u="none">
                <a:solidFill>
                  <a:srgbClr val="333333"/>
                </a:solidFill>
                <a:latin typeface="Calibri"/>
              </a:rPr>
              <a:t>STRUKTURIERUNG  |  MENGENGERÜSTE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594360"/>
            <a:ext cx="10058400" cy="5029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000" b="1" i="0" u="none">
                <a:solidFill>
                  <a:srgbClr val="E30613"/>
                </a:solidFill>
                <a:latin typeface="Calibri"/>
              </a:rPr>
              <a:t>Hebel 1: Strukturierte Vorqualifizierung verbessert das Routing 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078992"/>
            <a:ext cx="10058400" cy="5029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000" b="1" i="0" u="none">
                <a:solidFill>
                  <a:srgbClr val="E30613"/>
                </a:solidFill>
                <a:latin typeface="Calibri"/>
              </a:rPr>
              <a:t>groesste Luecke ist KV; Spam/Sparten-leer trivial, Komposit-Reminder laeuft heute schon gut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1920240"/>
            <a:ext cx="731520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1" i="0" u="none">
                <a:solidFill>
                  <a:srgbClr val="333333"/>
                </a:solidFill>
                <a:latin typeface="Calibri"/>
              </a:rPr>
              <a:t>MENGENGERÜSTE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1920240"/>
            <a:ext cx="365760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1" i="0" u="none">
                <a:solidFill>
                  <a:srgbClr val="333333"/>
                </a:solidFill>
                <a:latin typeface="Calibri"/>
              </a:rPr>
              <a:t>KERNAUSSAGEN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6446520"/>
            <a:ext cx="11338560" cy="9525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6510528"/>
            <a:ext cx="1005840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 i="0" u="none">
                <a:solidFill>
                  <a:srgbClr val="666666"/>
                </a:solidFill>
                <a:latin typeface="Calibri"/>
              </a:rPr>
              <a:t>ERGO | Makler BUe meets KI – Zwischenbericht Phase 1 - 10.06.2026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510528"/>
            <a:ext cx="45720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900" b="0" i="0" u="none">
                <a:solidFill>
                  <a:srgbClr val="666666"/>
                </a:solidFill>
                <a:latin typeface="Calibri"/>
              </a:rPr>
              <a:t>11a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2240280"/>
            <a:ext cx="7635240" cy="29260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 i="1" u="none">
                <a:solidFill>
                  <a:srgbClr val="666666"/>
                </a:solidFill>
                <a:latin typeface="Calibri"/>
              </a:rPr>
              <a:t>Aufteilung der 1.034 Nicht-BÜ-Mails / Woche nach Sparte – heutiger Filter-Status und KI-Hebel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2606040"/>
            <a:ext cx="7635240" cy="365760"/>
          </a:xfrm>
          <a:prstGeom prst="rect">
            <a:avLst/>
          </a:prstGeom>
          <a:solidFill>
            <a:srgbClr val="006B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80" y="2606040"/>
            <a:ext cx="150876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1" i="0" u="none">
                <a:solidFill>
                  <a:srgbClr val="FFFFFF"/>
                </a:solidFill>
                <a:latin typeface="Calibri"/>
              </a:rPr>
              <a:t>Sparte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20240" y="2606040"/>
            <a:ext cx="105156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1" i="0" u="none">
                <a:solidFill>
                  <a:srgbClr val="FFFFFF"/>
                </a:solidFill>
                <a:latin typeface="Calibri"/>
              </a:rPr>
              <a:t>Posteingang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71800" y="2606040"/>
            <a:ext cx="96012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1" i="0" u="none">
                <a:solidFill>
                  <a:srgbClr val="FFFFFF"/>
                </a:solidFill>
                <a:latin typeface="Calibri"/>
              </a:rPr>
              <a:t>Keine BÜ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31920" y="2606040"/>
            <a:ext cx="96012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1" i="0" u="none">
                <a:solidFill>
                  <a:srgbClr val="FFFFFF"/>
                </a:solidFill>
                <a:latin typeface="Calibri"/>
              </a:rPr>
              <a:t>Reminder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92040" y="2606040"/>
            <a:ext cx="146304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1" i="0" u="none">
                <a:solidFill>
                  <a:srgbClr val="FFFFFF"/>
                </a:solidFill>
                <a:latin typeface="Calibri"/>
              </a:rPr>
              <a:t>Heutige Filterung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5080" y="2606040"/>
            <a:ext cx="169164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1" i="0" u="none">
                <a:solidFill>
                  <a:srgbClr val="FFFFFF"/>
                </a:solidFill>
                <a:latin typeface="Calibri"/>
              </a:rPr>
              <a:t>Verbesserungs-Hebel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2971800"/>
            <a:ext cx="763524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11480" y="2971800"/>
            <a:ext cx="109728" cy="411480"/>
          </a:xfrm>
          <a:prstGeom prst="rect">
            <a:avLst/>
          </a:prstGeom>
          <a:solidFill>
            <a:srgbClr val="C86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21208" y="2971800"/>
            <a:ext cx="1399032" cy="4114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 i="0" u="none">
                <a:solidFill>
                  <a:srgbClr val="333333"/>
                </a:solidFill>
                <a:latin typeface="Calibri"/>
              </a:rPr>
              <a:t>Komposit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920240" y="2971800"/>
            <a:ext cx="1051560" cy="4114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2.502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71800" y="2971800"/>
            <a:ext cx="960120" cy="4114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192 (8 %)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31920" y="2971800"/>
            <a:ext cx="960120" cy="4114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221 (9 %)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92040" y="2971800"/>
            <a:ext cx="1463040" cy="4114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Reminder bereits gut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0" y="3044952"/>
            <a:ext cx="1600200" cy="265176"/>
          </a:xfrm>
          <a:prstGeom prst="rect">
            <a:avLst/>
          </a:prstGeom>
          <a:solidFill>
            <a:srgbClr val="C86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55080" y="2971800"/>
            <a:ext cx="1691640" cy="4114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1" i="0" u="none">
                <a:solidFill>
                  <a:srgbClr val="FFFFFF"/>
                </a:solidFill>
                <a:latin typeface="Calibri"/>
              </a:rPr>
              <a:t>192 Keine BÜ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11480" y="3383280"/>
            <a:ext cx="7635240" cy="411480"/>
          </a:xfrm>
          <a:prstGeom prst="rect">
            <a:avLst/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11480" y="3383280"/>
            <a:ext cx="109728" cy="411480"/>
          </a:xfrm>
          <a:prstGeom prst="rect">
            <a:avLst/>
          </a:prstGeom>
          <a:solidFill>
            <a:srgbClr val="E3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21208" y="3383280"/>
            <a:ext cx="1399032" cy="4114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 i="0" u="none">
                <a:solidFill>
                  <a:srgbClr val="333333"/>
                </a:solidFill>
                <a:latin typeface="Calibri"/>
              </a:rPr>
              <a:t>KV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920240" y="3383280"/>
            <a:ext cx="1051560" cy="4114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1.308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971800" y="3383280"/>
            <a:ext cx="960120" cy="4114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112 (9 %)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31920" y="3383280"/>
            <a:ext cx="960120" cy="4114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49 (4 %)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92040" y="3383280"/>
            <a:ext cx="1463040" cy="4114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schwach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400800" y="3456432"/>
            <a:ext cx="1600200" cy="265176"/>
          </a:xfrm>
          <a:prstGeom prst="rect">
            <a:avLst/>
          </a:prstGeom>
          <a:solidFill>
            <a:srgbClr val="E3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355080" y="3383280"/>
            <a:ext cx="1691640" cy="4114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1" i="0" u="none">
                <a:solidFill>
                  <a:srgbClr val="FFFFFF"/>
                </a:solidFill>
                <a:latin typeface="Calibri"/>
              </a:rPr>
              <a:t>161 Mails (groesster Hebel)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11480" y="3794760"/>
            <a:ext cx="763524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11480" y="3794760"/>
            <a:ext cx="109728" cy="411480"/>
          </a:xfrm>
          <a:prstGeom prst="rect">
            <a:avLst/>
          </a:prstGeom>
          <a:solidFill>
            <a:srgbClr val="C86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21208" y="3794760"/>
            <a:ext cx="1399032" cy="4114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 i="0" u="none">
                <a:solidFill>
                  <a:srgbClr val="333333"/>
                </a:solidFill>
                <a:latin typeface="Calibri"/>
              </a:rPr>
              <a:t>Leben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920240" y="3794760"/>
            <a:ext cx="1051560" cy="4114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755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971800" y="3794760"/>
            <a:ext cx="960120" cy="4114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55 (7 %)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794760"/>
            <a:ext cx="960120" cy="4114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38 (5 %)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92040" y="3794760"/>
            <a:ext cx="1463040" cy="4114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teilweise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400800" y="3867912"/>
            <a:ext cx="1600200" cy="265176"/>
          </a:xfrm>
          <a:prstGeom prst="rect">
            <a:avLst/>
          </a:prstGeom>
          <a:solidFill>
            <a:srgbClr val="C86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355080" y="3794760"/>
            <a:ext cx="1691640" cy="4114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1" i="0" u="none">
                <a:solidFill>
                  <a:srgbClr val="FFFFFF"/>
                </a:solidFill>
                <a:latin typeface="Calibri"/>
              </a:rPr>
              <a:t>93 Mails (mittel)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11480" y="4206240"/>
            <a:ext cx="7635240" cy="411480"/>
          </a:xfrm>
          <a:prstGeom prst="rect">
            <a:avLst/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11480" y="4206240"/>
            <a:ext cx="109728" cy="411480"/>
          </a:xfrm>
          <a:prstGeom prst="rect">
            <a:avLst/>
          </a:prstGeom>
          <a:solidFill>
            <a:srgbClr val="109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21208" y="4206240"/>
            <a:ext cx="1399032" cy="4114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 i="0" u="none">
                <a:solidFill>
                  <a:srgbClr val="333333"/>
                </a:solidFill>
                <a:latin typeface="Calibri"/>
              </a:rPr>
              <a:t>Sparten-leer/Spam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920240" y="4206240"/>
            <a:ext cx="1051560" cy="4114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343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971800" y="4206240"/>
            <a:ext cx="960120" cy="4114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343 (100 %)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931920" y="4206240"/>
            <a:ext cx="960120" cy="4114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892040" y="4206240"/>
            <a:ext cx="1463040" cy="4114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kaum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400800" y="4279392"/>
            <a:ext cx="1600200" cy="265176"/>
          </a:xfrm>
          <a:prstGeom prst="rect">
            <a:avLst/>
          </a:prstGeom>
          <a:solidFill>
            <a:srgbClr val="109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355080" y="4206240"/>
            <a:ext cx="1691640" cy="4114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1" i="0" u="none">
                <a:solidFill>
                  <a:srgbClr val="FFFFFF"/>
                </a:solidFill>
                <a:latin typeface="Calibri"/>
              </a:rPr>
              <a:t>343 Mails (trivial)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11480" y="4617720"/>
            <a:ext cx="763524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411480" y="4617720"/>
            <a:ext cx="109728" cy="411480"/>
          </a:xfrm>
          <a:prstGeom prst="rect">
            <a:avLst/>
          </a:prstGeom>
          <a:solidFill>
            <a:srgbClr val="888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21208" y="4617720"/>
            <a:ext cx="1399032" cy="4114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 i="0" u="none">
                <a:solidFill>
                  <a:srgbClr val="333333"/>
                </a:solidFill>
                <a:latin typeface="Calibri"/>
              </a:rPr>
              <a:t>Mehrere/Unbekannt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920240" y="4617720"/>
            <a:ext cx="1051560" cy="4114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136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971800" y="4617720"/>
            <a:ext cx="960120" cy="4114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15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931920" y="4617720"/>
            <a:ext cx="960120" cy="4114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21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892040" y="4617720"/>
            <a:ext cx="1463040" cy="4114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uneinheitlich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400800" y="4690872"/>
            <a:ext cx="1600200" cy="265176"/>
          </a:xfrm>
          <a:prstGeom prst="rect">
            <a:avLst/>
          </a:prstGeom>
          <a:solidFill>
            <a:srgbClr val="888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355080" y="4617720"/>
            <a:ext cx="1691640" cy="4114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1" i="0" u="none">
                <a:solidFill>
                  <a:srgbClr val="FFFFFF"/>
                </a:solidFill>
                <a:latin typeface="Calibri"/>
              </a:rPr>
              <a:t>klein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11480" y="5102352"/>
            <a:ext cx="7635240" cy="384048"/>
          </a:xfrm>
          <a:prstGeom prst="rect">
            <a:avLst/>
          </a:prstGeom>
          <a:solidFill>
            <a:srgbClr val="CFE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48640" y="5102352"/>
            <a:ext cx="7360920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 i="0" u="none">
                <a:solidFill>
                  <a:srgbClr val="006B77"/>
                </a:solidFill>
                <a:latin typeface="Calibri"/>
              </a:rPr>
              <a:t>Gesamt 1.034 Nicht-BÜ-Mails / Woche  –  Komposit-Reminder (221) heute schon gut gefiltert  -&gt;  realer Verbesserungs-Hebel ~800 Mails / Woche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229600" y="2240280"/>
            <a:ext cx="3611880" cy="3611880"/>
          </a:xfrm>
          <a:prstGeom prst="rect">
            <a:avLst/>
          </a:prstGeom>
          <a:solidFill>
            <a:srgbClr val="CFE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8366760" y="2450592"/>
            <a:ext cx="384048" cy="384048"/>
          </a:xfrm>
          <a:prstGeom prst="ellips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8366760" y="2450592"/>
            <a:ext cx="384048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500" b="1" i="0" u="none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869680" y="2404872"/>
            <a:ext cx="2834640" cy="656539"/>
          </a:xfrm>
          <a:prstGeom prst="rect">
            <a:avLst/>
          </a:prstGeom>
          <a:noFill/>
        </p:spPr>
        <p:txBody>
          <a:bodyPr wrap="square" lIns="36000" rIns="36000" tIns="0" bIns="0">
            <a:spAutoFit/>
          </a:bodyPr>
          <a:lstStyle/>
          <a:p>
            <a:pPr algn="l"/>
            <a:r>
              <a:rPr sz="1100" b="1">
                <a:solidFill>
                  <a:srgbClr val="333333"/>
                </a:solidFill>
                <a:latin typeface="Calibri"/>
              </a:rPr>
              <a:t>KV-Triage ist die Luecke: </a:t>
            </a:r>
            <a:r>
              <a:rPr sz="1100">
                <a:solidFill>
                  <a:srgbClr val="333333"/>
                </a:solidFill>
                <a:latin typeface="Calibri"/>
              </a:rPr>
              <a:t>161 Nicht-BÜ-Mails / Woche werden heute schlecht gefiltert – Keine BÜ und Reminder.</a:t>
            </a:r>
          </a:p>
        </p:txBody>
      </p:sp>
      <p:sp>
        <p:nvSpPr>
          <p:cNvPr id="76" name="Oval 75"/>
          <p:cNvSpPr/>
          <p:nvPr/>
        </p:nvSpPr>
        <p:spPr>
          <a:xfrm>
            <a:off x="8366760" y="3107131"/>
            <a:ext cx="384048" cy="384048"/>
          </a:xfrm>
          <a:prstGeom prst="ellips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366760" y="3107131"/>
            <a:ext cx="384048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500" b="1" i="0" u="none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869680" y="3061411"/>
            <a:ext cx="2834640" cy="656539"/>
          </a:xfrm>
          <a:prstGeom prst="rect">
            <a:avLst/>
          </a:prstGeom>
          <a:noFill/>
        </p:spPr>
        <p:txBody>
          <a:bodyPr wrap="square" lIns="36000" rIns="36000" tIns="0" bIns="0">
            <a:spAutoFit/>
          </a:bodyPr>
          <a:lstStyle/>
          <a:p>
            <a:pPr algn="l"/>
            <a:r>
              <a:rPr sz="1100" b="1">
                <a:solidFill>
                  <a:srgbClr val="333333"/>
                </a:solidFill>
                <a:latin typeface="Calibri"/>
              </a:rPr>
              <a:t>Sparten-leer/Spam: </a:t>
            </a:r>
            <a:r>
              <a:rPr sz="1100">
                <a:solidFill>
                  <a:srgbClr val="333333"/>
                </a:solidFill>
                <a:latin typeface="Calibri"/>
              </a:rPr>
              <a:t>343 Mails (33 % der Nicht-BÜ) sind trivial mit Header-/Absender-Regeln auszufiltern.</a:t>
            </a:r>
          </a:p>
        </p:txBody>
      </p:sp>
      <p:sp>
        <p:nvSpPr>
          <p:cNvPr id="79" name="Oval 78"/>
          <p:cNvSpPr/>
          <p:nvPr/>
        </p:nvSpPr>
        <p:spPr>
          <a:xfrm>
            <a:off x="8366760" y="3763670"/>
            <a:ext cx="384048" cy="384048"/>
          </a:xfrm>
          <a:prstGeom prst="ellips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366760" y="3763670"/>
            <a:ext cx="384048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500" b="1" i="0" u="none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869680" y="3717950"/>
            <a:ext cx="2834640" cy="656539"/>
          </a:xfrm>
          <a:prstGeom prst="rect">
            <a:avLst/>
          </a:prstGeom>
          <a:noFill/>
        </p:spPr>
        <p:txBody>
          <a:bodyPr wrap="square" lIns="36000" rIns="36000" tIns="0" bIns="0">
            <a:spAutoFit/>
          </a:bodyPr>
          <a:lstStyle/>
          <a:p>
            <a:pPr algn="l"/>
            <a:r>
              <a:rPr sz="1100" b="1">
                <a:solidFill>
                  <a:srgbClr val="333333"/>
                </a:solidFill>
                <a:latin typeface="Calibri"/>
              </a:rPr>
              <a:t>Komposit-Reminder OK: </a:t>
            </a:r>
            <a:r>
              <a:rPr sz="1100">
                <a:solidFill>
                  <a:srgbClr val="333333"/>
                </a:solidFill>
                <a:latin typeface="Calibri"/>
              </a:rPr>
              <a:t>221 Komposit-Reminder werden heute schon gut erkannt – kein neuer Hebel.</a:t>
            </a:r>
          </a:p>
        </p:txBody>
      </p:sp>
      <p:sp>
        <p:nvSpPr>
          <p:cNvPr id="82" name="Oval 81"/>
          <p:cNvSpPr/>
          <p:nvPr/>
        </p:nvSpPr>
        <p:spPr>
          <a:xfrm>
            <a:off x="8366760" y="4420209"/>
            <a:ext cx="384048" cy="384048"/>
          </a:xfrm>
          <a:prstGeom prst="ellips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366760" y="4420209"/>
            <a:ext cx="384048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500" b="1" i="0" u="none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869680" y="4374489"/>
            <a:ext cx="2834640" cy="656539"/>
          </a:xfrm>
          <a:prstGeom prst="rect">
            <a:avLst/>
          </a:prstGeom>
          <a:noFill/>
        </p:spPr>
        <p:txBody>
          <a:bodyPr wrap="square" lIns="36000" rIns="36000" tIns="0" bIns="0">
            <a:spAutoFit/>
          </a:bodyPr>
          <a:lstStyle/>
          <a:p>
            <a:pPr algn="l"/>
            <a:r>
              <a:rPr sz="1100" b="1">
                <a:solidFill>
                  <a:srgbClr val="333333"/>
                </a:solidFill>
                <a:latin typeface="Calibri"/>
              </a:rPr>
              <a:t>Routing-Wirkung: </a:t>
            </a:r>
            <a:r>
              <a:rPr sz="1100">
                <a:solidFill>
                  <a:srgbClr val="333333"/>
                </a:solidFill>
                <a:latin typeface="Calibri"/>
              </a:rPr>
              <a:t>Strukturierte Vorqualifizierung leitet Nicht-BÜ-Mails direkt in das richtige Fachpostfach.</a:t>
            </a:r>
          </a:p>
        </p:txBody>
      </p:sp>
      <p:sp>
        <p:nvSpPr>
          <p:cNvPr id="85" name="Oval 84"/>
          <p:cNvSpPr/>
          <p:nvPr/>
        </p:nvSpPr>
        <p:spPr>
          <a:xfrm>
            <a:off x="8366760" y="5076748"/>
            <a:ext cx="384048" cy="384048"/>
          </a:xfrm>
          <a:prstGeom prst="ellips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8366760" y="5076748"/>
            <a:ext cx="384048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500" b="1" i="0" u="none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5031028"/>
            <a:ext cx="2834640" cy="656539"/>
          </a:xfrm>
          <a:prstGeom prst="rect">
            <a:avLst/>
          </a:prstGeom>
          <a:noFill/>
        </p:spPr>
        <p:txBody>
          <a:bodyPr wrap="square" lIns="36000" rIns="36000" tIns="0" bIns="0">
            <a:spAutoFit/>
          </a:bodyPr>
          <a:lstStyle/>
          <a:p>
            <a:pPr algn="l"/>
            <a:r>
              <a:rPr sz="1100" b="1">
                <a:solidFill>
                  <a:srgbClr val="333333"/>
                </a:solidFill>
                <a:latin typeface="Calibri"/>
              </a:rPr>
              <a:t>Reihenfolge: </a:t>
            </a:r>
            <a:r>
              <a:rPr sz="1100">
                <a:solidFill>
                  <a:srgbClr val="333333"/>
                </a:solidFill>
                <a:latin typeface="Calibri"/>
              </a:rPr>
              <a:t>1) Spam/leer-Filter  2) KV-Triage aufbauen  3) Komposit-Keine-BÜ routen.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11480" y="5760720"/>
            <a:ext cx="11338560" cy="18288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800" b="0" i="1" u="none">
                <a:solidFill>
                  <a:srgbClr val="666666"/>
                </a:solidFill>
                <a:latin typeface="Calibri"/>
              </a:rPr>
              <a:t>Datenbasis: 5.034 Mails  |  Mo 13.04. – Mo 20.04.2026 (eine Kalenderwoche)  |  Eingangs-Postfaecher: 'Service Team Maklerauftraege' (94 %), 'Bestandsuebertragungen' (5 %), 12 weitere &lt;1 %  |  Analyse-Stand: 27.05.2026 (KI-Auswertung mit Claude Opus 4.7, 99 von 5.034 Mails mit Analyse-Fehler/Timeout)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11480" y="5989320"/>
            <a:ext cx="11338560" cy="384048"/>
          </a:xfrm>
          <a:prstGeom prst="rect">
            <a:avLst/>
          </a:prstGeom>
          <a:solidFill>
            <a:srgbClr val="E3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594360" y="5989320"/>
            <a:ext cx="10972800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200" b="1" i="0" u="none">
                <a:solidFill>
                  <a:srgbClr val="FFFFFF"/>
                </a:solidFill>
                <a:latin typeface="Calibri"/>
              </a:rPr>
              <a:t>TAKE-AWAY:  Routing-Hebel ~800 Mails / Woche (-16 %) – Schwerpunkt KV-Triage und Spam/Sparten-leer; Basis ist die strukturierte Vorqualifizierung jeder Eingangsmail.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>
            <a:off x="5120640" y="137160"/>
            <a:ext cx="530352" cy="292608"/>
          </a:xfrm>
          <a:prstGeom prst="homePlate">
            <a:avLst/>
          </a:prstGeom>
          <a:solidFill>
            <a:srgbClr val="888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Pentagon 2"/>
          <p:cNvSpPr/>
          <p:nvPr/>
        </p:nvSpPr>
        <p:spPr>
          <a:xfrm>
            <a:off x="5687568" y="137160"/>
            <a:ext cx="530352" cy="292608"/>
          </a:xfrm>
          <a:prstGeom prst="homePlat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Pentagon 3"/>
          <p:cNvSpPr/>
          <p:nvPr/>
        </p:nvSpPr>
        <p:spPr>
          <a:xfrm>
            <a:off x="6254496" y="137160"/>
            <a:ext cx="530352" cy="292608"/>
          </a:xfrm>
          <a:prstGeom prst="homePlate">
            <a:avLst/>
          </a:prstGeom>
          <a:solidFill>
            <a:srgbClr val="CC4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Pentagon 4"/>
          <p:cNvSpPr/>
          <p:nvPr/>
        </p:nvSpPr>
        <p:spPr>
          <a:xfrm>
            <a:off x="6821424" y="137160"/>
            <a:ext cx="530352" cy="292608"/>
          </a:xfrm>
          <a:prstGeom prst="homePlate">
            <a:avLst/>
          </a:prstGeom>
          <a:solidFill>
            <a:srgbClr val="6FC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Pentagon 5"/>
          <p:cNvSpPr/>
          <p:nvPr/>
        </p:nvSpPr>
        <p:spPr>
          <a:xfrm>
            <a:off x="7388352" y="137160"/>
            <a:ext cx="530352" cy="292608"/>
          </a:xfrm>
          <a:prstGeom prst="homePlate">
            <a:avLst/>
          </a:prstGeom>
          <a:solidFill>
            <a:srgbClr val="E8C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61320" y="182880"/>
            <a:ext cx="1463040" cy="5029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3200" b="1" i="0" u="none">
                <a:solidFill>
                  <a:srgbClr val="E30613"/>
                </a:solidFill>
                <a:latin typeface="Calibri"/>
              </a:rPr>
              <a:t>ERGO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731520"/>
            <a:ext cx="146304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800" b="0" i="0" u="none">
                <a:solidFill>
                  <a:srgbClr val="333333"/>
                </a:solidFill>
                <a:latin typeface="Calibri"/>
              </a:rPr>
              <a:t>A Munich Re company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228600"/>
            <a:ext cx="6400800" cy="29260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200" b="0" i="0" u="none">
                <a:solidFill>
                  <a:srgbClr val="333333"/>
                </a:solidFill>
                <a:latin typeface="Calibri"/>
              </a:rPr>
              <a:t>STRUKTURIERUNG  |  MENGENGERÜSTE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594360"/>
            <a:ext cx="10058400" cy="5029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000" b="1" i="0" u="none">
                <a:solidFill>
                  <a:srgbClr val="E30613"/>
                </a:solidFill>
                <a:latin typeface="Calibri"/>
              </a:rPr>
              <a:t>Hebel 2: Cluster-Erkennung ermoeglicht Arbeitsvorrats-Steuerung 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078992"/>
            <a:ext cx="10058400" cy="5029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000" b="1" i="0" u="none">
                <a:solidFill>
                  <a:srgbClr val="E30613"/>
                </a:solidFill>
                <a:latin typeface="Calibri"/>
              </a:rPr>
              <a:t>und schliesst die KV-Vorgangsluecke: heute ist dort jede Eingangsmail ein eigener Vorgang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1920240"/>
            <a:ext cx="731520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1" i="0" u="none">
                <a:solidFill>
                  <a:srgbClr val="333333"/>
                </a:solidFill>
                <a:latin typeface="Calibri"/>
              </a:rPr>
              <a:t>MENGENGERÜSTE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1920240"/>
            <a:ext cx="365760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1" i="0" u="none">
                <a:solidFill>
                  <a:srgbClr val="333333"/>
                </a:solidFill>
                <a:latin typeface="Calibri"/>
              </a:rPr>
              <a:t>KERNAUSSAGEN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6446520"/>
            <a:ext cx="11338560" cy="9525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6510528"/>
            <a:ext cx="1005840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 i="0" u="none">
                <a:solidFill>
                  <a:srgbClr val="666666"/>
                </a:solidFill>
                <a:latin typeface="Calibri"/>
              </a:rPr>
              <a:t>ERGO | Makler BUe meets KI – Zwischenbericht Phase 1 - 10.06.2026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510528"/>
            <a:ext cx="45720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900" b="0" i="0" u="none">
                <a:solidFill>
                  <a:srgbClr val="666666"/>
                </a:solidFill>
                <a:latin typeface="Calibri"/>
              </a:rPr>
              <a:t>11b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2240280"/>
            <a:ext cx="7635240" cy="29260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 i="1" u="none">
                <a:solidFill>
                  <a:srgbClr val="666666"/>
                </a:solidFill>
                <a:latin typeface="Calibri"/>
              </a:rPr>
              <a:t>Vorgangs-Buendelung heute je Sparte – wo die Cluster-Sicht im Postkorb fehlt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2606040"/>
            <a:ext cx="7635240" cy="384048"/>
          </a:xfrm>
          <a:prstGeom prst="rect">
            <a:avLst/>
          </a:prstGeom>
          <a:solidFill>
            <a:srgbClr val="006B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80" y="2606040"/>
            <a:ext cx="1417320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1" i="0" u="none">
                <a:solidFill>
                  <a:srgbClr val="FFFFFF"/>
                </a:solidFill>
                <a:latin typeface="Calibri"/>
              </a:rPr>
              <a:t>Sparte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2606040"/>
            <a:ext cx="1143000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1" i="0" u="none">
                <a:solidFill>
                  <a:srgbClr val="FFFFFF"/>
                </a:solidFill>
                <a:latin typeface="Calibri"/>
              </a:rPr>
              <a:t>BÜ-Mails/Wo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71800" y="2606040"/>
            <a:ext cx="1874519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1" i="0" u="none">
                <a:solidFill>
                  <a:srgbClr val="FFFFFF"/>
                </a:solidFill>
                <a:latin typeface="Calibri"/>
              </a:rPr>
              <a:t>in Mehrfach-Vorgang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46319" y="2606040"/>
            <a:ext cx="1783080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1" i="0" u="none">
                <a:solidFill>
                  <a:srgbClr val="FFFFFF"/>
                </a:solidFill>
                <a:latin typeface="Calibri"/>
              </a:rPr>
              <a:t>VNR-Mapping Postkorb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29399" y="2606040"/>
            <a:ext cx="1417320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1" i="0" u="none">
                <a:solidFill>
                  <a:srgbClr val="FFFFFF"/>
                </a:solidFill>
                <a:latin typeface="Calibri"/>
              </a:rPr>
              <a:t>Cluster-Hebel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1480" y="2990088"/>
            <a:ext cx="7635240" cy="457200"/>
          </a:xfrm>
          <a:prstGeom prst="rect">
            <a:avLst/>
          </a:prstGeom>
          <a:solidFill>
            <a:srgbClr val="CFE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11480" y="2990088"/>
            <a:ext cx="109728" cy="457200"/>
          </a:xfrm>
          <a:prstGeom prst="rect">
            <a:avLst/>
          </a:prstGeom>
          <a:solidFill>
            <a:srgbClr val="E3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21208" y="2990088"/>
            <a:ext cx="1307592" cy="4572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 i="0" u="none">
                <a:solidFill>
                  <a:srgbClr val="9C060F"/>
                </a:solidFill>
                <a:latin typeface="Calibri"/>
              </a:rPr>
              <a:t>KV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28800" y="2990088"/>
            <a:ext cx="1143000" cy="4572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9C060F"/>
                </a:solidFill>
                <a:latin typeface="Calibri"/>
              </a:rPr>
              <a:t>1.147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971800" y="2990088"/>
            <a:ext cx="1874519" cy="4572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9C060F"/>
                </a:solidFill>
                <a:latin typeface="Calibri"/>
              </a:rPr>
              <a:t>317 Mails (28 %)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46319" y="2990088"/>
            <a:ext cx="1783080" cy="4572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9C060F"/>
                </a:solidFill>
                <a:latin typeface="Calibri"/>
              </a:rPr>
              <a:t>FEHLT heute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675119" y="3081528"/>
            <a:ext cx="1325880" cy="274320"/>
          </a:xfrm>
          <a:prstGeom prst="rect">
            <a:avLst/>
          </a:prstGeom>
          <a:solidFill>
            <a:srgbClr val="E3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629399" y="2990088"/>
            <a:ext cx="1417320" cy="4572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1" i="0" u="none">
                <a:solidFill>
                  <a:srgbClr val="FFFFFF"/>
                </a:solidFill>
                <a:latin typeface="Calibri"/>
              </a:rPr>
              <a:t>GROSS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3447288"/>
            <a:ext cx="7635240" cy="457200"/>
          </a:xfrm>
          <a:prstGeom prst="rect">
            <a:avLst/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11480" y="3447288"/>
            <a:ext cx="109728" cy="457200"/>
          </a:xfrm>
          <a:prstGeom prst="rect">
            <a:avLst/>
          </a:prstGeom>
          <a:solidFill>
            <a:srgbClr val="888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21208" y="3447288"/>
            <a:ext cx="1307592" cy="4572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 i="0" u="none">
                <a:solidFill>
                  <a:srgbClr val="333333"/>
                </a:solidFill>
                <a:latin typeface="Calibri"/>
              </a:rPr>
              <a:t>Komposit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28800" y="3447288"/>
            <a:ext cx="1143000" cy="4572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2.089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971800" y="3447288"/>
            <a:ext cx="1874519" cy="4572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1.362 Mails (65 %)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46319" y="3447288"/>
            <a:ext cx="1783080" cy="4572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bereits gemappt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675119" y="3538728"/>
            <a:ext cx="1325880" cy="274320"/>
          </a:xfrm>
          <a:prstGeom prst="rect">
            <a:avLst/>
          </a:prstGeom>
          <a:solidFill>
            <a:srgbClr val="888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629399" y="3447288"/>
            <a:ext cx="1417320" cy="4572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1" i="0" u="none">
                <a:solidFill>
                  <a:srgbClr val="FFFFFF"/>
                </a:solidFill>
                <a:latin typeface="Calibri"/>
              </a:rPr>
              <a:t>gering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11480" y="3904488"/>
            <a:ext cx="763524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11480" y="3904488"/>
            <a:ext cx="109728" cy="457200"/>
          </a:xfrm>
          <a:prstGeom prst="rect">
            <a:avLst/>
          </a:prstGeom>
          <a:solidFill>
            <a:srgbClr val="888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21208" y="3904488"/>
            <a:ext cx="1307592" cy="4572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 i="0" u="none">
                <a:solidFill>
                  <a:srgbClr val="333333"/>
                </a:solidFill>
                <a:latin typeface="Calibri"/>
              </a:rPr>
              <a:t>Leben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828800" y="3904488"/>
            <a:ext cx="1143000" cy="4572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662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971800" y="3904488"/>
            <a:ext cx="1874519" cy="4572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314 Mails (47 %)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846319" y="3904488"/>
            <a:ext cx="1783080" cy="4572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weitgehend gemappt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675119" y="3995928"/>
            <a:ext cx="1325880" cy="274320"/>
          </a:xfrm>
          <a:prstGeom prst="rect">
            <a:avLst/>
          </a:prstGeom>
          <a:solidFill>
            <a:srgbClr val="888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629399" y="3904488"/>
            <a:ext cx="1417320" cy="4572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1" i="0" u="none">
                <a:solidFill>
                  <a:srgbClr val="FFFFFF"/>
                </a:solidFill>
                <a:latin typeface="Calibri"/>
              </a:rPr>
              <a:t>gering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11480" y="4361688"/>
            <a:ext cx="7635240" cy="457200"/>
          </a:xfrm>
          <a:prstGeom prst="rect">
            <a:avLst/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411480" y="4361688"/>
            <a:ext cx="109728" cy="457200"/>
          </a:xfrm>
          <a:prstGeom prst="rect">
            <a:avLst/>
          </a:prstGeom>
          <a:solidFill>
            <a:srgbClr val="888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21208" y="4361688"/>
            <a:ext cx="1307592" cy="4572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 i="0" u="none">
                <a:solidFill>
                  <a:srgbClr val="333333"/>
                </a:solidFill>
                <a:latin typeface="Calibri"/>
              </a:rPr>
              <a:t>Mehr/Unbek.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828800" y="4361688"/>
            <a:ext cx="1143000" cy="4572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239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971800" y="4361688"/>
            <a:ext cx="1874519" cy="4572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26 Mails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846319" y="4361688"/>
            <a:ext cx="1783080" cy="4572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uneinheitlich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675119" y="4453128"/>
            <a:ext cx="1325880" cy="274320"/>
          </a:xfrm>
          <a:prstGeom prst="rect">
            <a:avLst/>
          </a:prstGeom>
          <a:solidFill>
            <a:srgbClr val="888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629399" y="4361688"/>
            <a:ext cx="1417320" cy="4572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1" i="0" u="none">
                <a:solidFill>
                  <a:srgbClr val="FFFFFF"/>
                </a:solidFill>
                <a:latin typeface="Calibri"/>
              </a:rPr>
              <a:t>klein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11480" y="4956048"/>
            <a:ext cx="7635240" cy="914400"/>
          </a:xfrm>
          <a:prstGeom prst="rect">
            <a:avLst/>
          </a:prstGeom>
          <a:solidFill>
            <a:srgbClr val="CFE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94360" y="5029200"/>
            <a:ext cx="726948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200" b="1" i="0" u="none">
                <a:solidFill>
                  <a:srgbClr val="006B77"/>
                </a:solidFill>
                <a:latin typeface="Calibri"/>
              </a:rPr>
              <a:t>Von 'Postkorb blind abarbeiten' zu aktiver Arbeitsvorrats-Steuerung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94360" y="5340096"/>
            <a:ext cx="7269480" cy="5029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 i="0" u="none">
                <a:solidFill>
                  <a:srgbClr val="333333"/>
                </a:solidFill>
                <a:latin typeface="Calibri"/>
              </a:rPr>
              <a:t>Heute: Sachbearbeiter nehmen Vorgaenge unsortiert aus dem Postkorb.   Kuenftig mit strukturierten Daten: Prio-Faelle (Alter, Vollmacht-Status) und Prio-Makler (z. B. JDC, Fonds Finanz) gezielt filtern und Cluster gebuendelt abarbeiten.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229600" y="2240280"/>
            <a:ext cx="3611880" cy="3611880"/>
          </a:xfrm>
          <a:prstGeom prst="rect">
            <a:avLst/>
          </a:prstGeom>
          <a:solidFill>
            <a:srgbClr val="CFE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8366760" y="2450592"/>
            <a:ext cx="384048" cy="384048"/>
          </a:xfrm>
          <a:prstGeom prst="ellips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366760" y="2450592"/>
            <a:ext cx="384048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500" b="1" i="0" u="none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869680" y="2404872"/>
            <a:ext cx="2834640" cy="656539"/>
          </a:xfrm>
          <a:prstGeom prst="rect">
            <a:avLst/>
          </a:prstGeom>
          <a:noFill/>
        </p:spPr>
        <p:txBody>
          <a:bodyPr wrap="square" lIns="36000" rIns="36000" tIns="0" bIns="0">
            <a:spAutoFit/>
          </a:bodyPr>
          <a:lstStyle/>
          <a:p>
            <a:pPr algn="l"/>
            <a:r>
              <a:rPr sz="1100" b="1">
                <a:solidFill>
                  <a:srgbClr val="333333"/>
                </a:solidFill>
                <a:latin typeface="Calibri"/>
              </a:rPr>
              <a:t>KV-Vorgangsluecke: </a:t>
            </a:r>
            <a:r>
              <a:rPr sz="1100">
                <a:solidFill>
                  <a:srgbClr val="333333"/>
                </a:solidFill>
                <a:latin typeface="Calibri"/>
              </a:rPr>
              <a:t>Im KV-Postkorb ist heute jede Eingangsmail ein eigener Vorgang – Zusammenhaenge fehlen.</a:t>
            </a:r>
          </a:p>
        </p:txBody>
      </p:sp>
      <p:sp>
        <p:nvSpPr>
          <p:cNvPr id="63" name="Oval 62"/>
          <p:cNvSpPr/>
          <p:nvPr/>
        </p:nvSpPr>
        <p:spPr>
          <a:xfrm>
            <a:off x="8366760" y="3107131"/>
            <a:ext cx="384048" cy="384048"/>
          </a:xfrm>
          <a:prstGeom prst="ellips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366760" y="3107131"/>
            <a:ext cx="384048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500" b="1" i="0" u="none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869680" y="3061411"/>
            <a:ext cx="2834640" cy="656539"/>
          </a:xfrm>
          <a:prstGeom prst="rect">
            <a:avLst/>
          </a:prstGeom>
          <a:noFill/>
        </p:spPr>
        <p:txBody>
          <a:bodyPr wrap="square" lIns="36000" rIns="36000" tIns="0" bIns="0">
            <a:spAutoFit/>
          </a:bodyPr>
          <a:lstStyle/>
          <a:p>
            <a:pPr algn="l"/>
            <a:r>
              <a:rPr sz="1100" b="1">
                <a:solidFill>
                  <a:srgbClr val="333333"/>
                </a:solidFill>
                <a:latin typeface="Calibri"/>
              </a:rPr>
              <a:t>Komposit gemappt: </a:t>
            </a:r>
            <a:r>
              <a:rPr sz="1100">
                <a:solidFill>
                  <a:srgbClr val="333333"/>
                </a:solidFill>
                <a:latin typeface="Calibri"/>
              </a:rPr>
              <a:t>Bei Komposit (und weitgehend Leben) werden Vorgaenge zur VNR bereits gebuendelt.</a:t>
            </a:r>
          </a:p>
        </p:txBody>
      </p:sp>
      <p:sp>
        <p:nvSpPr>
          <p:cNvPr id="66" name="Oval 65"/>
          <p:cNvSpPr/>
          <p:nvPr/>
        </p:nvSpPr>
        <p:spPr>
          <a:xfrm>
            <a:off x="8366760" y="3763670"/>
            <a:ext cx="384048" cy="384048"/>
          </a:xfrm>
          <a:prstGeom prst="ellips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8366760" y="3763670"/>
            <a:ext cx="384048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500" b="1" i="0" u="none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869680" y="3717950"/>
            <a:ext cx="2834640" cy="656539"/>
          </a:xfrm>
          <a:prstGeom prst="rect">
            <a:avLst/>
          </a:prstGeom>
          <a:noFill/>
        </p:spPr>
        <p:txBody>
          <a:bodyPr wrap="square" lIns="36000" rIns="36000" tIns="0" bIns="0">
            <a:spAutoFit/>
          </a:bodyPr>
          <a:lstStyle/>
          <a:p>
            <a:pPr algn="l"/>
            <a:r>
              <a:rPr sz="1100" b="1">
                <a:solidFill>
                  <a:srgbClr val="333333"/>
                </a:solidFill>
                <a:latin typeface="Calibri"/>
              </a:rPr>
              <a:t>Mehrfach-Vorgaenge sind WERTVOLL: </a:t>
            </a:r>
            <a:r>
              <a:rPr sz="1100">
                <a:solidFill>
                  <a:srgbClr val="333333"/>
                </a:solidFill>
                <a:latin typeface="Calibri"/>
              </a:rPr>
              <a:t>619 Kunden / Woche mit mehreren Vertraegen beim selben Makler – erkennen statt doppelt anlegen.</a:t>
            </a:r>
          </a:p>
        </p:txBody>
      </p:sp>
      <p:sp>
        <p:nvSpPr>
          <p:cNvPr id="69" name="Oval 68"/>
          <p:cNvSpPr/>
          <p:nvPr/>
        </p:nvSpPr>
        <p:spPr>
          <a:xfrm>
            <a:off x="8366760" y="4420209"/>
            <a:ext cx="384048" cy="384048"/>
          </a:xfrm>
          <a:prstGeom prst="ellips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8366760" y="4420209"/>
            <a:ext cx="384048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500" b="1" i="0" u="none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869680" y="4374489"/>
            <a:ext cx="2834640" cy="656539"/>
          </a:xfrm>
          <a:prstGeom prst="rect">
            <a:avLst/>
          </a:prstGeom>
          <a:noFill/>
        </p:spPr>
        <p:txBody>
          <a:bodyPr wrap="square" lIns="36000" rIns="36000" tIns="0" bIns="0">
            <a:spAutoFit/>
          </a:bodyPr>
          <a:lstStyle/>
          <a:p>
            <a:pPr algn="l"/>
            <a:r>
              <a:rPr sz="1100" b="1">
                <a:solidFill>
                  <a:srgbClr val="333333"/>
                </a:solidFill>
                <a:latin typeface="Calibri"/>
              </a:rPr>
              <a:t>Arbeitsvorrats-Steuerung: </a:t>
            </a:r>
            <a:r>
              <a:rPr sz="1100">
                <a:solidFill>
                  <a:srgbClr val="333333"/>
                </a:solidFill>
                <a:latin typeface="Calibri"/>
              </a:rPr>
              <a:t>Strukturierte Daten erlauben Filter nach Prio-Fall und Prio-Makler statt blindes Abarbeiten.</a:t>
            </a:r>
          </a:p>
        </p:txBody>
      </p:sp>
      <p:sp>
        <p:nvSpPr>
          <p:cNvPr id="72" name="Oval 71"/>
          <p:cNvSpPr/>
          <p:nvPr/>
        </p:nvSpPr>
        <p:spPr>
          <a:xfrm>
            <a:off x="8366760" y="5076748"/>
            <a:ext cx="384048" cy="384048"/>
          </a:xfrm>
          <a:prstGeom prst="ellips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8366760" y="5076748"/>
            <a:ext cx="384048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500" b="1" i="0" u="none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869680" y="5031028"/>
            <a:ext cx="2834640" cy="656539"/>
          </a:xfrm>
          <a:prstGeom prst="rect">
            <a:avLst/>
          </a:prstGeom>
          <a:noFill/>
        </p:spPr>
        <p:txBody>
          <a:bodyPr wrap="square" lIns="36000" rIns="36000" tIns="0" bIns="0">
            <a:spAutoFit/>
          </a:bodyPr>
          <a:lstStyle/>
          <a:p>
            <a:pPr algn="l"/>
            <a:r>
              <a:rPr sz="1100" b="1">
                <a:solidFill>
                  <a:srgbClr val="333333"/>
                </a:solidFill>
                <a:latin typeface="Calibri"/>
              </a:rPr>
              <a:t>Echte Folge-Mails: </a:t>
            </a:r>
            <a:r>
              <a:rPr sz="1100">
                <a:solidFill>
                  <a:srgbClr val="333333"/>
                </a:solidFill>
                <a:latin typeface="Calibri"/>
              </a:rPr>
              <a:t>104 Nachreichungen / Woche zur selben VNR – Auto-Zuordnung zum offenen Vorgang.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11480" y="5760720"/>
            <a:ext cx="11338560" cy="18288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800" b="0" i="1" u="none">
                <a:solidFill>
                  <a:srgbClr val="666666"/>
                </a:solidFill>
                <a:latin typeface="Calibri"/>
              </a:rPr>
              <a:t>Datenbasis: 5.034 Mails  |  Mo 13.04. – Mo 20.04.2026 (eine Kalenderwoche)  |  Eingangs-Postfaecher: 'Service Team Maklerauftraege' (94 %), 'Bestandsuebertragungen' (5 %), 12 weitere &lt;1 %  |  Analyse-Stand: 27.05.2026 (KI-Auswertung mit Claude Opus 4.7, 99 von 5.034 Mails mit Analyse-Fehler/Timeout)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11480" y="5989320"/>
            <a:ext cx="11338560" cy="384048"/>
          </a:xfrm>
          <a:prstGeom prst="rect">
            <a:avLst/>
          </a:prstGeom>
          <a:solidFill>
            <a:srgbClr val="E3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94360" y="5989320"/>
            <a:ext cx="10972800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200" b="1" i="0" u="none">
                <a:solidFill>
                  <a:srgbClr val="FFFFFF"/>
                </a:solidFill>
                <a:latin typeface="Calibri"/>
              </a:rPr>
              <a:t>TAKE-AWAY:  Groesster Cluster-Hebel ist KV: dort fehlt heute die Vorgangs-Buendelung (jede Mail = ein Vorgang). Strukturierte Daten ermoeglichen Arbeitsvorrats-Steuerung nach Prio-Fall und Prio-Makler.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