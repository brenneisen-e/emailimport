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5120640" y="137160"/>
            <a:ext cx="530352" cy="292608"/>
          </a:xfrm>
          <a:prstGeom prst="homePlat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687568" y="137160"/>
            <a:ext cx="530352" cy="292608"/>
          </a:xfrm>
          <a:prstGeom prst="homePlat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6254496" y="137160"/>
            <a:ext cx="530352" cy="292608"/>
          </a:xfrm>
          <a:prstGeom prst="homePlate">
            <a:avLst/>
          </a:prstGeom>
          <a:solidFill>
            <a:srgbClr val="CC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6821424" y="137160"/>
            <a:ext cx="530352" cy="292608"/>
          </a:xfrm>
          <a:prstGeom prst="homePlate">
            <a:avLst/>
          </a:prstGeom>
          <a:solidFill>
            <a:srgbClr val="6FC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7388352" y="137160"/>
            <a:ext cx="530352" cy="292608"/>
          </a:xfrm>
          <a:prstGeom prst="homePlate">
            <a:avLst/>
          </a:prstGeom>
          <a:solidFill>
            <a:srgbClr val="E8C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182880"/>
            <a:ext cx="14630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200" b="1" i="0" u="none">
                <a:solidFill>
                  <a:srgbClr val="E30613"/>
                </a:solidFill>
                <a:latin typeface="Calibri"/>
              </a:rPr>
              <a:t>ERGO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731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 u="none">
                <a:solidFill>
                  <a:srgbClr val="333333"/>
                </a:solidFill>
                <a:latin typeface="Calibri"/>
              </a:rPr>
              <a:t>A Munich Re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"/>
            <a:ext cx="64008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 u="none">
                <a:solidFill>
                  <a:srgbClr val="333333"/>
                </a:solidFill>
                <a:latin typeface="Calibri"/>
              </a:rPr>
              <a:t>STRUKTURIERUNG  |  MENGENGERÜSTE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00584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 i="0" u="none">
                <a:solidFill>
                  <a:srgbClr val="E30613"/>
                </a:solidFill>
                <a:latin typeface="Calibri"/>
              </a:rPr>
              <a:t>Nicht-BUe-Mails belasten den Posteingang ungleich nach Sparte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78992"/>
            <a:ext cx="100584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 i="0" u="none">
                <a:solidFill>
                  <a:srgbClr val="E30613"/>
                </a:solidFill>
                <a:latin typeface="Calibri"/>
              </a:rPr>
              <a:t>groesster Hebel: KV-Triage und Spam-Filter. Komposit-Reminder laeuft heute schon gut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2024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 u="none">
                <a:solidFill>
                  <a:srgbClr val="333333"/>
                </a:solidFill>
                <a:latin typeface="Calibri"/>
              </a:rPr>
              <a:t>MENGENGERÜSTE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657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 u="none">
                <a:solidFill>
                  <a:srgbClr val="333333"/>
                </a:solidFill>
                <a:latin typeface="Calibri"/>
              </a:rPr>
              <a:t>KERNAUSSAGEN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446520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10058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Calibri"/>
              </a:rPr>
              <a:t>ERGO | Makler BUe meets KI – Zwischenbericht Phase 1 - 10.06.2026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 u="none">
                <a:solidFill>
                  <a:srgbClr val="666666"/>
                </a:solidFill>
                <a:latin typeface="Calibri"/>
              </a:rPr>
              <a:t>11a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240280"/>
            <a:ext cx="76352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 u="none">
                <a:solidFill>
                  <a:srgbClr val="666666"/>
                </a:solidFill>
                <a:latin typeface="Calibri"/>
              </a:rPr>
              <a:t>Aufteilung der 1.034 Nicht-BUe-Mails / Woche nach Sparte – heutiger Filter-Status und KI-Hebel-Potenzial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606040"/>
            <a:ext cx="7635240" cy="365760"/>
          </a:xfrm>
          <a:prstGeom prst="rect">
            <a:avLst/>
          </a:prstGeom>
          <a:solidFill>
            <a:srgbClr val="00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606040"/>
            <a:ext cx="1508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Sparte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606040"/>
            <a:ext cx="10515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Posteingang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606040"/>
            <a:ext cx="960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Keine BÜ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606040"/>
            <a:ext cx="96012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Reminder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606040"/>
            <a:ext cx="14630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Heutige Filterung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606040"/>
            <a:ext cx="1691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Verbesserungs-Hebel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71800"/>
            <a:ext cx="7635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2971800"/>
            <a:ext cx="109728" cy="411480"/>
          </a:xfrm>
          <a:prstGeom prst="rect">
            <a:avLst/>
          </a:prstGeom>
          <a:solidFill>
            <a:srgbClr val="C86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2971800"/>
            <a:ext cx="1399032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 u="none">
                <a:solidFill>
                  <a:srgbClr val="333333"/>
                </a:solidFill>
                <a:latin typeface="Calibri"/>
              </a:rPr>
              <a:t>Komposit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971800"/>
            <a:ext cx="10515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2.502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297180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192 (8 %)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97180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221 (9 %)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297180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Reminder bereits gut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044952"/>
            <a:ext cx="1600200" cy="265176"/>
          </a:xfrm>
          <a:prstGeom prst="rect">
            <a:avLst/>
          </a:prstGeom>
          <a:solidFill>
            <a:srgbClr val="C86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971800"/>
            <a:ext cx="16916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192 Keine BÜ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383280"/>
            <a:ext cx="7635240" cy="41148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3383280"/>
            <a:ext cx="109728" cy="41148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3383280"/>
            <a:ext cx="1399032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 u="none">
                <a:solidFill>
                  <a:srgbClr val="333333"/>
                </a:solidFill>
                <a:latin typeface="Calibri"/>
              </a:rPr>
              <a:t>KV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383280"/>
            <a:ext cx="10515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1.308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338328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112 (9 %)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38328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49 (4 %)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38328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schwach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456432"/>
            <a:ext cx="1600200" cy="2651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383280"/>
            <a:ext cx="16916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161 Mails (groesster Hebel)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794760"/>
            <a:ext cx="7635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3794760"/>
            <a:ext cx="109728" cy="411480"/>
          </a:xfrm>
          <a:prstGeom prst="rect">
            <a:avLst/>
          </a:prstGeom>
          <a:solidFill>
            <a:srgbClr val="C86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" y="3794760"/>
            <a:ext cx="1399032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 u="none">
                <a:solidFill>
                  <a:srgbClr val="333333"/>
                </a:solidFill>
                <a:latin typeface="Calibri"/>
              </a:rPr>
              <a:t>Leben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3794760"/>
            <a:ext cx="10515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755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379476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55 (7 %)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79476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38 (5 %)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379476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teilweise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867912"/>
            <a:ext cx="1600200" cy="265176"/>
          </a:xfrm>
          <a:prstGeom prst="rect">
            <a:avLst/>
          </a:prstGeom>
          <a:solidFill>
            <a:srgbClr val="C86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794760"/>
            <a:ext cx="16916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93 Mails (mittel)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206240"/>
            <a:ext cx="7635240" cy="411480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4206240"/>
            <a:ext cx="109728" cy="411480"/>
          </a:xfrm>
          <a:prstGeom prst="rect">
            <a:avLst/>
          </a:prstGeom>
          <a:solidFill>
            <a:srgbClr val="109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4206240"/>
            <a:ext cx="1399032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 u="none">
                <a:solidFill>
                  <a:srgbClr val="333333"/>
                </a:solidFill>
                <a:latin typeface="Calibri"/>
              </a:rPr>
              <a:t>Sparten-leer/Spam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4206240"/>
            <a:ext cx="10515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343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420624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343 (100 %)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420624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92040" y="420624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kaum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279392"/>
            <a:ext cx="1600200" cy="265176"/>
          </a:xfrm>
          <a:prstGeom prst="rect">
            <a:avLst/>
          </a:prstGeom>
          <a:solidFill>
            <a:srgbClr val="109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4206240"/>
            <a:ext cx="16916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343 Mails (trivial)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4617720"/>
            <a:ext cx="7635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4617720"/>
            <a:ext cx="109728" cy="41148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1208" y="4617720"/>
            <a:ext cx="1399032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 u="none">
                <a:solidFill>
                  <a:srgbClr val="333333"/>
                </a:solidFill>
                <a:latin typeface="Calibri"/>
              </a:rPr>
              <a:t>Mehrere/Unbekannt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4617720"/>
            <a:ext cx="105156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136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71800" y="461772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31920" y="4617720"/>
            <a:ext cx="96012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461772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0" u="none">
                <a:solidFill>
                  <a:srgbClr val="333333"/>
                </a:solidFill>
                <a:latin typeface="Calibri"/>
              </a:rPr>
              <a:t>uneinheitlich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4690872"/>
            <a:ext cx="1600200" cy="265176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4617720"/>
            <a:ext cx="16916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Calibri"/>
              </a:rPr>
              <a:t>klein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102352"/>
            <a:ext cx="7635240" cy="384048"/>
          </a:xfrm>
          <a:prstGeom prst="rect">
            <a:avLst/>
          </a:prstGeom>
          <a:solidFill>
            <a:srgbClr val="C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102352"/>
            <a:ext cx="736092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 u="none">
                <a:solidFill>
                  <a:srgbClr val="006B77"/>
                </a:solidFill>
                <a:latin typeface="Calibri"/>
              </a:rPr>
              <a:t>Gesamt 1.034 Nicht-BUe-Mails / Woche  -  davon Komposit-Reminder (221) heute schon gut gefiltert  -&gt;  realer Verbesserungs-Hebel ~800 Mails / Woche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29600" y="2240280"/>
            <a:ext cx="3611880" cy="3611880"/>
          </a:xfrm>
          <a:prstGeom prst="rect">
            <a:avLst/>
          </a:prstGeom>
          <a:solidFill>
            <a:srgbClr val="C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66760" y="2450592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66760" y="2450592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9680" y="2404872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KV-Triage ist die Luecke: </a:t>
            </a:r>
            <a:r>
              <a:rPr sz="1100">
                <a:solidFill>
                  <a:srgbClr val="333333"/>
                </a:solidFill>
                <a:latin typeface="Calibri"/>
              </a:rPr>
              <a:t>161 Nicht-BUe-Mails / Woche werden heute schlecht gefiltert – sowohl Keine BUe als auch Reminder.</a:t>
            </a:r>
          </a:p>
        </p:txBody>
      </p:sp>
      <p:sp>
        <p:nvSpPr>
          <p:cNvPr id="76" name="Oval 75"/>
          <p:cNvSpPr/>
          <p:nvPr/>
        </p:nvSpPr>
        <p:spPr>
          <a:xfrm>
            <a:off x="8366760" y="3107131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66760" y="3107131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69680" y="3061411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Sparten-leer/Spam: </a:t>
            </a:r>
            <a:r>
              <a:rPr sz="1100">
                <a:solidFill>
                  <a:srgbClr val="333333"/>
                </a:solidFill>
                <a:latin typeface="Calibri"/>
              </a:rPr>
              <a:t>343 Mails (33 % der Nicht-BUe) sind trivial mit Header-Regeln auszufiltern.</a:t>
            </a:r>
          </a:p>
        </p:txBody>
      </p:sp>
      <p:sp>
        <p:nvSpPr>
          <p:cNvPr id="79" name="Oval 78"/>
          <p:cNvSpPr/>
          <p:nvPr/>
        </p:nvSpPr>
        <p:spPr>
          <a:xfrm>
            <a:off x="8366760" y="3763670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66760" y="3763670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3717950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Komposit-Reminder OK: </a:t>
            </a:r>
            <a:r>
              <a:rPr sz="1100">
                <a:solidFill>
                  <a:srgbClr val="333333"/>
                </a:solidFill>
                <a:latin typeface="Calibri"/>
              </a:rPr>
              <a:t>221 Komposit-Reminder werden heute schon gut erkannt – kein neuer Hebel.</a:t>
            </a:r>
          </a:p>
        </p:txBody>
      </p:sp>
      <p:sp>
        <p:nvSpPr>
          <p:cNvPr id="82" name="Oval 81"/>
          <p:cNvSpPr/>
          <p:nvPr/>
        </p:nvSpPr>
        <p:spPr>
          <a:xfrm>
            <a:off x="8366760" y="4420209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66760" y="4420209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69680" y="4374489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Komposit-Keine BUe: </a:t>
            </a:r>
            <a:r>
              <a:rPr sz="1100">
                <a:solidFill>
                  <a:srgbClr val="333333"/>
                </a:solidFill>
                <a:latin typeface="Calibri"/>
              </a:rPr>
              <a:t>192 Mails Schaden/Antrag/Anfrage gehoeren in andere Postfaecher – zweitgroesster Hebel.</a:t>
            </a:r>
          </a:p>
        </p:txBody>
      </p:sp>
      <p:sp>
        <p:nvSpPr>
          <p:cNvPr id="85" name="Oval 84"/>
          <p:cNvSpPr/>
          <p:nvPr/>
        </p:nvSpPr>
        <p:spPr>
          <a:xfrm>
            <a:off x="8366760" y="5076748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66760" y="5076748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5031028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Reihenfolge der Massnahmen: </a:t>
            </a:r>
            <a:r>
              <a:rPr sz="1100">
                <a:solidFill>
                  <a:srgbClr val="333333"/>
                </a:solidFill>
                <a:latin typeface="Calibri"/>
              </a:rPr>
              <a:t>1) Spam/leer-Filter  2) KV-Triage aufbauen  3) Komposit-Keine BUe routen.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5897880"/>
            <a:ext cx="11338560" cy="41148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5897880"/>
            <a:ext cx="10972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Calibri"/>
              </a:rPr>
              <a:t>TAKE-AWAY:  Realer Vorqualifizierungs-Hebel ~800 Mails / Woche (-16 %) – Schwerpunkt KV-Triage und Spam/Sparten-leer; Komposit-Reminder läuft heute bereits gut. Cluster-Hebel (Folie 11b) addiert weitere ~2 %.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5120640" y="137160"/>
            <a:ext cx="530352" cy="292608"/>
          </a:xfrm>
          <a:prstGeom prst="homePlat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5687568" y="137160"/>
            <a:ext cx="530352" cy="292608"/>
          </a:xfrm>
          <a:prstGeom prst="homePlat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6254496" y="137160"/>
            <a:ext cx="530352" cy="292608"/>
          </a:xfrm>
          <a:prstGeom prst="homePlate">
            <a:avLst/>
          </a:prstGeom>
          <a:solidFill>
            <a:srgbClr val="CC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6821424" y="137160"/>
            <a:ext cx="530352" cy="292608"/>
          </a:xfrm>
          <a:prstGeom prst="homePlate">
            <a:avLst/>
          </a:prstGeom>
          <a:solidFill>
            <a:srgbClr val="6FC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entagon 5"/>
          <p:cNvSpPr/>
          <p:nvPr/>
        </p:nvSpPr>
        <p:spPr>
          <a:xfrm>
            <a:off x="7388352" y="137160"/>
            <a:ext cx="530352" cy="292608"/>
          </a:xfrm>
          <a:prstGeom prst="homePlate">
            <a:avLst/>
          </a:prstGeom>
          <a:solidFill>
            <a:srgbClr val="E8C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182880"/>
            <a:ext cx="14630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200" b="1" i="0" u="none">
                <a:solidFill>
                  <a:srgbClr val="E30613"/>
                </a:solidFill>
                <a:latin typeface="Calibri"/>
              </a:rPr>
              <a:t>ERGO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7315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 u="none">
                <a:solidFill>
                  <a:srgbClr val="333333"/>
                </a:solidFill>
                <a:latin typeface="Calibri"/>
              </a:rPr>
              <a:t>A Munich Re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"/>
            <a:ext cx="64008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 u="none">
                <a:solidFill>
                  <a:srgbClr val="333333"/>
                </a:solidFill>
                <a:latin typeface="Calibri"/>
              </a:rPr>
              <a:t>STRUKTURIERUNG  |  MENGENGERÜSTE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4360"/>
            <a:ext cx="100584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 i="0" u="none">
                <a:solidFill>
                  <a:srgbClr val="E30613"/>
                </a:solidFill>
                <a:latin typeface="Calibri"/>
              </a:rPr>
              <a:t>Mehrfach-Mails zum selben Kunden sind primaer Cross-Sell, nicht Nachreichungen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78992"/>
            <a:ext cx="100584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 i="0" u="none">
                <a:solidFill>
                  <a:srgbClr val="E30613"/>
                </a:solidFill>
                <a:latin typeface="Calibri"/>
              </a:rPr>
              <a:t>echter Cluster-Auto-Hebel ist klein (~100 Mails/Wo); Vorgangs-Excel ist v.a. Datenpool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2024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 u="none">
                <a:solidFill>
                  <a:srgbClr val="333333"/>
                </a:solidFill>
                <a:latin typeface="Calibri"/>
              </a:rPr>
              <a:t>MENGENGERÜSTE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657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 u="none">
                <a:solidFill>
                  <a:srgbClr val="333333"/>
                </a:solidFill>
                <a:latin typeface="Calibri"/>
              </a:rPr>
              <a:t>KERNAUSSAGEN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446520"/>
            <a:ext cx="1133856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10058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 u="none">
                <a:solidFill>
                  <a:srgbClr val="666666"/>
                </a:solidFill>
                <a:latin typeface="Calibri"/>
              </a:rPr>
              <a:t>ERGO | Makler BUe meets KI – Zwischenbericht Phase 1 - 10.06.2026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 u="none">
                <a:solidFill>
                  <a:srgbClr val="666666"/>
                </a:solidFill>
                <a:latin typeface="Calibri"/>
              </a:rPr>
              <a:t>11b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240280"/>
            <a:ext cx="76352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 u="none">
                <a:solidFill>
                  <a:srgbClr val="666666"/>
                </a:solidFill>
                <a:latin typeface="Calibri"/>
              </a:rPr>
              <a:t>631 Multi-Mail-Cluster (gleicher Makler + gleicher Kunde) zerfallen in 2 sehr unterschiedliche Typen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606040"/>
            <a:ext cx="7635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606040"/>
            <a:ext cx="146304" cy="1417320"/>
          </a:xfrm>
          <a:prstGeom prst="rect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97480"/>
            <a:ext cx="7178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 u="none">
                <a:solidFill>
                  <a:srgbClr val="006B77"/>
                </a:solidFill>
                <a:latin typeface="Calibri"/>
              </a:rPr>
              <a:t>619 Mehrfach-Vertrags-Cluster  -  Cross-Sell-Signal, KEINE Nachreichungen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17520"/>
            <a:ext cx="71780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 u="none">
                <a:solidFill>
                  <a:srgbClr val="333333"/>
                </a:solidFill>
                <a:latin typeface="Calibri"/>
              </a:rPr>
              <a:t>Kunde hat MEHRERE Verträge mit unterschiedlichen Versicherungsnummern beim selben Makler.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83280"/>
            <a:ext cx="71780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 u="none">
                <a:solidFill>
                  <a:srgbClr val="333333"/>
                </a:solidFill>
                <a:latin typeface="Calibri"/>
              </a:rPr>
              <a:t>Top-Pools dieser Mehrfach-Verbindungen:    JDC 279 Cluster   |   Fonds Finanz 95   |   blau direkt 38   |   DEMA 20   |   [pma:] 18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Calibri"/>
              </a:rPr>
              <a:t>Wert: Cross-Sell-Erkennung, Bündel-Bearbeitung, KV-Postkorb-Migration – kein Mail-Spar-Hebel.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60520"/>
            <a:ext cx="7635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160520"/>
            <a:ext cx="146304" cy="14173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51960"/>
            <a:ext cx="7178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 u="none">
                <a:solidFill>
                  <a:srgbClr val="9C060F"/>
                </a:solidFill>
                <a:latin typeface="Calibri"/>
              </a:rPr>
              <a:t>60 Single-Vertrags-Cluster  =  104 echte Nachreichungs-Mails / Woche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72000"/>
            <a:ext cx="71780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 u="none">
                <a:solidFill>
                  <a:srgbClr val="333333"/>
                </a:solidFill>
                <a:latin typeface="Calibri"/>
              </a:rPr>
              <a:t>Mehrere Mails zur SELBEN Versicherungsnummer – das sind echte Folge-Mails zu offenem Vorgang.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37760"/>
            <a:ext cx="71780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 u="none">
                <a:solidFill>
                  <a:srgbClr val="333333"/>
                </a:solidFill>
                <a:latin typeface="Calibri"/>
              </a:rPr>
              <a:t>Sparten-Aufteilung:    Komposit 52   |   KV 24   |   Leben 18   |   Mehrere/Unbek. 10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Calibri"/>
              </a:rPr>
              <a:t>Top-Pools:    JDC 30   |   Fonds Finanz 10   |   FG FINANZ-SERVICE 10   |   (ohne Pool) 7   |   blau direkt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240280"/>
            <a:ext cx="3611880" cy="3611880"/>
          </a:xfrm>
          <a:prstGeom prst="rect">
            <a:avLst/>
          </a:prstGeom>
          <a:solidFill>
            <a:srgbClr val="CF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66760" y="2450592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450592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404872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Korrigierte Definition: </a:t>
            </a:r>
            <a:r>
              <a:rPr sz="1100">
                <a:solidFill>
                  <a:srgbClr val="333333"/>
                </a:solidFill>
                <a:latin typeface="Calibri"/>
              </a:rPr>
              <a:t>Nachreichung = 2.+ Mail zur GLEICHEN Vertragsnummer. Cluster_ID des Tools bündelt nur Makler+Kunde.</a:t>
            </a:r>
          </a:p>
        </p:txBody>
      </p:sp>
      <p:sp>
        <p:nvSpPr>
          <p:cNvPr id="32" name="Oval 31"/>
          <p:cNvSpPr/>
          <p:nvPr/>
        </p:nvSpPr>
        <p:spPr>
          <a:xfrm>
            <a:off x="8366760" y="3107131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107131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061411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Mehrfach-Verbindungen häufig: </a:t>
            </a:r>
            <a:r>
              <a:rPr sz="1100">
                <a:solidFill>
                  <a:srgbClr val="333333"/>
                </a:solidFill>
                <a:latin typeface="Calibri"/>
              </a:rPr>
              <a:t>619 Kunden / Woche kommen mit mehreren Verträgen zum selben Makler – Cross-Sell-Signal.</a:t>
            </a:r>
          </a:p>
        </p:txBody>
      </p:sp>
      <p:sp>
        <p:nvSpPr>
          <p:cNvPr id="35" name="Oval 34"/>
          <p:cNvSpPr/>
          <p:nvPr/>
        </p:nvSpPr>
        <p:spPr>
          <a:xfrm>
            <a:off x="8366760" y="3763670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763670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717950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Echte Nachreichungen selten: </a:t>
            </a:r>
            <a:r>
              <a:rPr sz="1100">
                <a:solidFill>
                  <a:srgbClr val="333333"/>
                </a:solidFill>
                <a:latin typeface="Calibri"/>
              </a:rPr>
              <a:t>Nur 104 Mails / Woche zur selben Vertragsnummer – Cluster-Auto-Hebel = -2 % des Posteingangs.</a:t>
            </a:r>
          </a:p>
        </p:txBody>
      </p:sp>
      <p:sp>
        <p:nvSpPr>
          <p:cNvPr id="38" name="Oval 37"/>
          <p:cNvSpPr/>
          <p:nvPr/>
        </p:nvSpPr>
        <p:spPr>
          <a:xfrm>
            <a:off x="8366760" y="4420209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4420209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374489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KV-Bezug: </a:t>
            </a:r>
            <a:r>
              <a:rPr sz="1100">
                <a:solidFill>
                  <a:srgbClr val="333333"/>
                </a:solidFill>
                <a:latin typeface="Calibri"/>
              </a:rPr>
              <a:t>24 echte KV-Nachreichungen / Woche – heute fehlt im KV-Postkorb die Cluster-Sicht.</a:t>
            </a:r>
          </a:p>
        </p:txBody>
      </p:sp>
      <p:sp>
        <p:nvSpPr>
          <p:cNvPr id="41" name="Oval 40"/>
          <p:cNvSpPr/>
          <p:nvPr/>
        </p:nvSpPr>
        <p:spPr>
          <a:xfrm>
            <a:off x="8366760" y="5076748"/>
            <a:ext cx="384048" cy="384048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5076748"/>
            <a:ext cx="384048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5031028"/>
            <a:ext cx="2834640" cy="656539"/>
          </a:xfrm>
          <a:prstGeom prst="rect">
            <a:avLst/>
          </a:prstGeom>
          <a:noFill/>
        </p:spPr>
        <p:txBody>
          <a:bodyPr wrap="square" lIns="36000" rIns="3600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Calibri"/>
              </a:rPr>
              <a:t>Hauptwert Vorgangs-Excel: </a:t>
            </a:r>
            <a:r>
              <a:rPr sz="1100">
                <a:solidFill>
                  <a:srgbClr val="333333"/>
                </a:solidFill>
                <a:latin typeface="Calibri"/>
              </a:rPr>
              <a:t>Datenpool für Stichproben, KV-Postkorb-Migration, Cross-Sell-Auswertung – nicht primär Auto-Hebel.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5897880"/>
            <a:ext cx="11338560" cy="41148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897880"/>
            <a:ext cx="10972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Calibri"/>
              </a:rPr>
              <a:t>TAKE-AWAY:  Cluster-Auto-Zuordnung ist mit ~104 Mails / Woche ein kleiner Hebel – größerer Wert: Vorgangs-Excel als Datenpool für KV-Migration, Stichproben und Cross-Sell-Sicht (619 Kunden / Woche mit Mehrfach-Verbindungen).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