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>
            <a:off x="5120640" y="137160"/>
            <a:ext cx="530352" cy="292608"/>
          </a:xfrm>
          <a:prstGeom prst="homePlate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entagon 2"/>
          <p:cNvSpPr/>
          <p:nvPr/>
        </p:nvSpPr>
        <p:spPr>
          <a:xfrm>
            <a:off x="5687568" y="137160"/>
            <a:ext cx="530352" cy="292608"/>
          </a:xfrm>
          <a:prstGeom prst="homePlat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entagon 3"/>
          <p:cNvSpPr/>
          <p:nvPr/>
        </p:nvSpPr>
        <p:spPr>
          <a:xfrm>
            <a:off x="6254496" y="137160"/>
            <a:ext cx="530352" cy="292608"/>
          </a:xfrm>
          <a:prstGeom prst="homePlate">
            <a:avLst/>
          </a:prstGeom>
          <a:solidFill>
            <a:srgbClr val="CC4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entagon 4"/>
          <p:cNvSpPr/>
          <p:nvPr/>
        </p:nvSpPr>
        <p:spPr>
          <a:xfrm>
            <a:off x="6821424" y="137160"/>
            <a:ext cx="530352" cy="292608"/>
          </a:xfrm>
          <a:prstGeom prst="homePlate">
            <a:avLst/>
          </a:prstGeom>
          <a:solidFill>
            <a:srgbClr val="6FC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entagon 5"/>
          <p:cNvSpPr/>
          <p:nvPr/>
        </p:nvSpPr>
        <p:spPr>
          <a:xfrm>
            <a:off x="7388352" y="137160"/>
            <a:ext cx="530352" cy="292608"/>
          </a:xfrm>
          <a:prstGeom prst="homePlate">
            <a:avLst/>
          </a:prstGeom>
          <a:solidFill>
            <a:srgbClr val="E8C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61320" y="182880"/>
            <a:ext cx="146304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3200" b="1" i="0" u="none">
                <a:solidFill>
                  <a:srgbClr val="E30613"/>
                </a:solidFill>
                <a:latin typeface="Calibri"/>
              </a:rPr>
              <a:t>ERGO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731520"/>
            <a:ext cx="14630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0" i="0" u="none">
                <a:solidFill>
                  <a:srgbClr val="333333"/>
                </a:solidFill>
                <a:latin typeface="Calibri"/>
              </a:rPr>
              <a:t>A Munich Re company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28600"/>
            <a:ext cx="640080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 i="0" u="none">
                <a:solidFill>
                  <a:srgbClr val="333333"/>
                </a:solidFill>
                <a:latin typeface="Calibri"/>
              </a:rPr>
              <a:t>STRUKTURIERUNG  |  MENGENGERÜSTE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594360"/>
            <a:ext cx="1005840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E30613"/>
                </a:solidFill>
                <a:latin typeface="Calibri"/>
              </a:rPr>
              <a:t>Das Mengengeruest einer Woche zeigt zwei Hebel: jede 5. Mail ist keine BÜ (Routing) 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078992"/>
            <a:ext cx="1005840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E30613"/>
                </a:solidFill>
                <a:latin typeface="Calibri"/>
              </a:rPr>
              <a:t>und die echten BÜ-Mails buendeln sich zu Vorgaengen (Clustering / Arbeitsvorrats-Steuerung)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1920240"/>
            <a:ext cx="73152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MENGENGERÜSTE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920240"/>
            <a:ext cx="36576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KERNAUSSAGEN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6446520"/>
            <a:ext cx="11338560" cy="9525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6510528"/>
            <a:ext cx="100584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ERGO | Makler BUe meets KI – Zwischenbericht Phase 1 - 10.06.2026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510528"/>
            <a:ext cx="4572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900" b="0" i="0" u="none">
                <a:solidFill>
                  <a:srgbClr val="666666"/>
                </a:solidFill>
                <a:latin typeface="Calibri"/>
              </a:rPr>
              <a:t>11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240280"/>
            <a:ext cx="184023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1480" y="2240280"/>
            <a:ext cx="54864" cy="566928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208" y="2258568"/>
            <a:ext cx="1703070" cy="32918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333333"/>
                </a:solidFill>
                <a:latin typeface="Calibri"/>
              </a:rPr>
              <a:t>5.034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" y="2587752"/>
            <a:ext cx="1703070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Mails / Woche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43150" y="2240280"/>
            <a:ext cx="184023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43150" y="2240280"/>
            <a:ext cx="54864" cy="566928"/>
          </a:xfrm>
          <a:prstGeom prst="rect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452878" y="2258568"/>
            <a:ext cx="1703070" cy="32918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333333"/>
                </a:solidFill>
                <a:latin typeface="Calibri"/>
              </a:rPr>
              <a:t>1 KW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52878" y="2587752"/>
            <a:ext cx="1703070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Vollerhebung 13.–20.04.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74820" y="2240280"/>
            <a:ext cx="184023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74820" y="2240280"/>
            <a:ext cx="54864" cy="566928"/>
          </a:xfrm>
          <a:prstGeom prst="rect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4548" y="2258568"/>
            <a:ext cx="1703070" cy="32918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333333"/>
                </a:solidFill>
                <a:latin typeface="Calibri"/>
              </a:rPr>
              <a:t>94 %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4548" y="2587752"/>
            <a:ext cx="1703070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ein Sammel-Postfach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06490" y="2240280"/>
            <a:ext cx="184023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06490" y="2240280"/>
            <a:ext cx="54864" cy="566928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16218" y="2258568"/>
            <a:ext cx="1703070" cy="32918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333333"/>
                </a:solidFill>
                <a:latin typeface="Calibri"/>
              </a:rPr>
              <a:t>50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16218" y="2587752"/>
            <a:ext cx="1703070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KI-Datenfelder / Mail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1480" y="3813048"/>
            <a:ext cx="2103120" cy="91440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3904488"/>
            <a:ext cx="2103120" cy="4114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2800" b="1" i="0" u="none">
                <a:solidFill>
                  <a:srgbClr val="FFFFFF"/>
                </a:solidFill>
                <a:latin typeface="Calibri"/>
              </a:rPr>
              <a:t>5.034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1480" y="4343400"/>
            <a:ext cx="210312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1100" b="0" i="0" u="none">
                <a:solidFill>
                  <a:srgbClr val="FFFFFF"/>
                </a:solidFill>
                <a:latin typeface="Calibri"/>
              </a:rPr>
              <a:t>Mails / Woche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017520" y="3035808"/>
            <a:ext cx="5029200" cy="1188720"/>
          </a:xfrm>
          <a:prstGeom prst="rect">
            <a:avLst/>
          </a:prstGeom>
          <a:solidFill>
            <a:srgbClr val="FDE2C4"/>
          </a:solidFill>
          <a:ln w="15875">
            <a:solidFill>
              <a:srgbClr val="C86E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200400" y="3090672"/>
            <a:ext cx="466344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C86E10"/>
                </a:solidFill>
                <a:latin typeface="Calibri"/>
              </a:rPr>
              <a:t>1.034 Nicht-BÜ-Mails  (20,5 %)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00400" y="3401568"/>
            <a:ext cx="46634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 i="0" u="none">
                <a:solidFill>
                  <a:srgbClr val="333333"/>
                </a:solidFill>
                <a:latin typeface="Calibri"/>
              </a:rPr>
              <a:t>davon 240 mit Maklervollmacht im Anhang (210 Reminder + 30 Keine BÜ)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00400" y="3675888"/>
            <a:ext cx="46634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 i="1" u="none">
                <a:solidFill>
                  <a:srgbClr val="666666"/>
                </a:solidFill>
                <a:latin typeface="Calibri"/>
              </a:rPr>
              <a:t>Regel 'MV im Anhang → BÜ' legt sie heute faelschlich als BÜ-Vorgang an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200400" y="3931920"/>
            <a:ext cx="46634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1" i="0" u="none">
                <a:solidFill>
                  <a:srgbClr val="9C060F"/>
                </a:solidFill>
                <a:latin typeface="Calibri"/>
              </a:rPr>
              <a:t>→  HEBEL 1: Routing / Vorqualifizierung  (Folie 11a)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017520" y="4361688"/>
            <a:ext cx="5029200" cy="1188720"/>
          </a:xfrm>
          <a:prstGeom prst="rect">
            <a:avLst/>
          </a:prstGeom>
          <a:solidFill>
            <a:srgbClr val="CFE6E9"/>
          </a:solidFill>
          <a:ln w="15875">
            <a:solidFill>
              <a:srgbClr val="0087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200400" y="4434840"/>
            <a:ext cx="4663440" cy="310896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1" i="0" u="none">
                <a:solidFill>
                  <a:srgbClr val="006B77"/>
                </a:solidFill>
                <a:latin typeface="Calibri"/>
              </a:rPr>
              <a:t>4.000 BÜ-Anfrage-Mails  (79,5 %)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200400" y="4773168"/>
            <a:ext cx="466344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 i="0" u="none">
                <a:solidFill>
                  <a:srgbClr val="333333"/>
                </a:solidFill>
                <a:latin typeface="Calibri"/>
              </a:rPr>
              <a:t>buendeln sich zu nur 2.495 Vorgaengen  ·  619 Kunden mit mehreren Vertraegen beim selben Makler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00400" y="5257800"/>
            <a:ext cx="466344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1" i="0" u="none">
                <a:solidFill>
                  <a:srgbClr val="9C060F"/>
                </a:solidFill>
                <a:latin typeface="Calibri"/>
              </a:rPr>
              <a:t>→  HEBEL 2: Clustering / Arbeitsvorrats-Steuerung  (Folie 11b)</a:t>
            </a:r>
          </a:p>
        </p:txBody>
      </p:sp>
      <p:sp>
        <p:nvSpPr>
          <p:cNvPr id="45" name="Right Arrow 44"/>
          <p:cNvSpPr/>
          <p:nvPr/>
        </p:nvSpPr>
        <p:spPr>
          <a:xfrm>
            <a:off x="2514600" y="4041648"/>
            <a:ext cx="457200" cy="274320"/>
          </a:xfrm>
          <a:prstGeom prst="rightArrow">
            <a:avLst/>
          </a:prstGeom>
          <a:solidFill>
            <a:srgbClr val="C86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ight Arrow 45"/>
          <p:cNvSpPr/>
          <p:nvPr/>
        </p:nvSpPr>
        <p:spPr>
          <a:xfrm>
            <a:off x="2514600" y="4498848"/>
            <a:ext cx="457200" cy="274320"/>
          </a:xfrm>
          <a:prstGeom prst="rightArrow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229600" y="2240280"/>
            <a:ext cx="3611880" cy="3611880"/>
          </a:xfrm>
          <a:prstGeom prst="rect">
            <a:avLst/>
          </a:prstGeom>
          <a:solidFill>
            <a:srgbClr val="CF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8366760" y="2450592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366760" y="2450592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869680" y="2404872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Mengengeruest 1 Woche: </a:t>
            </a:r>
            <a:r>
              <a:rPr sz="1100">
                <a:solidFill>
                  <a:srgbClr val="333333"/>
                </a:solidFill>
                <a:latin typeface="Calibri"/>
              </a:rPr>
              <a:t>5.034 Mails, Vollerhebung 13.–20.04.2026; 94 % ueber ein Sammel-Postfach. Hochrechnung ~260.000 / Jahr.</a:t>
            </a:r>
          </a:p>
        </p:txBody>
      </p:sp>
      <p:sp>
        <p:nvSpPr>
          <p:cNvPr id="51" name="Oval 50"/>
          <p:cNvSpPr/>
          <p:nvPr/>
        </p:nvSpPr>
        <p:spPr>
          <a:xfrm>
            <a:off x="8366760" y="3107131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366760" y="3107131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869680" y="3061411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Strukturierte Extraktion: </a:t>
            </a:r>
            <a:r>
              <a:rPr sz="1100">
                <a:solidFill>
                  <a:srgbClr val="333333"/>
                </a:solidFill>
                <a:latin typeface="Calibri"/>
              </a:rPr>
              <a:t>KI erstellt je Mail ein Beiblatt mit 50 Feldern – VNR, Sparte, Pool, Status, Vorgangs-Cluster immer gleich.</a:t>
            </a:r>
          </a:p>
        </p:txBody>
      </p:sp>
      <p:sp>
        <p:nvSpPr>
          <p:cNvPr id="54" name="Oval 53"/>
          <p:cNvSpPr/>
          <p:nvPr/>
        </p:nvSpPr>
        <p:spPr>
          <a:xfrm>
            <a:off x="8366760" y="3763670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366760" y="3763670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869680" y="3717950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Ableitung Hebel 1: </a:t>
            </a:r>
            <a:r>
              <a:rPr sz="1100">
                <a:solidFill>
                  <a:srgbClr val="333333"/>
                </a:solidFill>
                <a:latin typeface="Calibri"/>
              </a:rPr>
              <a:t>1.034 Mails sind keine neue BÜ; 240 haengen eine MV an und werden durch die Regel 'MV → BÜ' falsch angelegt.</a:t>
            </a:r>
          </a:p>
        </p:txBody>
      </p:sp>
      <p:sp>
        <p:nvSpPr>
          <p:cNvPr id="57" name="Oval 56"/>
          <p:cNvSpPr/>
          <p:nvPr/>
        </p:nvSpPr>
        <p:spPr>
          <a:xfrm>
            <a:off x="8366760" y="4420209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366760" y="4420209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869680" y="4374489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Ableitung Hebel 2: </a:t>
            </a:r>
            <a:r>
              <a:rPr sz="1100">
                <a:solidFill>
                  <a:srgbClr val="333333"/>
                </a:solidFill>
                <a:latin typeface="Calibri"/>
              </a:rPr>
              <a:t>4.000 BÜ-Mails verteilen sich auf nur 2.495 Vorgaenge → Buendelung / Steuerung moeglich.</a:t>
            </a:r>
          </a:p>
        </p:txBody>
      </p:sp>
      <p:sp>
        <p:nvSpPr>
          <p:cNvPr id="60" name="Oval 59"/>
          <p:cNvSpPr/>
          <p:nvPr/>
        </p:nvSpPr>
        <p:spPr>
          <a:xfrm>
            <a:off x="8366760" y="5076748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366760" y="5076748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869680" y="5031028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Roter Faden: </a:t>
            </a:r>
            <a:r>
              <a:rPr sz="1100">
                <a:solidFill>
                  <a:srgbClr val="333333"/>
                </a:solidFill>
                <a:latin typeface="Calibri"/>
              </a:rPr>
              <a:t>Beide Hebel folgen direkt aus der KI-Strukturierung des Posteingangs – Details auf 11a / 11b.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11480" y="5760720"/>
            <a:ext cx="11338560" cy="1828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0" i="1" u="none">
                <a:solidFill>
                  <a:srgbClr val="666666"/>
                </a:solidFill>
                <a:latin typeface="Calibri"/>
              </a:rPr>
              <a:t>Datenbasis: 5.034 Mails  |  Mo 13.04. – Mo 20.04.2026 (eine Kalenderwoche)  |  Eingangs-Postfaecher: 'Service Team Maklerauftraege' (94 %), 'Bestandsuebertragungen' (5 %), 12 weitere &lt;1 %  |  Analyse-Stand: 27.05.2026 (KI-Auswertung mit Claude Opus 4.7, 99 von 5.034 Mails mit Analyse-Fehler/Timeout)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11480" y="5989320"/>
            <a:ext cx="11338560" cy="384048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94360" y="5989320"/>
            <a:ext cx="10972800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1" i="0" u="none">
                <a:solidFill>
                  <a:srgbClr val="FFFFFF"/>
                </a:solidFill>
                <a:latin typeface="Calibri"/>
              </a:rPr>
              <a:t>TAKE-AWAY:  Aus dem Status-Split folgen zwei Hebel: 240 Mails mit MV im Anhang werden faelschlich als BÜ angelegt → Routing (11a); 4.000 BÜ-Mails buendeln sich zu 2.495 Vorgaengen → Clustering &amp; Arbeitsvorrats-Steuerung (11b).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>
            <a:off x="5120640" y="137160"/>
            <a:ext cx="530352" cy="292608"/>
          </a:xfrm>
          <a:prstGeom prst="homePlate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entagon 2"/>
          <p:cNvSpPr/>
          <p:nvPr/>
        </p:nvSpPr>
        <p:spPr>
          <a:xfrm>
            <a:off x="5687568" y="137160"/>
            <a:ext cx="530352" cy="292608"/>
          </a:xfrm>
          <a:prstGeom prst="homePlat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entagon 3"/>
          <p:cNvSpPr/>
          <p:nvPr/>
        </p:nvSpPr>
        <p:spPr>
          <a:xfrm>
            <a:off x="6254496" y="137160"/>
            <a:ext cx="530352" cy="292608"/>
          </a:xfrm>
          <a:prstGeom prst="homePlate">
            <a:avLst/>
          </a:prstGeom>
          <a:solidFill>
            <a:srgbClr val="CC4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entagon 4"/>
          <p:cNvSpPr/>
          <p:nvPr/>
        </p:nvSpPr>
        <p:spPr>
          <a:xfrm>
            <a:off x="6821424" y="137160"/>
            <a:ext cx="530352" cy="292608"/>
          </a:xfrm>
          <a:prstGeom prst="homePlate">
            <a:avLst/>
          </a:prstGeom>
          <a:solidFill>
            <a:srgbClr val="6FC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entagon 5"/>
          <p:cNvSpPr/>
          <p:nvPr/>
        </p:nvSpPr>
        <p:spPr>
          <a:xfrm>
            <a:off x="7388352" y="137160"/>
            <a:ext cx="530352" cy="292608"/>
          </a:xfrm>
          <a:prstGeom prst="homePlate">
            <a:avLst/>
          </a:prstGeom>
          <a:solidFill>
            <a:srgbClr val="E8C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61320" y="182880"/>
            <a:ext cx="146304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3200" b="1" i="0" u="none">
                <a:solidFill>
                  <a:srgbClr val="E30613"/>
                </a:solidFill>
                <a:latin typeface="Calibri"/>
              </a:rPr>
              <a:t>ERGO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731520"/>
            <a:ext cx="14630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0" i="0" u="none">
                <a:solidFill>
                  <a:srgbClr val="333333"/>
                </a:solidFill>
                <a:latin typeface="Calibri"/>
              </a:rPr>
              <a:t>A Munich Re company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28600"/>
            <a:ext cx="640080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 i="0" u="none">
                <a:solidFill>
                  <a:srgbClr val="333333"/>
                </a:solidFill>
                <a:latin typeface="Calibri"/>
              </a:rPr>
              <a:t>STRUKTURIERUNG  |  MENGENGERÜSTE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594360"/>
            <a:ext cx="1005840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E30613"/>
                </a:solidFill>
                <a:latin typeface="Calibri"/>
              </a:rPr>
              <a:t>Hebel 1: Die Routing-Regel 'Maklervollmacht im Anhang → BÜ' erzeugt Fehlrouting 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078992"/>
            <a:ext cx="1005840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E30613"/>
                </a:solidFill>
                <a:latin typeface="Calibri"/>
              </a:rPr>
              <a:t>240 Mails / Woche werden faelschlich als neuer BÜ-Vorgang in den Postkorb eingestellt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1920240"/>
            <a:ext cx="73152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MENGENGERÜSTE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920240"/>
            <a:ext cx="36576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KERNAUSSAGEN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6446520"/>
            <a:ext cx="11338560" cy="9525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6510528"/>
            <a:ext cx="100584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ERGO | Makler BUe meets KI – Zwischenbericht Phase 1 - 10.06.2026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510528"/>
            <a:ext cx="4572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900" b="0" i="0" u="none">
                <a:solidFill>
                  <a:srgbClr val="666666"/>
                </a:solidFill>
                <a:latin typeface="Calibri"/>
              </a:rPr>
              <a:t>11a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240280"/>
            <a:ext cx="763524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 i="1" u="none">
                <a:solidFill>
                  <a:srgbClr val="666666"/>
                </a:solidFill>
                <a:latin typeface="Calibri"/>
              </a:rPr>
              <a:t>Nicht-BÜ-Mails MIT Maklervollmacht im Anhang – heute trotzdem als BÜ-Vorgang angelegt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2606040"/>
            <a:ext cx="7635240" cy="777240"/>
          </a:xfrm>
          <a:prstGeom prst="rect">
            <a:avLst/>
          </a:prstGeom>
          <a:solidFill>
            <a:srgbClr val="FDE2C4"/>
          </a:solidFill>
          <a:ln w="12700">
            <a:solidFill>
              <a:srgbClr val="C86E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2679192"/>
            <a:ext cx="726948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1" i="0" u="none">
                <a:solidFill>
                  <a:srgbClr val="C86E10"/>
                </a:solidFill>
                <a:latin typeface="Calibri"/>
              </a:rPr>
              <a:t>Heutige Regel:  Maklervollmacht im Anhang  →  automatisch BÜ-Vorgang im Postkorb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3008376"/>
            <a:ext cx="7269480" cy="32918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 i="0" u="none">
                <a:solidFill>
                  <a:srgbClr val="333333"/>
                </a:solidFill>
                <a:latin typeface="Calibri"/>
              </a:rPr>
              <a:t>Problem: Auch Reminder und fachfremde Mails haengen oft die MV erneut an – und werden so zu (Dubletten-)BÜ-Vorgaengen.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3520440"/>
            <a:ext cx="7635240" cy="365760"/>
          </a:xfrm>
          <a:prstGeom prst="rect">
            <a:avLst/>
          </a:prstGeom>
          <a:solidFill>
            <a:srgbClr val="006B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3520440"/>
            <a:ext cx="246888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Was die Mail wirklich ist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80360" y="3520440"/>
            <a:ext cx="137160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Mails / Wo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51960" y="3520440"/>
            <a:ext cx="196596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warum es Fehlrouting ist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3520440"/>
            <a:ext cx="182880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KI erkennt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3886200"/>
            <a:ext cx="763524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11480" y="3886200"/>
            <a:ext cx="109728" cy="457200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39496" y="3886200"/>
            <a:ext cx="2340864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 i="0" u="none">
                <a:solidFill>
                  <a:srgbClr val="333333"/>
                </a:solidFill>
                <a:latin typeface="Calibri"/>
              </a:rPr>
              <a:t>BÜ-Reminder (mit MV)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80360" y="3886200"/>
            <a:ext cx="1371600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210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51960" y="3886200"/>
            <a:ext cx="1965960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 i="0" u="none">
                <a:solidFill>
                  <a:srgbClr val="333333"/>
                </a:solidFill>
                <a:latin typeface="Calibri"/>
              </a:rPr>
              <a:t>Wiedervorlage – kein neuer Vorgang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17920" y="3886200"/>
            <a:ext cx="1828800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 i="0" u="none">
                <a:solidFill>
                  <a:srgbClr val="333333"/>
                </a:solidFill>
                <a:latin typeface="Calibri"/>
              </a:rPr>
              <a:t>Status = Reminder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4343400"/>
            <a:ext cx="7635240" cy="457200"/>
          </a:xfrm>
          <a:prstGeom prst="rect">
            <a:avLst/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4343400"/>
            <a:ext cx="109728" cy="457200"/>
          </a:xfrm>
          <a:prstGeom prst="rect">
            <a:avLst/>
          </a:prstGeom>
          <a:solidFill>
            <a:srgbClr val="C86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39496" y="4343400"/>
            <a:ext cx="2340864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 i="0" u="none">
                <a:solidFill>
                  <a:srgbClr val="333333"/>
                </a:solidFill>
                <a:latin typeface="Calibri"/>
              </a:rPr>
              <a:t>Keine BÜ (mit MV)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880360" y="4343400"/>
            <a:ext cx="1371600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30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51960" y="4343400"/>
            <a:ext cx="1965960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 i="0" u="none">
                <a:solidFill>
                  <a:srgbClr val="333333"/>
                </a:solidFill>
                <a:latin typeface="Calibri"/>
              </a:rPr>
              <a:t>Anfrage / Antrag-Aenderung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0" y="4343400"/>
            <a:ext cx="1828800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 i="0" u="none">
                <a:solidFill>
                  <a:srgbClr val="333333"/>
                </a:solidFill>
                <a:latin typeface="Calibri"/>
              </a:rPr>
              <a:t>Status = Keine BÜ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1480" y="4800600"/>
            <a:ext cx="7635240" cy="365760"/>
          </a:xfrm>
          <a:prstGeom prst="rect">
            <a:avLst/>
          </a:prstGeom>
          <a:solidFill>
            <a:srgbClr val="CF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39496" y="4800600"/>
            <a:ext cx="736092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006B77"/>
                </a:solidFill>
                <a:latin typeface="Calibri"/>
              </a:rPr>
              <a:t>Summe Fehlrouting: 240 Mails / Woche  –  nach Sparte: Komposit 155 · KV 47 · Leben 31 · Sonst 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229600" y="2240280"/>
            <a:ext cx="3611880" cy="3611880"/>
          </a:xfrm>
          <a:prstGeom prst="rect">
            <a:avLst/>
          </a:prstGeom>
          <a:solidFill>
            <a:srgbClr val="CF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366760" y="2450592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366760" y="2450592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69680" y="2404872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Bekanntes Fehlrouting: </a:t>
            </a:r>
            <a:r>
              <a:rPr sz="1100">
                <a:solidFill>
                  <a:srgbClr val="333333"/>
                </a:solidFill>
                <a:latin typeface="Calibri"/>
              </a:rPr>
              <a:t>Die Regel 'MV im Anhang → BÜ' stellt 240 Mails / Woche faelschlich als BÜ-Vorgang ein.</a:t>
            </a:r>
          </a:p>
        </p:txBody>
      </p:sp>
      <p:sp>
        <p:nvSpPr>
          <p:cNvPr id="44" name="Oval 43"/>
          <p:cNvSpPr/>
          <p:nvPr/>
        </p:nvSpPr>
        <p:spPr>
          <a:xfrm>
            <a:off x="8366760" y="3107131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366760" y="3107131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869680" y="3061411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Vor allem Reminder: </a:t>
            </a:r>
            <a:r>
              <a:rPr sz="1100">
                <a:solidFill>
                  <a:srgbClr val="333333"/>
                </a:solidFill>
                <a:latin typeface="Calibri"/>
              </a:rPr>
              <a:t>210 der 240 sind Reminder, die die MV erneut anhaengen – sie erzeugen Dubletten-Vorgaenge.</a:t>
            </a:r>
          </a:p>
        </p:txBody>
      </p:sp>
      <p:sp>
        <p:nvSpPr>
          <p:cNvPr id="47" name="Oval 46"/>
          <p:cNvSpPr/>
          <p:nvPr/>
        </p:nvSpPr>
        <p:spPr>
          <a:xfrm>
            <a:off x="8366760" y="3763670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366760" y="3763670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869680" y="3717950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KI loest das: </a:t>
            </a:r>
            <a:r>
              <a:rPr sz="1100">
                <a:solidFill>
                  <a:srgbClr val="333333"/>
                </a:solidFill>
                <a:latin typeface="Calibri"/>
              </a:rPr>
              <a:t>Strukturierte Extraktion liest den Status (Reminder / Keine BÜ) trotz MV – und verhindert die Anlage.</a:t>
            </a:r>
          </a:p>
        </p:txBody>
      </p:sp>
      <p:sp>
        <p:nvSpPr>
          <p:cNvPr id="50" name="Oval 49"/>
          <p:cNvSpPr/>
          <p:nvPr/>
        </p:nvSpPr>
        <p:spPr>
          <a:xfrm>
            <a:off x="8366760" y="4420209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366760" y="4420209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869680" y="4374489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Ehrliche Einordnung: </a:t>
            </a:r>
            <a:r>
              <a:rPr sz="1100">
                <a:solidFill>
                  <a:srgbClr val="333333"/>
                </a:solidFill>
                <a:latin typeface="Calibri"/>
              </a:rPr>
              <a:t>Nur dieser MV-Mechanismus ist nachgewiesen – die uebrigen Nicht-BÜ-Mails sind nicht pauschal Fehlrouting.</a:t>
            </a:r>
          </a:p>
        </p:txBody>
      </p:sp>
      <p:sp>
        <p:nvSpPr>
          <p:cNvPr id="53" name="Oval 52"/>
          <p:cNvSpPr/>
          <p:nvPr/>
        </p:nvSpPr>
        <p:spPr>
          <a:xfrm>
            <a:off x="8366760" y="5076748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366760" y="5076748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869680" y="5031028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Naechster Schritt: </a:t>
            </a:r>
            <a:r>
              <a:rPr sz="1100">
                <a:solidFill>
                  <a:srgbClr val="333333"/>
                </a:solidFill>
                <a:latin typeface="Calibri"/>
              </a:rPr>
              <a:t>Routing-Logik um KI-Status ergaenzen: MV vorhanden UND Status=Neue BÜ → erst dann BÜ-Vorgang.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11480" y="5760720"/>
            <a:ext cx="11338560" cy="1828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0" i="1" u="none">
                <a:solidFill>
                  <a:srgbClr val="666666"/>
                </a:solidFill>
                <a:latin typeface="Calibri"/>
              </a:rPr>
              <a:t>Datenbasis: 5.034 Mails  |  Mo 13.04. – Mo 20.04.2026 (eine Kalenderwoche)  |  Eingangs-Postfaecher: 'Service Team Maklerauftraege' (94 %), 'Bestandsuebertragungen' (5 %), 12 weitere &lt;1 %  |  Analyse-Stand: 27.05.2026 (KI-Auswertung mit Claude Opus 4.7, 99 von 5.034 Mails mit Analyse-Fehler/Timeout)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11480" y="5989320"/>
            <a:ext cx="11338560" cy="384048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94360" y="5989320"/>
            <a:ext cx="10972800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1" i="0" u="none">
                <a:solidFill>
                  <a:srgbClr val="FFFFFF"/>
                </a:solidFill>
                <a:latin typeface="Calibri"/>
              </a:rPr>
              <a:t>TAKE-AWAY:  Nachgewiesener Routing-Hebel: 240 Mails / Woche mit MV im Anhang werden heute faelschlich als BÜ-Vorgang angelegt (210 davon Reminder). KI liest den Status trotz MV und verhindert die Fehl-/Dublettenanlage.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>
            <a:off x="5120640" y="137160"/>
            <a:ext cx="530352" cy="292608"/>
          </a:xfrm>
          <a:prstGeom prst="homePlate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entagon 2"/>
          <p:cNvSpPr/>
          <p:nvPr/>
        </p:nvSpPr>
        <p:spPr>
          <a:xfrm>
            <a:off x="5687568" y="137160"/>
            <a:ext cx="530352" cy="292608"/>
          </a:xfrm>
          <a:prstGeom prst="homePlat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entagon 3"/>
          <p:cNvSpPr/>
          <p:nvPr/>
        </p:nvSpPr>
        <p:spPr>
          <a:xfrm>
            <a:off x="6254496" y="137160"/>
            <a:ext cx="530352" cy="292608"/>
          </a:xfrm>
          <a:prstGeom prst="homePlate">
            <a:avLst/>
          </a:prstGeom>
          <a:solidFill>
            <a:srgbClr val="CC4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entagon 4"/>
          <p:cNvSpPr/>
          <p:nvPr/>
        </p:nvSpPr>
        <p:spPr>
          <a:xfrm>
            <a:off x="6821424" y="137160"/>
            <a:ext cx="530352" cy="292608"/>
          </a:xfrm>
          <a:prstGeom prst="homePlate">
            <a:avLst/>
          </a:prstGeom>
          <a:solidFill>
            <a:srgbClr val="6FC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entagon 5"/>
          <p:cNvSpPr/>
          <p:nvPr/>
        </p:nvSpPr>
        <p:spPr>
          <a:xfrm>
            <a:off x="7388352" y="137160"/>
            <a:ext cx="530352" cy="292608"/>
          </a:xfrm>
          <a:prstGeom prst="homePlate">
            <a:avLst/>
          </a:prstGeom>
          <a:solidFill>
            <a:srgbClr val="E8C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61320" y="182880"/>
            <a:ext cx="146304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3200" b="1" i="0" u="none">
                <a:solidFill>
                  <a:srgbClr val="E30613"/>
                </a:solidFill>
                <a:latin typeface="Calibri"/>
              </a:rPr>
              <a:t>ERGO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731520"/>
            <a:ext cx="14630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0" i="0" u="none">
                <a:solidFill>
                  <a:srgbClr val="333333"/>
                </a:solidFill>
                <a:latin typeface="Calibri"/>
              </a:rPr>
              <a:t>A Munich Re company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28600"/>
            <a:ext cx="640080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 i="0" u="none">
                <a:solidFill>
                  <a:srgbClr val="333333"/>
                </a:solidFill>
                <a:latin typeface="Calibri"/>
              </a:rPr>
              <a:t>STRUKTURIERUNG  |  MENGENGERÜSTE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594360"/>
            <a:ext cx="1005840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E30613"/>
                </a:solidFill>
                <a:latin typeface="Calibri"/>
              </a:rPr>
              <a:t>Hebel 2: Cluster-Erkennung ermoeglicht Arbeitsvorrats-Steuerung 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078992"/>
            <a:ext cx="1005840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E30613"/>
                </a:solidFill>
                <a:latin typeface="Calibri"/>
              </a:rPr>
              <a:t>und schliesst die KV-Vorgangsluecke: heute ist dort jede Eingangsmail ein eigener Vorgang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1920240"/>
            <a:ext cx="73152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MENGENGERÜSTE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920240"/>
            <a:ext cx="36576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KERNAUSSAGEN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6446520"/>
            <a:ext cx="11338560" cy="9525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6510528"/>
            <a:ext cx="100584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ERGO | Makler BUe meets KI – Zwischenbericht Phase 1 - 10.06.2026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510528"/>
            <a:ext cx="4572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900" b="0" i="0" u="none">
                <a:solidFill>
                  <a:srgbClr val="666666"/>
                </a:solidFill>
                <a:latin typeface="Calibri"/>
              </a:rPr>
              <a:t>11b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240280"/>
            <a:ext cx="763524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 i="1" u="none">
                <a:solidFill>
                  <a:srgbClr val="666666"/>
                </a:solidFill>
                <a:latin typeface="Calibri"/>
              </a:rPr>
              <a:t>Vorgangs-Buendelung heute je Sparte – wo die Cluster-Sicht im Postkorb fehlt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2606040"/>
            <a:ext cx="7635240" cy="384048"/>
          </a:xfrm>
          <a:prstGeom prst="rect">
            <a:avLst/>
          </a:prstGeom>
          <a:solidFill>
            <a:srgbClr val="006B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" y="2606040"/>
            <a:ext cx="1417320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Sparte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2606040"/>
            <a:ext cx="1143000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BÜ-Mails/Wo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71800" y="2606040"/>
            <a:ext cx="1874519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in Mehrfach-Vorgang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46319" y="2606040"/>
            <a:ext cx="1783080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VNR-Mapping Postkorb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399" y="2606040"/>
            <a:ext cx="1417320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Cluster-Hebel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2990088"/>
            <a:ext cx="7635240" cy="457200"/>
          </a:xfrm>
          <a:prstGeom prst="rect">
            <a:avLst/>
          </a:prstGeom>
          <a:solidFill>
            <a:srgbClr val="CF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11480" y="2990088"/>
            <a:ext cx="109728" cy="457200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1208" y="2990088"/>
            <a:ext cx="1307592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9C060F"/>
                </a:solidFill>
                <a:latin typeface="Calibri"/>
              </a:rPr>
              <a:t>KV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28800" y="2990088"/>
            <a:ext cx="1143000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9C060F"/>
                </a:solidFill>
                <a:latin typeface="Calibri"/>
              </a:rPr>
              <a:t>1.147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71800" y="2990088"/>
            <a:ext cx="1874519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9C060F"/>
                </a:solidFill>
                <a:latin typeface="Calibri"/>
              </a:rPr>
              <a:t>317 Mails (28 %)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19" y="2990088"/>
            <a:ext cx="1783080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9C060F"/>
                </a:solidFill>
                <a:latin typeface="Calibri"/>
              </a:rPr>
              <a:t>FEHLT heute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75119" y="3081528"/>
            <a:ext cx="1325880" cy="274320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29399" y="2990088"/>
            <a:ext cx="1417320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GROSS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3447288"/>
            <a:ext cx="7635240" cy="457200"/>
          </a:xfrm>
          <a:prstGeom prst="rect">
            <a:avLst/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3447288"/>
            <a:ext cx="109728" cy="457200"/>
          </a:xfrm>
          <a:prstGeom prst="rect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21208" y="3447288"/>
            <a:ext cx="1307592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333333"/>
                </a:solidFill>
                <a:latin typeface="Calibri"/>
              </a:rPr>
              <a:t>Komposit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28800" y="3447288"/>
            <a:ext cx="1143000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2.089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971800" y="3447288"/>
            <a:ext cx="1874519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1.362 Mails (65 %)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46319" y="3447288"/>
            <a:ext cx="1783080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bereits gemappt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675119" y="3538728"/>
            <a:ext cx="1325880" cy="274320"/>
          </a:xfrm>
          <a:prstGeom prst="rect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29399" y="3447288"/>
            <a:ext cx="1417320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gering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1480" y="3904488"/>
            <a:ext cx="763524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11480" y="3904488"/>
            <a:ext cx="109728" cy="457200"/>
          </a:xfrm>
          <a:prstGeom prst="rect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1208" y="3904488"/>
            <a:ext cx="1307592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333333"/>
                </a:solidFill>
                <a:latin typeface="Calibri"/>
              </a:rPr>
              <a:t>Leben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828800" y="3904488"/>
            <a:ext cx="1143000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662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971800" y="3904488"/>
            <a:ext cx="1874519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314 Mails (47 %)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46319" y="3904488"/>
            <a:ext cx="1783080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weitgehend gemappt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675119" y="3995928"/>
            <a:ext cx="1325880" cy="274320"/>
          </a:xfrm>
          <a:prstGeom prst="rect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629399" y="3904488"/>
            <a:ext cx="1417320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gering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11480" y="4361688"/>
            <a:ext cx="7635240" cy="457200"/>
          </a:xfrm>
          <a:prstGeom prst="rect">
            <a:avLst/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11480" y="4361688"/>
            <a:ext cx="109728" cy="457200"/>
          </a:xfrm>
          <a:prstGeom prst="rect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21208" y="4361688"/>
            <a:ext cx="1307592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333333"/>
                </a:solidFill>
                <a:latin typeface="Calibri"/>
              </a:rPr>
              <a:t>Mehr/Unbek.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828800" y="4361688"/>
            <a:ext cx="1143000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239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971800" y="4361688"/>
            <a:ext cx="1874519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26 Mails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846319" y="4361688"/>
            <a:ext cx="1783080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uneinheitlich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675119" y="4453128"/>
            <a:ext cx="1325880" cy="274320"/>
          </a:xfrm>
          <a:prstGeom prst="rect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629399" y="4361688"/>
            <a:ext cx="1417320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klein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11480" y="4956048"/>
            <a:ext cx="7635240" cy="914400"/>
          </a:xfrm>
          <a:prstGeom prst="rect">
            <a:avLst/>
          </a:prstGeom>
          <a:solidFill>
            <a:srgbClr val="CF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4360" y="5029200"/>
            <a:ext cx="726948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1" i="0" u="none">
                <a:solidFill>
                  <a:srgbClr val="006B77"/>
                </a:solidFill>
                <a:latin typeface="Calibri"/>
              </a:rPr>
              <a:t>Von 'Postkorb blind abarbeiten' zu aktiver Arbeitsvorrats-Steuerung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" y="5340096"/>
            <a:ext cx="726948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 i="0" u="none">
                <a:solidFill>
                  <a:srgbClr val="333333"/>
                </a:solidFill>
                <a:latin typeface="Calibri"/>
              </a:rPr>
              <a:t>Heute: Sachbearbeiter nehmen Vorgaenge unsortiert aus dem Postkorb.   Kuenftig mit strukturierten Daten: Prio-Faelle (Alter, Vollmacht-Status) und Prio-Makler (z. B. JDC, Fonds Finanz) gezielt filtern und Cluster gebuendelt abarbeiten.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229600" y="2240280"/>
            <a:ext cx="3611880" cy="3611880"/>
          </a:xfrm>
          <a:prstGeom prst="rect">
            <a:avLst/>
          </a:prstGeom>
          <a:solidFill>
            <a:srgbClr val="CF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8366760" y="2450592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366760" y="2450592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869680" y="2404872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KV-Vorgangsluecke: </a:t>
            </a:r>
            <a:r>
              <a:rPr sz="1100">
                <a:solidFill>
                  <a:srgbClr val="333333"/>
                </a:solidFill>
                <a:latin typeface="Calibri"/>
              </a:rPr>
              <a:t>Im KV-Postkorb ist heute jede Eingangsmail ein eigener Vorgang – Zusammenhaenge fehlen.</a:t>
            </a:r>
          </a:p>
        </p:txBody>
      </p:sp>
      <p:sp>
        <p:nvSpPr>
          <p:cNvPr id="63" name="Oval 62"/>
          <p:cNvSpPr/>
          <p:nvPr/>
        </p:nvSpPr>
        <p:spPr>
          <a:xfrm>
            <a:off x="8366760" y="3107131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366760" y="3107131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869680" y="3061411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Komposit gemappt: </a:t>
            </a:r>
            <a:r>
              <a:rPr sz="1100">
                <a:solidFill>
                  <a:srgbClr val="333333"/>
                </a:solidFill>
                <a:latin typeface="Calibri"/>
              </a:rPr>
              <a:t>Bei Komposit (und weitgehend Leben) werden Vorgaenge zur VNR bereits gebuendelt.</a:t>
            </a:r>
          </a:p>
        </p:txBody>
      </p:sp>
      <p:sp>
        <p:nvSpPr>
          <p:cNvPr id="66" name="Oval 65"/>
          <p:cNvSpPr/>
          <p:nvPr/>
        </p:nvSpPr>
        <p:spPr>
          <a:xfrm>
            <a:off x="8366760" y="3763670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366760" y="3763670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869680" y="3717950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Mehrfach-Vorgaenge sind WERTVOLL: </a:t>
            </a:r>
            <a:r>
              <a:rPr sz="1100">
                <a:solidFill>
                  <a:srgbClr val="333333"/>
                </a:solidFill>
                <a:latin typeface="Calibri"/>
              </a:rPr>
              <a:t>619 Kunden / Woche mit mehreren Vertraegen beim selben Makler – erkennen statt doppelt anlegen.</a:t>
            </a:r>
          </a:p>
        </p:txBody>
      </p:sp>
      <p:sp>
        <p:nvSpPr>
          <p:cNvPr id="69" name="Oval 68"/>
          <p:cNvSpPr/>
          <p:nvPr/>
        </p:nvSpPr>
        <p:spPr>
          <a:xfrm>
            <a:off x="8366760" y="4420209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366760" y="4420209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869680" y="4374489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Arbeitsvorrats-Steuerung: </a:t>
            </a:r>
            <a:r>
              <a:rPr sz="1100">
                <a:solidFill>
                  <a:srgbClr val="333333"/>
                </a:solidFill>
                <a:latin typeface="Calibri"/>
              </a:rPr>
              <a:t>Strukturierte Daten erlauben Filter nach Prio-Fall und Prio-Makler statt blindes Abarbeiten.</a:t>
            </a:r>
          </a:p>
        </p:txBody>
      </p:sp>
      <p:sp>
        <p:nvSpPr>
          <p:cNvPr id="72" name="Oval 71"/>
          <p:cNvSpPr/>
          <p:nvPr/>
        </p:nvSpPr>
        <p:spPr>
          <a:xfrm>
            <a:off x="8366760" y="5076748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366760" y="5076748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869680" y="5031028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Echte Folge-Mails: </a:t>
            </a:r>
            <a:r>
              <a:rPr sz="1100">
                <a:solidFill>
                  <a:srgbClr val="333333"/>
                </a:solidFill>
                <a:latin typeface="Calibri"/>
              </a:rPr>
              <a:t>104 Nachreichungen / Woche zur selben VNR – Auto-Zuordnung zum offenen Vorgang.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11480" y="5760720"/>
            <a:ext cx="11338560" cy="1828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0" i="1" u="none">
                <a:solidFill>
                  <a:srgbClr val="666666"/>
                </a:solidFill>
                <a:latin typeface="Calibri"/>
              </a:rPr>
              <a:t>Datenbasis: 5.034 Mails  |  Mo 13.04. – Mo 20.04.2026 (eine Kalenderwoche)  |  Eingangs-Postfaecher: 'Service Team Maklerauftraege' (94 %), 'Bestandsuebertragungen' (5 %), 12 weitere &lt;1 %  |  Analyse-Stand: 27.05.2026 (KI-Auswertung mit Claude Opus 4.7, 99 von 5.034 Mails mit Analyse-Fehler/Timeout)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11480" y="5989320"/>
            <a:ext cx="11338560" cy="384048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94360" y="5989320"/>
            <a:ext cx="10972800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1" i="0" u="none">
                <a:solidFill>
                  <a:srgbClr val="FFFFFF"/>
                </a:solidFill>
                <a:latin typeface="Calibri"/>
              </a:rPr>
              <a:t>TAKE-AWAY:  Groesster Cluster-Hebel ist KV: dort fehlt heute die Vorgangs-Buendelung (jede Mail = ein Vorgang). Strukturierte Daten ermoeglichen Arbeitsvorrats-Steuerung nach Prio-Fall und Prio-Makler.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