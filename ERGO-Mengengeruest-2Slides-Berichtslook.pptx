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8600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30632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Calibri"/>
              </a:rPr>
              <a:t>Maklerpool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606040"/>
            <a:ext cx="15087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BÜ-Anfragen / 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606040"/>
            <a:ext cx="15087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Vorgänge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06040"/>
            <a:ext cx="155448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Ø Mails / Vorgang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35224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2935224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JDC / Jung, DMS &amp; Cie.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93522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1.538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93522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913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35224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1,68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214116"/>
            <a:ext cx="7635240" cy="27889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3214116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Fonds Finanz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21411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321411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214116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2,10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93008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93008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blau direkt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349300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9300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493008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1,42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71900"/>
            <a:ext cx="7635240" cy="27889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3771900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DEMA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771900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3771900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3771900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1,43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5079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4050792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vfm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0" y="4050792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4050792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050792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1,36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29684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4329684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Summe Top-5-Makler  (65 % der BÜ-Anfragen)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432968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80" y="4329684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1.519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329684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1,71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60857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4608576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Sonstige Makler (Long-Tail)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74720" y="460857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1.406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3480" y="4608576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982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4608576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1,43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4887468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4887468"/>
            <a:ext cx="29535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74720" y="488746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4887468"/>
            <a:ext cx="15087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2.495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0" y="4887468"/>
            <a:ext cx="155448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1,60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312664"/>
            <a:ext cx="7635240" cy="6400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5367528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Cluster gesamt: 2.117 BÜ-Anfragen (53 %) in 612 Mehrfach-Mail-Vorgängen (selber Makler + Kunde)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5660136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 im Postkorb nicht gezielt auffindbar — Sachbearbeiter arbeiten unsortiert Mail für Mail ab.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39328" y="233172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2606040"/>
            <a:ext cx="3429000" cy="27432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21040" y="260604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64040" y="260604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FFFFFF"/>
                </a:solidFill>
                <a:latin typeface="Calibri"/>
              </a:rPr>
              <a:t>BÜ-Anfr.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260604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FFFFFF"/>
                </a:solidFill>
                <a:latin typeface="Calibri"/>
              </a:rPr>
              <a:t>in Cluster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2880360"/>
            <a:ext cx="3429000" cy="274320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321040" y="2880360"/>
            <a:ext cx="73152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80" y="2880360"/>
            <a:ext cx="10515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64040" y="288036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288036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9C060F"/>
                </a:solidFill>
                <a:latin typeface="Calibri"/>
              </a:rPr>
              <a:t>354 (31 %)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3154680"/>
            <a:ext cx="3429000" cy="274320"/>
          </a:xfrm>
          <a:prstGeom prst="rect">
            <a:avLst/>
          </a:prstGeom>
          <a:solidFill>
            <a:srgbClr val="E3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3154680"/>
            <a:ext cx="10515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64040" y="315468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315468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1.405 (67 %)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429000"/>
            <a:ext cx="342900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12480" y="3429000"/>
            <a:ext cx="10515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4040" y="342900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07040" y="342900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325 (49 %)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703320"/>
            <a:ext cx="3429000" cy="274320"/>
          </a:xfrm>
          <a:prstGeom prst="rect">
            <a:avLst/>
          </a:prstGeom>
          <a:solidFill>
            <a:srgbClr val="E3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12480" y="3703320"/>
            <a:ext cx="10515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Sonstige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4040" y="370332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07040" y="370332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0" u="none">
                <a:solidFill>
                  <a:srgbClr val="333333"/>
                </a:solidFill>
                <a:latin typeface="Calibri"/>
              </a:rPr>
              <a:t>33 (32 %)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21040" y="3977640"/>
            <a:ext cx="3429000" cy="274320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412480" y="3977640"/>
            <a:ext cx="10515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64040" y="397764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07040" y="3977640"/>
            <a:ext cx="11430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0" u="none">
                <a:solidFill>
                  <a:srgbClr val="333333"/>
                </a:solidFill>
                <a:latin typeface="Calibri"/>
              </a:rPr>
              <a:t>2.117 (53 %)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8" y="427024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94" name="Oval 93"/>
          <p:cNvSpPr/>
          <p:nvPr/>
        </p:nvSpPr>
        <p:spPr>
          <a:xfrm>
            <a:off x="8366760" y="461772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66760" y="461772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51392" y="4599432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Erkenntnis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51392" y="4855464"/>
            <a:ext cx="28346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Diese Vorgänge sind im Postkorb heute nicht auffindbar.</a:t>
            </a:r>
          </a:p>
        </p:txBody>
      </p:sp>
      <p:sp>
        <p:nvSpPr>
          <p:cNvPr id="98" name="Oval 97"/>
          <p:cNvSpPr/>
          <p:nvPr/>
        </p:nvSpPr>
        <p:spPr>
          <a:xfrm>
            <a:off x="8366760" y="539496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66760" y="539496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51392" y="5376672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Möglichkeit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51392" y="5632704"/>
            <a:ext cx="2834640" cy="685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Strukturierung + Excel: gezielt alle Vorgänge eines Prio-Maklers oder alle mit Cluster gebündelt abarbeiten.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