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559552"/>
            <a:ext cx="7635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Vollerhebung BÜ-Posteingang einer Kalenderwoche: 5.034 Mails, KI-strukturiert (Claude Opus); 99 Mails mit Analyse-Fehler/Timeout.  MV = Maklervollmacht im Anhang.  Cluster = weitere Mails desselben Maklers zum selben 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5" name="Oval 10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8" name="Oval 10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1" name="Oval 11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4" name="Oval 11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3172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587752"/>
          <a:ext cx="7635240" cy="25054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63240"/>
                <a:gridCol w="1508760"/>
                <a:gridCol w="1508760"/>
                <a:gridCol w="1554480"/>
              </a:tblGrid>
              <a:tr h="310896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Maklerpool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BÜ-Anfragen / Wo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Vorgänge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Ø Mails / Vorgang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JDC / Jung, DMS &amp; Cie.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1.538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1,68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Fonds Finanz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612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blau direkt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DEMA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1,27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vfm Service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1,51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Summe Top-5-Makler  (65 % der BÜ-Anfragen)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2.594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1.519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1,71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Sonstige Makler (Long-Tail)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1.406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982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1,43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2.495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1,60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11480" y="5276088"/>
            <a:ext cx="7635240" cy="86868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30952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Die 4.000 BÜ-Anfragen teilen sich auf in: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05272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1.883 Einzelmails (47 %) — je ein einzelner 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61304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2.117 Mails (53 %) zu nur 612 Vorgängen — selber Makler schreibt mehrfach zum selben Kunden (Cluster)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2304288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Split nach Segment (BÜ-Anfragen)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321040" y="2606040"/>
          <a:ext cx="342900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43000"/>
                <a:gridCol w="1097280"/>
                <a:gridCol w="1188720"/>
              </a:tblGrid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Sparte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BÜ-Anfr.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Cluster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KV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354 (31 %)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Komposit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2.089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1.405 (67 %)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Leben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662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325 (49 %)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Sonstige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33 (32 %)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2.117 (53 %)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339328" y="4206240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9C060F"/>
                </a:solidFill>
                <a:latin typeface="Calibri"/>
              </a:rPr>
              <a:t>KV: kein VNR-Mapping → jede Mail = eigener Vorgang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4535424"/>
            <a:ext cx="3429000" cy="20116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21040" y="4535424"/>
            <a:ext cx="3429000" cy="310896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0768" y="4535424"/>
            <a:ext cx="3246120" cy="3108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4919472"/>
            <a:ext cx="3209544" cy="1554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Viele dieser Vorgänge haben Gemeinsamkeiten (selber Makler, Cluster, Prio-Fall) und würden sich für eine Priorisierung eignen — in der heutigen Postkorb-Welt sind sie aber nicht filterbar.</a:t>
            </a:r>
          </a:p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Mit strukturierten Daten + Excel können Sachbearbeiter gezielt nach Prio-Makler oder Cluster filtern und gebündelt abarbeiten, statt unsortiert Mail für Mail.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559552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BÜ-Anfragen = Mails mit Status 'Neue BÜ' (4.000 / Wo). Vorgang = eindeutige Kombination Makler + Kunde. Cluster = Vorgang mit &gt; 1 BÜ-Anfrage-Mail in derselben Woche.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65 % der BÜ-Anfragen kommen von 5 Maklern, 53 % hängen in Clustern (KV ohne VNR-Mapping) — heute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HERAUSFORDERUNG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Vier zentrale Herausforderungen im Eingang verlagern den Aufwand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vollständig in die Sachbearbeitung; KI-Vorqualifizierung adressiert alle vier zugleich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HERAUSFORDERUNGEN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11480" y="2331720"/>
          <a:ext cx="7635240" cy="38221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3017520"/>
                <a:gridCol w="2697480"/>
              </a:tblGrid>
              <a:tr h="347472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Prozessschritt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Herausforderung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Auswirkung — heute messbar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Eingang &amp; Routing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Eingangsregel 'MV im Anhang → BÜ' greift unabhängig vom Status der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240 Mails / Woche (210 Reminder + 30 fachfremd mit MV) landen fälschlich im BÜ-Postkorb — Fehlanlagen, Dubletten, Korrekturaufwand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Eingang &amp; Vorgangserzeugung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Mail- und Anhang-Daten unstrukturiert — wichtige Felder (VNR, Pool, Status, MV) stehen an wechselnden Stellen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uneinheitliche, manuelle Suche je Vorgang; halbautomatische Indizierung nur über Schlagwort- und Negativlisten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Eingang &amp; Vorgangserzeugung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Vorgangscluster werden nicht gebildet (selber Makler + Kunde bleibt unverknüpft)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612 Cluster mit 2.117 Mails (53 %) werden einzeln bearbeitet; Top-5-Makler = 65 % der BÜ-Anfragen, aber nicht filterbar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Sichtung &amp; Vorqualifizierung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Bewertende Vorqualifizierung fehlt (z. B. MV vorhanden, unterschrieben, vollumfänglich?)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fachliche Einordnung erfolgt erst in der Sachbearbeitung; Steuerung nach Prio-Fall / Prio-Makler nicht möglich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Routing-Lücke: </a:t>
            </a:r>
            <a:r>
              <a:rPr sz="1100">
                <a:solidFill>
                  <a:srgbClr val="333333"/>
                </a:solidFill>
                <a:latin typeface="Calibri"/>
              </a:rPr>
              <a:t>240 Mails / Woche durch MV-Regel fehl-geroutet — KI liest den Status und routet korrekt.</a:t>
            </a:r>
          </a:p>
        </p:txBody>
      </p:sp>
      <p:sp>
        <p:nvSpPr>
          <p:cNvPr id="22" name="Oval 21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Unstrukturierte Daten: </a:t>
            </a:r>
            <a:r>
              <a:rPr sz="1100">
                <a:solidFill>
                  <a:srgbClr val="333333"/>
                </a:solidFill>
                <a:latin typeface="Calibri"/>
              </a:rPr>
              <a:t>Einheitliches KI-Beiblatt mit 50 Feldern macht die Daten an jeder Stelle gleich abrufbar.</a:t>
            </a:r>
          </a:p>
        </p:txBody>
      </p:sp>
      <p:sp>
        <p:nvSpPr>
          <p:cNvPr id="25" name="Oval 24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Fehlende Cluster-Sicht: </a:t>
            </a:r>
            <a:r>
              <a:rPr sz="1100">
                <a:solidFill>
                  <a:srgbClr val="333333"/>
                </a:solidFill>
                <a:latin typeface="Calibri"/>
              </a:rPr>
              <a:t>Makler + Kunde + VNR als Schlüssel bündeln Mails automatisch zu Vorgängen.</a:t>
            </a:r>
          </a:p>
        </p:txBody>
      </p:sp>
      <p:sp>
        <p:nvSpPr>
          <p:cNvPr id="28" name="Oval 27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Vorqualifizierung: </a:t>
            </a:r>
            <a:r>
              <a:rPr sz="1100">
                <a:solidFill>
                  <a:srgbClr val="333333"/>
                </a:solidFill>
                <a:latin typeface="Calibri"/>
              </a:rPr>
              <a:t>MV-Status (vorhanden / unterschrieben / vollumfänglich) wird im Eingang bewertet.</a:t>
            </a:r>
          </a:p>
        </p:txBody>
      </p:sp>
      <p:sp>
        <p:nvSpPr>
          <p:cNvPr id="31" name="Oval 30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Effekt: </a:t>
            </a:r>
            <a:r>
              <a:rPr sz="1100">
                <a:solidFill>
                  <a:srgbClr val="333333"/>
                </a:solidFill>
                <a:latin typeface="Calibri"/>
              </a:rPr>
              <a:t>Sachbearbeitung erhält strukturierte, vorqualifizierte, gebündelte Vorgänge — Aufwand sinkt.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Strukturierung + Vorqualifizierung im Eingangsmanagement adressiert alle vier Herausforderungen zugleich — und schafft die Voraussetzung für einen nachgelagerten Prüfbot.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LÖSUNGSOPTIONEN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KI-Strukturierung jeder Eingangsmail wirkt auf Routing &amp;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Empfehlung: Strukturierungs-Bot als Zielarchitektur; PoC/GPT als Interim, Bot später ergänzbar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VIER LÖSUNGSWEGE IM VERGLEICH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Aufbau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Makler-Formular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697480"/>
            <a:ext cx="2766060" cy="2926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Nicht empfohlen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Standardisiertes Web-Formular, das Makler statt Mail ausfüllen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493008"/>
            <a:ext cx="2766060" cy="45720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Strukturierte Daten ab Quelle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50208"/>
            <a:ext cx="2766060" cy="82296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39867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" y="41879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Hoher Change-Management-Aufwand bei Maklern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Maklerprozesse heute etabliert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" y="45537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Technische Anbindung aufwändig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468112"/>
            <a:ext cx="2766060" cy="2926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nicht weiter verfolgen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689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89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689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Nutzung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PoC / ERGO-GPT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68980" y="2697480"/>
            <a:ext cx="2766060" cy="29260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689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Interim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689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21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KI-Mailvorqualifizierung via ERGO-GPT (halbautomatisch)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68980" y="3493008"/>
            <a:ext cx="2766060" cy="82296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21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421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PoC validiert, sofort einsetzbar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2132" y="39136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Schnelle Wirkung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42132" y="40965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Excel + KI-Deckblatt bereits akzeptiert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68980" y="4315968"/>
            <a:ext cx="2766060" cy="64008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2132" y="435254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42132" y="45537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Halbautomatisch — Kapazitätsbindung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42132" y="473659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Temporäre Lösung bis Bot live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8980" y="5468112"/>
            <a:ext cx="2766060" cy="29260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689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Interim bis Bot live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Aufbau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Strukturierungs-Bot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2697480"/>
            <a:ext cx="2766060" cy="292608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264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EMPFEHLUNG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Vollautomatischer KI-Bot mit Beiblatt vor / nach Postkorb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493008"/>
            <a:ext cx="2766060" cy="100584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96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Vollautomatisch — keine Kapazitätsbindung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9632" y="39136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Greift auf Routing + Cluster zugleich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9632" y="40965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Grundlage für Reporting + Prüfbot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99632" y="427939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Voraussetzung für Phase-2-Automatisierung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26480" y="4498848"/>
            <a:ext cx="2766060" cy="64008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99632" y="453542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9632" y="473659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Aufbau- und Anbindungsaufwand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9632" y="491947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BluePrism-Bot-Anbindung notwendig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26480" y="5468112"/>
            <a:ext cx="2766060" cy="292608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264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Zielarchitektur — Q4 starten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839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839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839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Nutzung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Celonis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83980" y="2697480"/>
            <a:ext cx="2766060" cy="292608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839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TBD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9839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571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Process Mining + Automatisierung auf bestehender Celonis-Lösung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83980" y="3493008"/>
            <a:ext cx="2766060" cy="45720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571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571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ERGO-Standard, integriert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83980" y="3950208"/>
            <a:ext cx="2766060" cy="82296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57132" y="39867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57132" y="41879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Technische Anbindung aufwändig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57132" y="43708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Kein Effekt auf aktuellen Rückstand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57132" y="45537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Lösung frühestens 2028 verfügbar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83980" y="5468112"/>
            <a:ext cx="2766060" cy="292608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39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später ggf. ergänzend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Empfehlung: Strukturierungs-Bot als Zielarchitektur (Q4). Bis dahin PoC/ERGO-GPT als Interim-Lösung; Celonis später ggf. ergänzend, Makler-Formular nicht weiter verfolgen.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ARCHITEKTUR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Soll-Architektur in zwei Phasen — Quick-Win mit PoC/ERGO-GPT, Zielbild mit Strukturierungs-Bot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In beiden Phasen wird vor der Bearbeitung strukturiert und vorqualifiziert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ARCHITEKTUR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31720"/>
            <a:ext cx="2011680" cy="109728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331720"/>
            <a:ext cx="2011680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Aktueller Prozess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233172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0" y="233172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Eingangs-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kanäle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16552" y="233172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33172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Umleitung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KWAD@ERGO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4" y="233172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233172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Indizierung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Posteingangs-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mgmt.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9016" y="233172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9016" y="233172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Postkorb +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manuelle Prüfung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85248" y="233172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85248" y="233172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BÜ-Bots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inkl. 72H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611880"/>
            <a:ext cx="2011680" cy="1097280"/>
          </a:xfrm>
          <a:prstGeom prst="rect">
            <a:avLst/>
          </a:prstGeom>
          <a:solidFill>
            <a:srgbClr val="FDE2C4"/>
          </a:solidFill>
          <a:ln w="1587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611880"/>
            <a:ext cx="2011680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C86E10"/>
                </a:solidFill>
                <a:latin typeface="Calibri"/>
              </a:rPr>
              <a:t>Phase 1 — Quick-Win</a:t>
            </a:r>
          </a:p>
          <a:p>
            <a:pPr algn="ctr"/>
            <a:r>
              <a:rPr sz="1000" b="1" i="0" u="none">
                <a:solidFill>
                  <a:srgbClr val="C86E10"/>
                </a:solidFill>
                <a:latin typeface="Calibri"/>
              </a:rPr>
              <a:t>PoC / ERGO-GPT</a:t>
            </a:r>
          </a:p>
          <a:p>
            <a:pPr algn="ctr"/>
            <a:r>
              <a:rPr sz="1000" b="1" i="0" u="none">
                <a:solidFill>
                  <a:srgbClr val="C86E10"/>
                </a:solidFill>
                <a:latin typeface="Calibri"/>
              </a:rPr>
              <a:t>(sofort, halbautomatisch)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361188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60320" y="361188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Eingangs-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kanäle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6552" y="3611880"/>
            <a:ext cx="1764792" cy="1097280"/>
          </a:xfrm>
          <a:prstGeom prst="rect">
            <a:avLst/>
          </a:prstGeom>
          <a:solidFill>
            <a:srgbClr val="E8F5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79008" y="3648456"/>
            <a:ext cx="365760" cy="14630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79008" y="3648456"/>
            <a:ext cx="365760" cy="14630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700" b="1" i="0" u="none">
                <a:solidFill>
                  <a:srgbClr val="FFFFFF"/>
                </a:solidFill>
                <a:latin typeface="Calibri"/>
              </a:rPr>
              <a:t>NEU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6552" y="361188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KI-Strukturierung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mit ERGO-GPT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(halbautom.)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72784" y="3611880"/>
            <a:ext cx="1764792" cy="1097280"/>
          </a:xfrm>
          <a:prstGeom prst="rect">
            <a:avLst/>
          </a:prstGeom>
          <a:solidFill>
            <a:srgbClr val="E8F5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35240" y="3648456"/>
            <a:ext cx="365760" cy="14630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35240" y="3648456"/>
            <a:ext cx="365760" cy="14630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700" b="1" i="0" u="none">
                <a:solidFill>
                  <a:srgbClr val="FFFFFF"/>
                </a:solidFill>
                <a:latin typeface="Calibri"/>
              </a:rPr>
              <a:t>NEU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361188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Indizierung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+ KI-Notiz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9016" y="361188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9016" y="361188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Postkorb +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gezielte Sichtung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85248" y="361188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85248" y="361188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BÜ-Bots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inkl. 72H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892040"/>
            <a:ext cx="2011680" cy="1097280"/>
          </a:xfrm>
          <a:prstGeom prst="rect">
            <a:avLst/>
          </a:prstGeom>
          <a:solidFill>
            <a:srgbClr val="CFE6E9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892040"/>
            <a:ext cx="2011680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006B77"/>
                </a:solidFill>
                <a:latin typeface="Calibri"/>
              </a:rPr>
              <a:t>Phase 2 — Zielbild</a:t>
            </a:r>
          </a:p>
          <a:p>
            <a:pPr algn="ctr"/>
            <a:r>
              <a:rPr sz="1000" b="1" i="0" u="none">
                <a:solidFill>
                  <a:srgbClr val="006B77"/>
                </a:solidFill>
                <a:latin typeface="Calibri"/>
              </a:rPr>
              <a:t>Strukturierungs-Bot</a:t>
            </a:r>
          </a:p>
          <a:p>
            <a:pPr algn="ctr"/>
            <a:r>
              <a:rPr sz="1000" b="1" i="0" u="none">
                <a:solidFill>
                  <a:srgbClr val="006B77"/>
                </a:solidFill>
                <a:latin typeface="Calibri"/>
              </a:rPr>
              <a:t>(vollautomatisch, Q4)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0320" y="4892040"/>
            <a:ext cx="17647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60320" y="489204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Eingangs-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kanäle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16552" y="4892040"/>
            <a:ext cx="1764792" cy="1097280"/>
          </a:xfrm>
          <a:prstGeom prst="rect">
            <a:avLst/>
          </a:prstGeom>
          <a:solidFill>
            <a:srgbClr val="E8F5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79008" y="4928616"/>
            <a:ext cx="365760" cy="14630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9008" y="4928616"/>
            <a:ext cx="365760" cy="14630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700" b="1" i="0" u="none">
                <a:solidFill>
                  <a:srgbClr val="FFFFFF"/>
                </a:solidFill>
                <a:latin typeface="Calibri"/>
              </a:rPr>
              <a:t>NEU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6552" y="489204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Strukturierungs-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Bot vor Postkorb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(BluePrism)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72784" y="4892040"/>
            <a:ext cx="1764792" cy="1097280"/>
          </a:xfrm>
          <a:prstGeom prst="rect">
            <a:avLst/>
          </a:prstGeom>
          <a:solidFill>
            <a:srgbClr val="E8F5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35240" y="4928616"/>
            <a:ext cx="365760" cy="14630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35240" y="4928616"/>
            <a:ext cx="365760" cy="14630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700" b="1" i="0" u="none">
                <a:solidFill>
                  <a:srgbClr val="FFFFFF"/>
                </a:solidFill>
                <a:latin typeface="Calibri"/>
              </a:rPr>
              <a:t>NEU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72784" y="489204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Indizierung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+ KI-Beiblatt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29016" y="4892040"/>
            <a:ext cx="1764792" cy="1097280"/>
          </a:xfrm>
          <a:prstGeom prst="rect">
            <a:avLst/>
          </a:prstGeom>
          <a:solidFill>
            <a:srgbClr val="E8F5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91472" y="4928616"/>
            <a:ext cx="365760" cy="14630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91472" y="4928616"/>
            <a:ext cx="365760" cy="14630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700" b="1" i="0" u="none">
                <a:solidFill>
                  <a:srgbClr val="FFFFFF"/>
                </a:solidFill>
                <a:latin typeface="Calibri"/>
              </a:rPr>
              <a:t>NEU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29016" y="489204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Postkorb +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Cluster-Sicht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985248" y="4892040"/>
            <a:ext cx="1764792" cy="1097280"/>
          </a:xfrm>
          <a:prstGeom prst="rect">
            <a:avLst/>
          </a:prstGeom>
          <a:solidFill>
            <a:srgbClr val="E8F5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347704" y="4928616"/>
            <a:ext cx="365760" cy="14630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347704" y="4928616"/>
            <a:ext cx="365760" cy="14630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700" b="1" i="0" u="none">
                <a:solidFill>
                  <a:srgbClr val="FFFFFF"/>
                </a:solidFill>
                <a:latin typeface="Calibri"/>
              </a:rPr>
              <a:t>NEU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85248" y="4892040"/>
            <a:ext cx="176479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Prüfbot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(Dunkelver-</a:t>
            </a:r>
          </a:p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arbeitung)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153912"/>
            <a:ext cx="113385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Wirkung: beide Phasen adressieren Routing (Folie 11) und Cluster-Sicht (Folie 12) — Phase 2 zusätzlich vollautomatisch + Prüfbot-fähig.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Quick-Win mit PoC/ERGO-GPT (Phase 1) sofort nutzbar; Zielarchitektur Strukturierungs-Bot (Phase 2) in Q4. Beide Phasen liefern strukturierte, vorqualifizierte Vorgänge vor der Bearbeitung.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PRAXIS-SKIZZE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So sieht das in der Praxis aus: eine Mail wird zum KI-Beiblatt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liefert drei Outputs für Routing, Steuerung und automatisierte Prüfung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EINE MAIL — DREI 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31720"/>
            <a:ext cx="26974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331720"/>
            <a:ext cx="269748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331720"/>
            <a:ext cx="26974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Eingehende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715768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Von: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898648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bestandsuebertragung@jungdms.de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3227832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An: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3410712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Service Team Maklerauftraege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3739896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Betreff: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" y="3922776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Bestandsübertragung für Borleis, Nicole;</a:t>
            </a:r>
          </a:p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VSNr. SV98161620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4251960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Anhang: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" y="4434840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Maklervertrag.pdf (256 KB)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4764024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Inhalt: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" y="4946904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JDC / Jung, DMS &amp; Cie. bittet um Bestandsübertragung des Rechtsschutzvertrags SV98161620 der Kundin Nicole Borleis; Maklervollmacht von Finanzguru liegt bei.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3543300"/>
            <a:ext cx="2103120" cy="914400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0" y="3634740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KI-Layer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927348"/>
            <a:ext cx="21031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 u="none">
                <a:solidFill>
                  <a:srgbClr val="FFFFFF"/>
                </a:solidFill>
                <a:latin typeface="Calibri"/>
              </a:rPr>
              <a:t>Strukturierung</a:t>
            </a:r>
          </a:p>
          <a:p>
            <a:pPr algn="ctr"/>
            <a:r>
              <a:rPr sz="1000" b="0" i="0" u="none">
                <a:solidFill>
                  <a:srgbClr val="FFFFFF"/>
                </a:solidFill>
                <a:latin typeface="Calibri"/>
              </a:rPr>
              <a:t>Claude Opus 4.7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127248" y="3854196"/>
            <a:ext cx="146304" cy="292608"/>
          </a:xfrm>
          <a:prstGeom prst="rightArrow">
            <a:avLst/>
          </a:prstGeom>
          <a:solidFill>
            <a:srgbClr val="008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60720" y="2327148"/>
            <a:ext cx="59893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720" y="2327148"/>
            <a:ext cx="164592" cy="100584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2418588"/>
            <a:ext cx="56235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E30613"/>
                </a:solidFill>
                <a:latin typeface="Calibri"/>
              </a:rPr>
              <a:t>1  Routing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2711196"/>
            <a:ext cx="562356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Status = Neue BÜ, Sparte = Komposit, MV vorhanden ✓ → korrekter BÜ-Postkorb (kein Fehl-Routing)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413248" y="2720340"/>
            <a:ext cx="329184" cy="219456"/>
          </a:xfrm>
          <a:prstGeom prst="rightArrow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720" y="3497580"/>
            <a:ext cx="59893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60720" y="3497580"/>
            <a:ext cx="164592" cy="1005840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3589020"/>
            <a:ext cx="56235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8793"/>
                </a:solidFill>
                <a:latin typeface="Calibri"/>
              </a:rPr>
              <a:t>2  Cluster / Steuerung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881628"/>
            <a:ext cx="562356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Makler JDC + Kunde Borleis + VNR SV98161620 → Excel-Cluster aktualisiert; Bearbeiter sieht offene Vorgänge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413248" y="3890772"/>
            <a:ext cx="329184" cy="219456"/>
          </a:xfrm>
          <a:prstGeom prst="rightArrow">
            <a:avLst/>
          </a:prstGeom>
          <a:solidFill>
            <a:srgbClr val="008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4668012"/>
            <a:ext cx="59893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60720" y="4668012"/>
            <a:ext cx="164592" cy="100584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4759452"/>
            <a:ext cx="56235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3  Prüfbot / Automatisierung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5052060"/>
            <a:ext cx="562356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KI-Beiblatt liefert 50 Felder maschinenlesbar → nachgelagerter Bot prüft Mindestanforderungen (BiPRO/Dunkelverarbeitung)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5413248" y="5061204"/>
            <a:ext cx="329184" cy="219456"/>
          </a:xfrm>
          <a:prstGeom prst="rightArrow">
            <a:avLst/>
          </a:prstGeom>
          <a:solidFill>
            <a:srgbClr val="C86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5760720"/>
            <a:ext cx="4983480" cy="86868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5797296"/>
            <a:ext cx="47640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 u="none">
                <a:solidFill>
                  <a:srgbClr val="006B77"/>
                </a:solidFill>
                <a:latin typeface="Calibri"/>
              </a:rPr>
              <a:t>KI-Beiblatt (Auszug aus 50 Feldern)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8" y="6053328"/>
            <a:ext cx="4764024" cy="5394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Status: Neue BÜ  ·  Sparte: Komposit  ·  Maklerpool: JDC  ·  Untervermittler: Finanzguru  ·  VNR: SV98161620  ·  Kunde: Borleis Nicole  ·  MV vorhanden: ✓  ·  Unterschrift Kunde: ✓  ·  Unterschrift Makler: ✓  ·  Cluster: ja (3 Mails)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jeder Eingangsmail entsteht ein strukturiertes KI-Beiblatt — drei direkt nutzbare Outputs: richtiges Postfach, Cluster-Sicht für die Steuerung, maschinenlesbare Basis für den Prüfbot.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